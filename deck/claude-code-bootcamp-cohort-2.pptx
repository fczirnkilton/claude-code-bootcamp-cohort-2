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Cohort 2. I'm Luca Berton. Today we build one real product, Shipyard, across ten connected projects, and every step ends with evidence, not a claim. Build faster, orchestrate smarter, verify everything, ship with confidence.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4:30 you will have working software, a safer way of working with Git and sandboxes, your own Skills Pack and plugin, and a process you can repeat on Monday: brief, plan, build, verify, review, decide.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shape of the day. Foundations first, then better code, then beyond the terminal, then scale and reuse, then we ship. Breaks at 10:10, 11:45, lunch at 12:20, and 2:50.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we land at the end of the day. A release dashboard fed by a CLI and an API, with release notes generated by an Agent Team. Every pixel on this screen comes from a project you will 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part follows this loop. Claude can plan and implement fast. Verification and review are where evidence comes from. Commit is a human decision. Keep this loop in your head all 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part has the same rhythm. I introduce the topic, we watch a real recorded run so timing and output are predictable, I explain what the evidence shows, we discuss, and then you do the lab. If anything breaks, one command loads the checkpoint so nobody falls behind.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verify the setup together. Preflight checks your tools and builds every reference checkpoint and runs its tests. If it says PREFLIGHT PASSED, you are ready for the whole day.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morning schedule from the brief. The whole day is 450 minutes including breaks and lunch.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afternoon schedule from the brief. The whole day is 450 minutes including breaks and lunch.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09:00–09:20. Part 01: Welcome, setup, AI-first mindset and safe delegation. Project 1: AI-Ready Engineering Workspace. By the end of this part you leave with: Working Claude Code environment; Trusted starter repository; Written permission and safety boundary (SAFETY.md + .claude/settings.json); Baseline Git commit and recovery 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goals for this part. Map what Claude Code can do across CLI, IDE, desktop, web and mobile Run the lifecycle: plan → implement → verify → review → commit Choose model, context and effort for a task Pick a permission mode and accept workspace trust deliberately Separate reversible from irreversible actions; create a recovery point first.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 Code is not only a terminal tool any more. Same agent, different surfaces. We start in the terminal because it gives us the most control and the clearest evidence, and we finish on the phone.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knobs before you even type. The model, the effort, and the context. Most failures I see come from the wrong context, not the wrong model.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Shift+Tab cycles through modes. Pick the mode that matches the consequence of a mistake. Workspace trust matters too: project allow rules only apply after you accept the trust dialog, so read the folder before you trust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I want you to remember. Same goal, two prompts. The safe one names the scope, the protected areas, the isolation, the evidence and the stop 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 of the day: the more irreversible an action, the closer a human must be. Before any autonomous work, create a recovery point: a baseline commit.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1. Read it with me: notice the scope, the constraints and the evidence it asks for. Read README.md. Draft SAFETY.md for this repository: the permission mode we use and when, actions allowed without asking, actions that must ask first, blocked actions, which actions are reversible versus irreversible, and how we recover (baseline commit). Then show me a matching .claude/settings.json permissions block (allow / ask / deny) in your reply, but do not create that file: I will review it and save it myself. Do not commit.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 Part 01 · Claude drafts the safety boundary from the README; the human saves the settings and commits the baseline.</a:t>
            </a:r>
          </a:p>
          <a:p>
            <a:r>
              <a:t>Say first: “This is a recording of a real run of the exact prompts on the previous slide. Tool calls and output are real; long runs are condensed.”</a:t>
            </a:r>
          </a:p>
          <a:p>
            <a:r>
              <a:t>CLICK THE VIDEO to play. Click again to pause for questions. Then → for what the evidence shows.</a:t>
            </a:r>
          </a:p>
          <a:p>
            <a:r>
              <a:t>Fallback if playback fails: open videos/01-workspace.mp4 in VLC or a browser.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what we actually saw. Each line on the right comes from the recorded run, not from me. The run took 1 minutes 29 seconds and cost 0.10 dollars.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Take one of these questions. I'll take two or three answers before the lab.</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time. Stage the part, run the prompts, and check with verify. If you get stuck, fallback loads the reference.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If you have all of these, you're ready for the next part. If not, checkpoint gets you there in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09:20–09:45. Part 02: Prompting Claude Code like a tech lead. Project 2: CLI Release Task Manager. By the end of this part you leave with: Working CLI application (`shipctl.py`); Structured engineering brief; Test suite; Acceptance evidence table; README with usage examples.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goals for this part. Replace small prompts with a complete engineering brief State outcome, context, constraints, protected areas and acceptance criteria Require proof instead of accepting completion claims Ask for a plan first; review and challenge it; intervene only at decision points.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tech lead doesn't say 'write a task manager'. A tech lead writes a brief: what outcome, what context, what must not change, what done means, and what proof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brief we use. Notice the required evidence section. We don't ask Claude whether it's done; we ask for the command, the output, and a mapping from every criterion to a test.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mode is where you get leverage. Reading a plan takes two minutes; reading a wrong implementation takes twenty. Challenge it once, with something specific.</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habit that separates teams that trust AI output from teams that get burned by it. Always ask for the command and its raw output.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1. Read it with me: notice the scope, the constraints and the evidence it asks for. Read briefs/cli-release-task-manager.md and SAFETY.md. Propose an implementation plan for shipctl: files, functions, storage format, how each acceptance criterion will be tested, and the risks. Do not write code yet.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2. Read it with me: notice the scope, the constraints and the evidence it asks for. Plan approved. Implement shipctl.py, tests/test_shipctl.py and the README section exactly as planned. Run python3 -m unittest discover -s tests -v and show the raw output. Then give me a table mapping every acceptance criterion (AC1-AC8) to the test that proves it, and a short terminal session with real CLI output for AC1, AC4 and AC5 using SHIPCTL_DB=./demo-tasks.json. Do not commit.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 Part 02 · Plan mode proposal, approval, implementation, 15 passing tests and the AC evidence table.</a:t>
            </a:r>
          </a:p>
          <a:p>
            <a:r>
              <a:t>Say first: “This is a recording of a real run of the exact prompts on the previous slide. Tool calls and output are real; long runs are condensed.”</a:t>
            </a:r>
          </a:p>
          <a:p>
            <a:r>
              <a:t>CLICK THE VIDEO to play. Click again to pause for questions. Then → for what the evidence shows.</a:t>
            </a:r>
          </a:p>
          <a:p>
            <a:r>
              <a:t>Fallback if playback fails: open videos/02-task-manager.mp4 in VLC or a browser.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what we actually saw. Each line on the right comes from the recorded run, not from me. The run took 3 minutes 17 seconds and cost 0.50 dollars. In the first recording Claude refused to invent CLI output when the scratch path was blocked. Remember that: no evidence, no claim.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Take one of these questions. I'll take two or three answers before the lab.</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time. Stage the part, run the prompts, and check with verify. If you get stuck, fallback loads the reference.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If you have all of these, you're ready for the next part. If not, checkpoint gets you there in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09:45–10:10. Part 03: CLAUDE.md, scoped rules and auto memory. Project 3: Project Brain. By the end of this part you leave with: Reusable CLAUDE.md (under 60 lines); Path-scoped rules (`tests/**`, `shipctl.py`); Documented conventions; Reviewed auto-memory entry; Evidence that Claude followed the context (`shipctl stats`).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goals for this part. Decide what belongs in CLAUDE.md, and what does not Record build/test commands, conventions, security rules and do-not-touch areas concisely Use .claude/rules with `paths:` for directory- or language-specific instructions Move occasional reference material into Skills Review, correct and remove stale auto memory.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CLAUDE.md is loaded every session, so every line costs context. Keep it short, specific and true. If it's occasional, it's a Skill. If it's path-specific, it's a rule.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with a paths frontmatter load only when Claude touches matching files. This keeps the global context small and the local guidance precise.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 memory is on by default and lives outside the repo. It's useful, and it goes stale. Review it with /memory, delete duplicates and anything derivable from code, date the project facts.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only way to know context works is to watch it change behaviour. We ask for a small feature and check the diff against every rule.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1. Read it with me: notice the scope, the constraints and the evidence it asks for. Create a concise CLAUDE.md for this repository (under 60 lines): stack, exact build and test commands, conventions you can infer from shipctl.py and tests/, the exit-code contract, protected files (SAFETY.md, .claude/settings.json, briefs/), and do-not rules. Then create two path-scoped rules with `paths:` frontmatter: .claude/rules/tests.md for tests/**/*.py and .claude/rules/cli.md for shipctl.py. Keep anything occasional out of CLAUDE.md. Do not commit.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2. Read it with me: notice the scope, the constraints and the evidence it asks for. Add a `shipctl stats` command that prints pending, done and overdue counts per owner. Follow CLAUDE.md and the rules in .claude/rules. When done, list which specific rules you applied and where, run the full test suite and show the raw output. Do not commit.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 Part 03 · Claude writes CLAUDE.md and two scoped rules, then implements `stats` and cites the rules it applied.</a:t>
            </a:r>
          </a:p>
          <a:p>
            <a:r>
              <a:t>Say first: “This is a recording of a real run of the exact prompts on the previous slide. Tool calls and output are real; long runs are condensed.”</a:t>
            </a:r>
          </a:p>
          <a:p>
            <a:r>
              <a:t>CLICK THE VIDEO to play. Click again to pause for questions. Then → for what the evidence shows.</a:t>
            </a:r>
          </a:p>
          <a:p>
            <a:r>
              <a:t>Fallback if playback fails: open videos/03-project-brain.mp4 in VLC or a browser.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what we actually saw. Each line on the right comes from the recorded run, not from me. The run took 3 minutes 4 seconds and cost 0.40 dollars. Headless runs cannot approve edits under .claude/, so the rules were installed by a labelled human step. Live, you approve them.</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Take one of these questions. I'll take two or three answers before the lab.</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time. Stage the part, run the prompts, and check with verify. If you get stuck, fallback loads the reference.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If you have all of these, you're ready for the next part. If not, checkpoint gets you there in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Ten-minute break. Use it to run bin/bootcamp verify on your stage, or bin/bootcamp checkpoint for the next part if you fell behind.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10:20–10:50. Part 04: Best-of-N and better engineering decisions. Project 4: Notes API Design Tournament. By the end of this part you leave with: Working Notes API; Three-option decision matrix; Selected architecture with reasoning; Rejected Options Log.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goals for this part. Ask for genuinely different approaches, not cosmetic variants Score them on a fixed matrix: simplicity, testability, security, scalability, maintenance Avoid the first-answer-wins trap and incoherent hybrids Record the chosen and rejected approaches.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answer is usually reasonable, which is exactly why it's dangerous. Best-of-N forces real alternatives and makes the decision explicit.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designs that differ in structure, persistence and consistency, not in naming.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Weights are decided before scoring. Testability is weighted highest because the next part depends on it. B wins clearly.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valuable line in this document is the last one: under what conditions the rejected option becomes right. That's what your future self needs.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1. Read it with me: notice the scope, the constraints and the evidence it asks for. Read briefs/notes-api.md. Follow the tournament rules exactly: write three genuinely different designs to designs/option-a-*.md, option-b-*.md and option-c-*.md, score them in decision/decision-matrix.md with the fixed weighted criteria, recommend a winner, and write decision/rejected-options-log.md with every required field. Do not write any implementation code. Stop and wait for my approval.</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2. Read it with me: notice the scope, the constraints and the evidence it asks for. I approve your recommended design. Implement it in notes_api/ with end-to-end tests in tests/test_notes_api.py that run a real server on an ephemeral port. Run the full test suite and show the raw output. Do not commit.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 Part 04 · Three designs, the weighted matrix, the Rejected Options Log, then the approved implementation with tests.</a:t>
            </a:r>
          </a:p>
          <a:p>
            <a:r>
              <a:t>Say first: “This is a recording of a real run of the exact prompts on the previous slide. Tool calls and output are real; long runs are condensed.”</a:t>
            </a:r>
          </a:p>
          <a:p>
            <a:r>
              <a:t>CLICK THE VIDEO to play. Click again to pause for questions. Then → for what the evidence shows.</a:t>
            </a:r>
          </a:p>
          <a:p>
            <a:r>
              <a:t>Fallback if playback fails: open videos/04-notes-tournament.mp4 in VLC or a browser.</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what we actually saw. Each line on the right comes from the recorded run, not from me. The run took 10 minutes 38 seconds and cost 0.58 dollars. </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Take one of these questions. I'll take two or three answers before the lab.</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time. Stage the part, run the prompts, and check with verify. If you get stuck, fallback loads the reference.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If you have all of these, you're ready for the next part. If not, checkpoint gets you there in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10:50–11:20. Part 05: Testing, debugging, checkpoints and /goal. Project 5: Resilient Notes API. By the end of this part you leave with: Expanded test suite; Documented diagnosis; Verified bug fix; Successful checkpoint restore; Completed Review Before Merge checklist.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goals for this part. Generate meaningful tests and find missing edge cases Use a failing test as the debugging contract; investigate before editing Use checkpoints: /rewind → restore code without losing the conversation Use /goal for a measurable completion condition Separate test evidence from Claude's own completion claim.</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don't let Claude edit first. It reproduces, explains with file and line, writes a failing regression test, and only then fixes — the smallest fix that turns that test green.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real-world kind of bug: the title is merged correctly, the body is not. The original suite is green, because nobody ever sent a partial PATCH.</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Esc Esc or /rewind. Restore code is the gem: you keep the lesson of the failed attempt and lose its edits. It's not a replacement for git — Bash changes are not tracked.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goal evaluator reads the transcript and doesn't run tools, so the condition must be something Claude can show: a command and its exit code.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checklist comes back in Part 9 as a Skill and in Part 10 as a plugin. Learn it here by hand.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1. Read it with me: notice the scope, the constraints and the evidence it asks for. Read BUG-REPORT.md. Do not change any code yet. Reproduce BUG-101 with a failing regression test in tests/test_partial_update.py (title-only PATCH must keep the body; also cover body-only, explicit empty body and empty patch). Run it and show the failure. Then explain the most likely cause with file and line.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2. Read it with me: notice the scope, the constraints and the evidence it asks for. /goal BUG-101 is fixed with the smallest change in notes_api/service.py, python3 -m unittest discover -s tests -q exits 0 with the raw output shown, docs/diagnosis-bug-101.md records reproduce/cause/fix/evidence, and reviews/review-before-merge-bug-101.md completes all seven points of templates/review-before-merge-checklist.md with evidence. Do not commit.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 Part 05 · Failing regression test, diagnosis to the exact line, /goal-driven fix, green suite and the completed checklist.</a:t>
            </a:r>
          </a:p>
          <a:p>
            <a:r>
              <a:t>Say first: “This is a recording of a real run of the exact prompts on the previous slide. Tool calls and output are real; long runs are condensed.”</a:t>
            </a:r>
          </a:p>
          <a:p>
            <a:r>
              <a:t>CLICK THE VIDEO to play. Click again to pause for questions. Then → for what the evidence shows.</a:t>
            </a:r>
          </a:p>
          <a:p>
            <a:r>
              <a:t>Fallback if playback fails: open videos/05-resilient-notes.mp4 in VLC or a browser.</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what we actually saw. Each line on the right comes from the recorded run, not from me. The run took 3 minutes 57 seconds and cost 0.41 dollars. Watch how /goal kept the turn going until the checklist had real evidence.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Take one of these questions. I'll take two or three answers before the lab.</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time. Stage the part, run the prompts, and check with verify. If you get stuck, fallback loads the reference.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If you have all of these, you're ready for the next part. If not, checkpoint gets you there in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11:20–11:45. Part 06: Git workflows, worktrees, permissions and sandboxing. Project 6: Isolated Search Feature. By the end of this part you leave with: Isolated worktree; Feature branch; Search and tagging functionality; Reviewed diff; Passing test suite; Clean merge and commit history.</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goals for this part. Use feature branches and focused commits; review Claude-generated diffs Isolate experiments with `claude --worktree` Run parallel sessions without contaminating the main checkout Set filesystem and network boundaries with /sandbox Match autonomy to consequence and reversibility.</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 agent can change twenty files in a minute, Git stops being bookkeeping and becomes your safety system.</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worktree is a second checkout on its own branch. Claude works there; your main checkout keeps running. That's how you run parallel sessions without contaminating main.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layers are complementary. Permission rules decide what Claude may call. The sandbox restricts what commands can touch at the OS level, on macOS and Linux. Worktrees decide where the changes land.</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Isolation is what buys autonomy. The safer the box, the more you can let Claude run.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1. Read it with me: notice the scope, the constraints and the evidence it asks for. Read briefs/search-and-tags.md. Implement search and tags exactly as specified, keeping the layering (SQL only in repository.py, rules only in service.py). Add tests in tests/test_search_tags.py, including literal % and _ in search. Run the full suite and show the raw output. Then show git diff --stat against main. Do not commit and do not touch files outside notes_api/ and tests/.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 Part 06 · A real worktree session builds search and tags; review the diff from main, then merge.</a:t>
            </a:r>
          </a:p>
          <a:p>
            <a:r>
              <a:t>Say first: “This is a recording of a real run of the exact prompts on the previous slide. Tool calls and output are real; long runs are condensed.”</a:t>
            </a:r>
          </a:p>
          <a:p>
            <a:r>
              <a:t>CLICK THE VIDEO to play. Click again to pause for questions. Then → for what the evidence shows.</a:t>
            </a:r>
          </a:p>
          <a:p>
            <a:r>
              <a:t>Fallback if playback fails: open videos/06-isolated-search.mp4 in VLC or a browser.</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what we actually saw. Each line on the right comes from the recorded run, not from me. The run took 6 minutes 18 seconds and cost 0.25 dollars. main stayed untouched: every change is on the worktree branch.</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Take one of these questions. I'll take two or three answers before the lab.</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time. Stage the part, run the prompts, and check with verify. If you get stuck, fallback loads the reference.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If you have all of these, you're ready for the next part. If not, checkpoint gets you there in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Ten-minute break. Use it to run bin/bootcamp verify on your stage, or bin/bootcamp checkpoint for the next part if you fell behind.</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11:55–12:20. Part 07: Multimodal building and Chrome verification. Project 7: Dashboard from a Wireframe. By the end of this part you leave with: Working dashboard; Componentized frontend; Browser verification evidence; Console and interaction issue log; Before-and-after status for identified issues.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goals for this part. Turn a wireframe into components, states and interaction requirements Improve the prompt before patching generated UI by hand Connect Claude Code to Chrome (`claude --chrome`, /chrome) Test navigation and forms, inspect the console, check responsive layouts, capture evidence Convert findings into focused fixes.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only design input. Notice the blue annotations. We ask Claude to extract components, states and interactions from the image first, before any code.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extraction step is where you catch misunderstandings cheaply. If the generated UI is wrong, fix the prompt and regenerate; hand patches don't scale.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 in Chrome lets Claude test what it built in a real browser, read the console and capture screenshots. That's runtime evidence — point 5 of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captures of the reference checkpoint: desktop and phone, no console messages. Learners without the Chrome integration review these with the manual checklist.</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1. Read it with me: notice the scope, the constraints and the evidence it asks for. Look at wireframes/release-dashboard.png and read briefs/release-dashboard.md. First list the components, states and interactions you extracted from the image and its annotations. Then build the dashboard in dashboard/ and add the read-only GET /api/tasks route and static serving to the existing server, with node --test tests for the pure logic. Run both test suites and show the raw output. Do not commit.</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2. Read it with me: notice the scope, the constraints and the evidence it asks for. Start the server with seeded data (python3 seed.py &amp;&amp; python3 -m notes_api.server). Open http://localhost:8000/ in Chrome. Exercise the owner filter, status filter, both combined, search, and tag toggle on/off. Read the console. Resize to 390px wide. Record every issue in docs/browser-issue-log.md with evidence, fix them one by one, and re-verify each fix.</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 Part 07 · Claude reads the wireframe, builds the dashboard and verifies it; real screenshots at 1280 and 390 px.</a:t>
            </a:r>
          </a:p>
          <a:p>
            <a:r>
              <a:t>Say first: “This is a recording of a real run of the exact prompts on the previous slide. Tool calls and output are real; long runs are condensed.”</a:t>
            </a:r>
          </a:p>
          <a:p>
            <a:r>
              <a:t>CLICK THE VIDEO to play. Click again to pause for questions. Then → for what the evidence shows.</a:t>
            </a:r>
          </a:p>
          <a:p>
            <a:r>
              <a:t>Fallback if playback fails: open videos/07-dashboard-wireframe.mp4 in VLC or a browser.</a:t>
            </a:r>
          </a:p>
          <a:p>
            <a:r>
              <a:t>This video covers prompt 1 only: Claude in Chrome cannot run headless. Do prompt 2 live with `claude --chrome`, or show the captured screenshots on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what we actually saw. Each line on the right comes from the recorded run, not from me. The run took 6 minutes 3 seconds and cost 0.34 dollars. The Chrome step can't run headless; the browser evidence was captured with the same seeded data.</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Take one of these questions. I'll take two or three answers before the lab.</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time. Stage the part, run the prompts, and check with verify. If you get stuck, fallback loads the reference.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If you have all of these, you're ready for the next part. If not, checkpoint gets you there in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 minutes for lunch. When we come back: refactoring and the maintainer handoff. If you're behind, bin/bootcamp checkpoint 07 gets you to the start line.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13:00–13:20. Part 08: Refactor, document and create a maintainer handoff. Project 8: Maintainer-Ready Dashboard. By the end of this part you leave with: Refactored project structure; Passing tests; Updated README; Architecture note; Maintainer handoff; Known limitations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goals for this part. Refactor with behaviour-preserving constraints Find duplication and unclear responsibilities; improve naming and structure Keep tests and browser checks as refactor guardrails Generate architecture notes, onboarding docs, known limitations and a handoff.</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refactor is only safe if you can prove behaviour didn't change. Plan, guardrails, then implement.</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modules, each with one job. The pure logic is now testable in Node without a browser.</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captured the dashboard before and after the refactor and diffed the pixels. The only difference is the clock in the footer. That's what proof of a behaviour-preserving refactor looks like.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known limitations table is the most honest part of a handoff. Notice the first row — we'll come back to it in the production review.</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1. Read it with me: notice the scope, the constraints and the evidence it asks for. Read REFACTOR-REQUEST.md. Propose a bounded refactoring plan for dashboard/app.js: target modules and their single responsibility, what will not change (HTML ids, API calls, rendering, behaviour), and how the existing tests and a browser check prove behaviour is preserved. Do not edit yet.</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2. Read it with me: notice the scope, the constraints and the evidence it asks for. Plan approved. Implement it. Keep the existing test assertions (only import paths may change), run both test suites and show the raw output. Then write docs/ARCHITECTURE.md (one page), docs/HANDOFF.md (start here, how to change things safely, known limitations, ownership) and update README.md. Do not commit.</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 Part 08 · Plan, refactor into four modules, tests unchanged and green, pixel-identical screenshots, handoff docs.</a:t>
            </a:r>
          </a:p>
          <a:p>
            <a:r>
              <a:t>Say first: “This is a recording of a real run of the exact prompts on the previous slide. Tool calls and output are real; long runs are condensed.”</a:t>
            </a:r>
          </a:p>
          <a:p>
            <a:r>
              <a:t>CLICK THE VIDEO to play. Click again to pause for questions. Then → for what the evidence shows.</a:t>
            </a:r>
          </a:p>
          <a:p>
            <a:r>
              <a:t>Fallback if playback fails: open videos/08-maintainer-dashboard.mp4 in VLC or a browser.</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what we actually saw. Each line on the right comes from the recorded run, not from me. The run took 3 minutes 38 seconds and cost 0.54 dollars. </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Take one of these questions. I'll take two or three answers before the lab.</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time. Stage the part, run the prompts, and check with verify. If you get stuck, fallback loads the reference.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If you have all of these, you're ready for the next part. If not, checkpoint gets you there in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13:20–13:55. Part 09: Skills, hooks and specialist subagents. Project 9A: Engineering Quality Skills Pack. By the end of this part you leave with: Customized SKILL.md; Working post-edit validation hook; Specialist subagent definition; Structured review output.</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goals for this part. Choose between CLAUDE.md, rules, Skills, hooks, MCP, subagents and Agent Teams Read SKILL.md structure: description, discovery, arguments, supporting files, forked context Use hooks as deterministic controls: post-edit tests, blocking unsafe commands Create specialist subagents with restricted tools.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decision table of the afternoon. If a rule must never be broken, it's a hook, not an instruction. If it's a procedure you use sometimes, it's a Skill.</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the description sits in context until the skill fires. The body and supporting files load progressively. Arguments arrive in $ARGUMENTS. context: fork runs it as a subagent.</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Hooks are deterministic. The PreToolUse hook denies a force push before it runs. The PostToolUse hook runs the relevant tests after every edit and feeds failures back. Exit code 2 is the one that blocks.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reviewer that cannot edit is a reviewer you can trust not to 'fix' things quietly. Restricting tools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1. Read it with me: notice the scope, the constraints and the evidence it asks for. Use the security-reviewer subagent to review notes_api/ and dashboard/js/. It must cite file:line and quoted evidence for every finding and rank them by severity. Save its report to reviews/security-review-dashboard.md. Do not change any code.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2. Read it with me: notice the scope, the constraints and the evidence it asks for. Make the release target date in dashboard/index.html read 2026-11-12 instead of 2026-11-10 and tell me what the post-edit validation hook reported. Then test our PreToolUse guardrail: the block-unsafe-commands hook is expected to stop secret reads before they run. Attempt exactly `cat .env` once (the file may not even exist) and report the hook's message word for word. Do not try any workaround.</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 Part 09 · Read-only security reviewer finds the stored XSS with file:line; the hook blocks a force push.</a:t>
            </a:r>
          </a:p>
          <a:p>
            <a:r>
              <a:t>Say first: “This is a recording of a real run of the exact prompts on the previous slide. Tool calls and output are real; long runs are condensed.”</a:t>
            </a:r>
          </a:p>
          <a:p>
            <a:r>
              <a:t>CLICK THE VIDEO to play. Click again to pause for questions. Then → for what the evidence shows.</a:t>
            </a:r>
          </a:p>
          <a:p>
            <a:r>
              <a:t>Fallback if playback fails: open videos/09-quality-pack.mp4 in VLC or a browser.</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what we actually saw. Each line on the right comes from the recorded run, not from me. The run took 3 minutes 19 seconds and cost 0.54 dollars. The read-only reviewer found more issues than our reference, including an unescaped status and the test files served publicly.</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Take one of these questions. I'll take two or three answers before the lab.</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time. Stage the part, run the prompts, and check with verify. If you get stuck, fallback loads the reference.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If you have all of these, you're ready for the next part. If not, checkpoint gets you there in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13:55–14:20. Part 10: Plugins and marketplace distribution. Project 9B: Package the Engineering Quality Plugin. By the end of this part you leave with: Validated Claude Code plugin; Local plugin installation; Successful namespaced invocation; Distribution README.</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goals for this part. Package Skills, hooks, subagents and MCP configuration as one plugin Write the manifest; understand namespacing Validate (`claude plugin validate --strict`), install and test locally Distribute through a marketplace; version, trust and maintain.</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plugin is the packaging layer. Everything we built in Part 9 goes into one folder with a manifest. Names are namespaced, so they never collide with yours.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output from our validation and install. Look at the last line: every installed plugin costs context in every session. That's the maintenance cost of 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Distribution is easy; trust is the hard part. A plugin's hooks run on your machine as you. Review them like any third-party code.</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1. Read it with me: notice the scope, the constraints and the evidence it asks for. Read briefs/package-plugin.md. Package our .claude/ change-review skill, a security-review skill, the security-reviewer agent and both hooks into plugins/engineering-quality/ with a valid .claude-plugin/plugin.json and hooks/hooks.json using ${CLAUDE_PLUGIN_ROOT}. Add the marketplace file .claude-plugin/marketplace.json named shipyard-tools. Run claude plugin validate on both with --strict and show the output. Do not commit.</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2. Read it with me: notice the scope, the constraints and the evidence it asks for. /engineering-quality:change-review briefs/package-plugin.md</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 Part 10 · Plugin packaged and validated, installed from a local marketplace, invoked by its namespaced name.</a:t>
            </a:r>
          </a:p>
          <a:p>
            <a:r>
              <a:t>Say first: “This is a recording of a real run of the exact prompts on the previous slide. Tool calls and output are real; long runs are condensed.”</a:t>
            </a:r>
          </a:p>
          <a:p>
            <a:r>
              <a:t>CLICK THE VIDEO to play. Click again to pause for questions. Then → for what the evidence shows.</a:t>
            </a:r>
          </a:p>
          <a:p>
            <a:r>
              <a:t>Fallback if playback fails: open videos/10-plugin.mp4 in VLC or a browser.</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what we actually saw. Each line on the right comes from the recorded run, not from me. The run took 10 minutes 44 seconds and cost 0.86 dollars. Note the failing check: Plugin hook scripts executable. We discuss why rather than hide it. The plugin's own change-review caught that the hook scripts were not executable. The one failing check is that real gap.</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Take one of these questions. I'll take two or three answers before the lab.</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time. Stage the part, run the prompts, and check with verify. If you get stuck, fallback loads the reference.</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If you have all of these, you're ready for the next part. If not, checkpoint gets you there in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14:20–14:50. Part 11: Agent Teams: ship a feature in parallel. Project 9C: Parallel Feature Sprint. By the end of this part you leave with: Parallel task plan; Explicit role and file ownership; Integrated feature; Passing tests; Team review and retrospective; Documented coordination risks.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goals for this part. Choose between subagents and Agent Teams; background sessions and agent view Lead and teammate roles, shared task list, direct messages, plan approval Avoid file conflicts with explicit ownership; quality gates for parallel work Monitor token and coordination cost.</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Subagents are delegates. A team is a set of peers with a lead, a shared task list and a mailbox. Teams cost significantly more tokens, so use them when the work genuinely splits.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Disjoint file ownership plus a frozen API contract is what makes parallel work safe. Put the ownership in each teammate's spawn prompt and check the diff per file: the plan approval step will not enforce it for you, as the next slide shows.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controls you'll touch. One surprise from the docs: when a teammate finishes planning, Claude Code approves the plan in the lead's session without the lead reviewing it. So the human gate is you: read the plans, message a teammate that strays, and use TaskCompleted hooks as the quality gate. Watch the token cost — it scales with teammates.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integrated feature: grouped release notes and a Copy as Markdown button, with both suites green.</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1. Read it with me: notice the scope, the constraints and the evidence it asks for. Read briefs/release-notes-team.md. Create an agent team with three teammates: backend owner, frontend owner, and test and verification owner, each restricted to the files listed in the brief. Require plan approval before any teammate edits. Freeze the API contract from the brief first, write the task list with dependencies to docs/team-plan.md, then let the teammates work in parallel. When all tasks are done, run both test suites, show the raw output, and summarise what each teammate changed. Do not commit.</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2. Read it with me: notice the scope, the constraints and the evidence it asks for. Message the frontend owner: the panel must show an empty-state message when the release has no notes, and the Copy button must say "Copied" for 1.5 seconds.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 Part 11 · The team builds release notes in parallel: backend endpoint, frontend panel, tests, integrated and green.</a:t>
            </a:r>
          </a:p>
          <a:p>
            <a:r>
              <a:t>Say first: “This is a recording of a real run of the exact prompts on the previous slide. Tool calls and output are real; long runs are condensed.”</a:t>
            </a:r>
          </a:p>
          <a:p>
            <a:r>
              <a:t>CLICK THE VIDEO to play. Click again to pause for questions. Then → for what the evidence shows.</a:t>
            </a:r>
          </a:p>
          <a:p>
            <a:r>
              <a:t>Fallback if playback fails: open videos/11-agent-team.mp4 in VLC or a browser.</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what we actually saw. Each line on the right comes from the recorded run, not from me. The run took 14 minutes 11 seconds and cost 2.21 dollars. Headless mode coordinated parallel background agents with plan approval and SendMessage steering. The interactive team UI is the live demo.</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Take one of these questions. I'll take two or three answers before the lab.</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time. Stage the part, run the prompts, and check with verify. If you get stuck, fallback loads the reference.</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If you have all of these, you're ready for the next part. If not, checkpoint gets you there in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Ten-minute break. Use it to run bin/bootcamp verify on your stage, or bin/bootcamp checkpoint for the next part if you fell behind.</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15:00–15:25. Part 12: Production readiness, security and code review. Project 10A: Production Readiness Review. By the end of this part you leave with: Security review; Code review findings; Top three prioritized fixes; Named owner; Verification plan; Production readiness decision.</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goals for this part. Prototype versus production expectations Review dependencies, secrets, input validation, authN/authZ, permissions, errors, performance, rollback Use /security-review, /code-review and ultrareview (`/code-review ultra`) Separate verified findings from speculative concerns; prioritise by severity, effort and impact.</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Shipyard works and is well tested. Production asks different questions: who can reach it, what can they send, what happens when it fails.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row here was proven: file and line, plus a command we actually ran. Speculative concerns go in a separate list and don't block.</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review tools, different depths and costs. Ultrareview runs in the cloud with many agents; it's for the changes that really matter.</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readiness report ends with a decision someone can act on. Conditional go, with named owners and verification actions.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1. Read it with me: notice the scope, the constraints and the evidence it asks for. Read briefs/production-review.md. Run /engineering-quality:security-review on notes_api/ and dashboard/js/, then review the rest yourself. Write reports/production-readiness.md with: risk summary, severity-ranked findings each with evidence (file:line, config, test or runtime output you actually ran), a separate list of speculative concerns, top three fixes with owner and verification action, and a Go / Conditional go / No-go recommendation. Do not fix anything.</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 Part 12 · Security review with file:line evidence, runtime proof, top three fixes and a conditional go.</a:t>
            </a:r>
          </a:p>
          <a:p>
            <a:r>
              <a:t>Say first: “This is a recording of a real run of the exact prompts on the previous slide. Tool calls and output are real; long runs are condensed.”</a:t>
            </a:r>
          </a:p>
          <a:p>
            <a:r>
              <a:t>CLICK THE VIDEO to play. Click again to pause for questions. Then → for what the evidence shows.</a:t>
            </a:r>
          </a:p>
          <a:p>
            <a:r>
              <a:t>Fallback if playback fails: open videos/12-production-readiness.mp4 in VLC or a browser.</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what we actually saw. Each line on the right comes from the recorded run, not from me. The run took 2 minutes 57 seconds and cost 0.47 dollars. Our reference says conditional go; the recorded review said no-go for the org-wide rollout. Two reviewers, two decisions: which would you sign?</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Take one of these questions. I'll take two or three answers before the lab.</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time. Stage the part, run the prompts, and check with verify. If you get stuck, fallback loads the reference.</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If you have all of these, you're ready for the next part. If not, checkpoint gets you there in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15:25–15:45. Part 13: Claude Cowork: engineering output to stakeholder update. Project 10B: Stakeholder Handoff. By the end of this part you leave with: Stakeholder-ready release update; Risk and decision summary; Follow-up action list; Named owners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goals for this part. Extend agentic work beyond code: reports, spreadsheets, presentations, documents Keep technical accuracy while translating risk into business impact Cowork permissions, local file access, reviewing browser and connector actions Manual, automatic and skipped approval modes.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Cowork takes the same agentic loop to business documents. Same discipline: grant only the folder it needs and review its actions.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severity doesn't change in translation. Only the words do. That's the bar for a stakeholder update.</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sections, one page, readable on a phone. No invented dates: if the date depends on an approval, say so.</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1. Read it with me: notice the scope, the constraints and the evidence it asks for. Read reports/production-readiness.md, docs/HANDOFF.md and docs/team-plan.md. Write reports/stakeholder-update.md: one page for a VP of Engineering reading on a phone, with exactly these sections: current release status, features completed, customer or business impact, major risks (plain language, severities unchanged), decisions required, top three fixes, owners and deadlines (no invented dates), recommended next step.</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 Part 13 · The readiness report becomes a one-page stakeholder update with honest severities and owners.</a:t>
            </a:r>
          </a:p>
          <a:p>
            <a:r>
              <a:t>Say first: “This is a recording of a real run of the exact prompts on the previous slide. Tool calls and output are real; long runs are condensed.”</a:t>
            </a:r>
          </a:p>
          <a:p>
            <a:r>
              <a:t>CLICK THE VIDEO to play. Click again to pause for questions. Then → for what the evidence shows.</a:t>
            </a:r>
          </a:p>
          <a:p>
            <a:r>
              <a:t>Fallback if playback fails: open videos/13-cowork-handoff.mp4 in VLC or a browser.</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what we actually saw. Each line on the right comes from the recorded run, not from me. The run took 1 minutes 11 seconds and cost 0.10 dollars. No invented deadlines: the run wrote 'not set' because the sources give none.</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Take one of these questions. I'll take two or three answers before the lab.</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time. Stage the part, run the prompts, and check with verify. If you get stuck, fallback loads the reference.</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If you have all of these, you're ready for the next part. If not, checkpoint gets you there in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15:45–16:05. Part 14: Web, mobile, Remote Control and work that continues. Project 10C: Cross-Device Continuation. By the end of this part you leave with: Cross-device continuation checklist; Remote verification status update; Post-release routine brief.</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goals for this part. Move between terminal, desktop, web and mobile Continue a local session with Remote Control; monitor and steer from another device Local sessions versus cloud sessions; when local context or credentials are required Routines and scheduled work; safe automation with clear stop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Remote Control keeps the session on your laptop and lets you steer it from the phone. Cloud sessions and routines run without your machine but only see what's in the repo.</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start the verification here, then pick it up on my phone and steer it once. It keeps using my local files and tools.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Routines run without permission prompts, so the safety has to be in the design: least privilege, draft-only output, and a stop condition that hands control back to a human.</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1. Read it with me: notice the scope, the constraints and the evidence it asks for. Run both test suites and python3 scripts/readiness_probe.py (it starts its own server), then write a five-line verification status to ops/remote-verification-status.md: test totals with the raw summary lines, probe results, verdict GREEN/YELLOW/RED and the next step. Stop after writing the file; do not edit anything else.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prompt 2. Read it with me: notice the scope, the constraints and the evidence it asks for. Write ops/post-release-routine.md using templates/post-release-routine-brief.md: a recurring post-release check for this repository with trigger, repository scope, required permissions (least privilege), expected output, the human approval point, and the completion or stop condition. Say what must stay local and what can run as a cloud routine.</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 Part 14 · Verification runs, a status file is written, and a post-release routine brief with stop conditions is designed.</a:t>
            </a:r>
          </a:p>
          <a:p>
            <a:r>
              <a:t>Say first: “This is a recording of a real run of the exact prompts on the previous slide. Tool calls and output are real; long runs are condensed.”</a:t>
            </a:r>
          </a:p>
          <a:p>
            <a:r>
              <a:t>CLICK THE VIDEO to play. Click again to pause for questions. Then → for what the evidence shows.</a:t>
            </a:r>
          </a:p>
          <a:p>
            <a:r>
              <a:t>Fallback if playback fails: open videos/14-remote-routine.mp4 in VLC or a browser.</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what we actually saw. Each line on the right comes from the recorded run, not from me. The run took 4 minutes 12 seconds and cost 0.25 dollars. </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Take one of these questions. I'll take two or three answers before the lab.</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time. Stage the part, run the prompts, and check with verify. If you get stuck, fallback loads the reference.</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If you have all of these, you're ready for the next part. If not, checkpoint gets you there in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at the final block. Common mistakes, assessment, certification, and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slide from today, make it this one.</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percent quiz, fifty percent capstone, twenty percent reflection. Details in the assessment folder.</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automatic-fail conditions. Fabricated test results fail the assessment, no matter how good the rest is.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mock test mirrors the seven domains of the Claude Certified Associate – Foundations exam. Run it with python3 mock-test/run.py. It writes a readiness report with a seven-day revision plan.</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 read this exactly: these materials are independent, not endorsed by Anthropic, and contain no official exam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we used today is in your repository. Install the Skills Pack into your own repos with skills-pack/install.sh.</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Build faster, orchestrate smarter, verify everything, ship with confidence.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microsoft.com/office/2007/relationships/media" Target="../media/media3.mp4"/><Relationship Id="rId4" Type="http://schemas.openxmlformats.org/officeDocument/2006/relationships/video" Target="../media/media3.mp4"/><Relationship Id="rId5"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microsoft.com/office/2007/relationships/media" Target="../media/media4.mp4"/><Relationship Id="rId4" Type="http://schemas.openxmlformats.org/officeDocument/2006/relationships/video" Target="../media/media4.mp4"/><Relationship Id="rId5" Type="http://schemas.openxmlformats.org/officeDocument/2006/relationships/image" Target="../media/image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microsoft.com/office/2007/relationships/media" Target="../media/media5.mp4"/><Relationship Id="rId4" Type="http://schemas.openxmlformats.org/officeDocument/2006/relationships/video" Target="../media/media5.mp4"/><Relationship Id="rId5" Type="http://schemas.openxmlformats.org/officeDocument/2006/relationships/image" Target="../media/image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microsoft.com/office/2007/relationships/media" Target="../media/media6.mp4"/><Relationship Id="rId4" Type="http://schemas.openxmlformats.org/officeDocument/2006/relationships/video" Target="../media/media6.mp4"/><Relationship Id="rId5" Type="http://schemas.openxmlformats.org/officeDocument/2006/relationships/image" Target="../media/image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 Id="rId3" Type="http://schemas.openxmlformats.org/officeDocument/2006/relationships/image" Target="../media/image8.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 Id="rId3" Type="http://schemas.openxmlformats.org/officeDocument/2006/relationships/image" Target="../media/image9.png"/><Relationship Id="rId4" Type="http://schemas.openxmlformats.org/officeDocument/2006/relationships/image" Target="../media/image10.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 Id="rId3" Type="http://schemas.microsoft.com/office/2007/relationships/media" Target="../media/media7.mp4"/><Relationship Id="rId4" Type="http://schemas.openxmlformats.org/officeDocument/2006/relationships/video" Target="../media/media7.mp4"/><Relationship Id="rId5" Type="http://schemas.openxmlformats.org/officeDocument/2006/relationships/image" Target="../media/image1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 Id="rId3" Type="http://schemas.openxmlformats.org/officeDocument/2006/relationships/image" Target="../media/image9.png"/><Relationship Id="rId4" Type="http://schemas.openxmlformats.org/officeDocument/2006/relationships/image" Target="../media/image1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 Id="rId3" Type="http://schemas.microsoft.com/office/2007/relationships/media" Target="../media/media8.mp4"/><Relationship Id="rId4" Type="http://schemas.openxmlformats.org/officeDocument/2006/relationships/video" Target="../media/media8.mp4"/><Relationship Id="rId5" Type="http://schemas.openxmlformats.org/officeDocument/2006/relationships/image" Target="../media/image13.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 Id="rId3" Type="http://schemas.microsoft.com/office/2007/relationships/media" Target="../media/media9.mp4"/><Relationship Id="rId4" Type="http://schemas.openxmlformats.org/officeDocument/2006/relationships/video" Target="../media/media9.mp4"/><Relationship Id="rId5" Type="http://schemas.openxmlformats.org/officeDocument/2006/relationships/image" Target="../media/image14.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 Id="rId3" Type="http://schemas.microsoft.com/office/2007/relationships/media" Target="../media/media10.mp4"/><Relationship Id="rId4" Type="http://schemas.openxmlformats.org/officeDocument/2006/relationships/video" Target="../media/media10.mp4"/><Relationship Id="rId5" Type="http://schemas.openxmlformats.org/officeDocument/2006/relationships/image" Target="../media/image15.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 Id="rId3" Type="http://schemas.openxmlformats.org/officeDocument/2006/relationships/image" Target="../media/image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 Id="rId3" Type="http://schemas.microsoft.com/office/2007/relationships/media" Target="../media/media11.mp4"/><Relationship Id="rId4" Type="http://schemas.openxmlformats.org/officeDocument/2006/relationships/video" Target="../media/media11.mp4"/><Relationship Id="rId5" Type="http://schemas.openxmlformats.org/officeDocument/2006/relationships/image" Target="../media/image16.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 Id="rId3" Type="http://schemas.microsoft.com/office/2007/relationships/media" Target="../media/media12.mp4"/><Relationship Id="rId4" Type="http://schemas.openxmlformats.org/officeDocument/2006/relationships/video" Target="../media/media12.mp4"/><Relationship Id="rId5" Type="http://schemas.openxmlformats.org/officeDocument/2006/relationships/image" Target="../media/image17.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 Id="rId3" Type="http://schemas.microsoft.com/office/2007/relationships/media" Target="../media/media13.mp4"/><Relationship Id="rId4" Type="http://schemas.openxmlformats.org/officeDocument/2006/relationships/video" Target="../media/media13.mp4"/><Relationship Id="rId5" Type="http://schemas.openxmlformats.org/officeDocument/2006/relationships/image" Target="../media/image18.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 Id="rId3" Type="http://schemas.microsoft.com/office/2007/relationships/media" Target="../media/media14.mp4"/><Relationship Id="rId4" Type="http://schemas.openxmlformats.org/officeDocument/2006/relationships/video" Target="../media/media14.mp4"/><Relationship Id="rId5" Type="http://schemas.openxmlformats.org/officeDocument/2006/relationships/image" Target="../media/image19.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1371600"/>
            <a:ext cx="10058400" cy="365760"/>
          </a:xfrm>
          <a:prstGeom prst="rect">
            <a:avLst/>
          </a:prstGeom>
          <a:noFill/>
        </p:spPr>
        <p:txBody>
          <a:bodyPr wrap="square" lIns="0" rIns="0" tIns="0" bIns="0">
            <a:spAutoFit/>
          </a:bodyPr>
          <a:lstStyle/>
          <a:p>
            <a:pPr algn="l"/>
            <a:r>
              <a:rPr sz="1400" b="1">
                <a:solidFill>
                  <a:srgbClr val="BAFF70"/>
                </a:solidFill>
                <a:latin typeface="Arial"/>
              </a:rPr>
              <a:t>PACKT LIVE WORKSHOP · 7.5 HOURS</a:t>
            </a:r>
          </a:p>
        </p:txBody>
      </p:sp>
      <p:sp>
        <p:nvSpPr>
          <p:cNvPr id="5" name="TextBox 4"/>
          <p:cNvSpPr txBox="1"/>
          <p:nvPr/>
        </p:nvSpPr>
        <p:spPr>
          <a:xfrm>
            <a:off x="640080" y="1828800"/>
            <a:ext cx="10515600" cy="2011680"/>
          </a:xfrm>
          <a:prstGeom prst="rect">
            <a:avLst/>
          </a:prstGeom>
          <a:noFill/>
        </p:spPr>
        <p:txBody>
          <a:bodyPr wrap="square" lIns="0" rIns="0" tIns="0" bIns="0">
            <a:spAutoFit/>
          </a:bodyPr>
          <a:lstStyle/>
          <a:p>
            <a:pPr algn="l"/>
            <a:r>
              <a:rPr sz="5400" b="1">
                <a:solidFill>
                  <a:srgbClr val="F8FAFC"/>
                </a:solidFill>
                <a:latin typeface="Arial"/>
              </a:rPr>
              <a:t>CLAUDE CODE BOOTCAMP</a:t>
            </a:r>
          </a:p>
          <a:p>
            <a:pPr algn="l"/>
            <a:r>
              <a:rPr sz="5400" b="1">
                <a:solidFill>
                  <a:srgbClr val="F8FAFC"/>
                </a:solidFill>
                <a:latin typeface="Arial"/>
              </a:rPr>
              <a:t>COHORT 2</a:t>
            </a:r>
          </a:p>
        </p:txBody>
      </p:sp>
      <p:sp>
        <p:nvSpPr>
          <p:cNvPr id="6" name="TextBox 5"/>
          <p:cNvSpPr txBox="1"/>
          <p:nvPr/>
        </p:nvSpPr>
        <p:spPr>
          <a:xfrm>
            <a:off x="640080" y="3931920"/>
            <a:ext cx="10515600" cy="731520"/>
          </a:xfrm>
          <a:prstGeom prst="rect">
            <a:avLst/>
          </a:prstGeom>
          <a:noFill/>
        </p:spPr>
        <p:txBody>
          <a:bodyPr wrap="square" lIns="0" rIns="0" tIns="0" bIns="0">
            <a:spAutoFit/>
          </a:bodyPr>
          <a:lstStyle/>
          <a:p>
            <a:pPr algn="l"/>
            <a:r>
              <a:rPr sz="3600" b="1">
                <a:solidFill>
                  <a:srgbClr val="BAFF70"/>
                </a:solidFill>
                <a:latin typeface="Arial"/>
              </a:rPr>
              <a:t>Build. Orchestrate. Verify. Ship.</a:t>
            </a:r>
          </a:p>
        </p:txBody>
      </p:sp>
      <p:sp>
        <p:nvSpPr>
          <p:cNvPr id="7" name="TextBox 6"/>
          <p:cNvSpPr txBox="1"/>
          <p:nvPr/>
        </p:nvSpPr>
        <p:spPr>
          <a:xfrm>
            <a:off x="640080" y="4937760"/>
            <a:ext cx="10515600" cy="457200"/>
          </a:xfrm>
          <a:prstGeom prst="rect">
            <a:avLst/>
          </a:prstGeom>
          <a:noFill/>
        </p:spPr>
        <p:txBody>
          <a:bodyPr wrap="square" lIns="0" rIns="0" tIns="0" bIns="0">
            <a:spAutoFit/>
          </a:bodyPr>
          <a:lstStyle/>
          <a:p>
            <a:pPr algn="l"/>
            <a:r>
              <a:rPr sz="2000" b="0">
                <a:solidFill>
                  <a:srgbClr val="ADBBCD"/>
                </a:solidFill>
                <a:latin typeface="Arial"/>
              </a:rPr>
              <a:t>10 connected hands-on projects · Luca Berton</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001 / 198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1645920"/>
            <a:ext cx="10058400" cy="365760"/>
          </a:xfrm>
          <a:prstGeom prst="rect">
            <a:avLst/>
          </a:prstGeom>
          <a:noFill/>
        </p:spPr>
        <p:txBody>
          <a:bodyPr wrap="square" lIns="0" rIns="0" tIns="0" bIns="0">
            <a:spAutoFit/>
          </a:bodyPr>
          <a:lstStyle/>
          <a:p>
            <a:pPr algn="l"/>
            <a:r>
              <a:rPr sz="1400" b="1">
                <a:solidFill>
                  <a:srgbClr val="BAFF70"/>
                </a:solidFill>
                <a:latin typeface="Arial"/>
              </a:rPr>
              <a:t>THE PROMISE OF TODAY</a:t>
            </a:r>
          </a:p>
        </p:txBody>
      </p:sp>
      <p:sp>
        <p:nvSpPr>
          <p:cNvPr id="5" name="TextBox 4"/>
          <p:cNvSpPr txBox="1"/>
          <p:nvPr/>
        </p:nvSpPr>
        <p:spPr>
          <a:xfrm>
            <a:off x="640080" y="2194560"/>
            <a:ext cx="10789920" cy="2194560"/>
          </a:xfrm>
          <a:prstGeom prst="rect">
            <a:avLst/>
          </a:prstGeom>
          <a:noFill/>
        </p:spPr>
        <p:txBody>
          <a:bodyPr wrap="square" lIns="0" rIns="0" tIns="0" bIns="0">
            <a:spAutoFit/>
          </a:bodyPr>
          <a:lstStyle/>
          <a:p>
            <a:pPr algn="l"/>
            <a:r>
              <a:rPr sz="4000" b="1">
                <a:solidFill>
                  <a:srgbClr val="F8FAFC"/>
                </a:solidFill>
                <a:latin typeface="Arial"/>
              </a:rPr>
              <a:t>From an engineering brief to a production readiness decision.</a:t>
            </a:r>
          </a:p>
        </p:txBody>
      </p:sp>
      <p:sp>
        <p:nvSpPr>
          <p:cNvPr id="6" name="TextBox 5"/>
          <p:cNvSpPr txBox="1"/>
          <p:nvPr/>
        </p:nvSpPr>
        <p:spPr>
          <a:xfrm>
            <a:off x="640080" y="4572000"/>
            <a:ext cx="10789920" cy="1097280"/>
          </a:xfrm>
          <a:prstGeom prst="rect">
            <a:avLst/>
          </a:prstGeom>
          <a:noFill/>
        </p:spPr>
        <p:txBody>
          <a:bodyPr wrap="square" lIns="0" rIns="0" tIns="0" bIns="0">
            <a:spAutoFit/>
          </a:bodyPr>
          <a:lstStyle/>
          <a:p>
            <a:pPr algn="l"/>
            <a:r>
              <a:rPr sz="2000" b="0">
                <a:solidFill>
                  <a:srgbClr val="ADBBCD"/>
                </a:solidFill>
                <a:latin typeface="Arial"/>
              </a:rPr>
              <a:t>Working applications · safer Git and sandbox workflows · a reusable Skills Pack · a repeatable process</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002 / 198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THE DAY AT A GLANCE</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14 parts · 10 projects · 450 minutes</a:t>
            </a:r>
          </a:p>
        </p:txBody>
      </p:sp>
      <p:graphicFrame>
        <p:nvGraphicFramePr>
          <p:cNvPr id="6" name="Table 5"/>
          <p:cNvGraphicFramePr>
            <a:graphicFrameLocks noGrp="1"/>
          </p:cNvGraphicFramePr>
          <p:nvPr/>
        </p:nvGraphicFramePr>
        <p:xfrm>
          <a:off x="640080" y="1984248"/>
          <a:ext cx="10881358" cy="3328416"/>
        </p:xfrm>
        <a:graphic>
          <a:graphicData uri="http://schemas.openxmlformats.org/drawingml/2006/table">
            <a:tbl>
              <a:tblPr>
                <a:tableStyleId>{5C22544A-7EE6-4342-B048-85BDC9FD1C3A}</a:tableStyleId>
              </a:tblPr>
              <a:tblGrid>
                <a:gridCol w="2558735"/>
                <a:gridCol w="6598844"/>
                <a:gridCol w="1723779"/>
              </a:tblGrid>
              <a:tr h="475488">
                <a:tc>
                  <a:txBody>
                    <a:bodyPr wrap="square"/>
                    <a:lstStyle/>
                    <a:p>
                      <a:r>
                        <a:rPr sz="1600" b="1">
                          <a:solidFill>
                            <a:srgbClr val="BAFF70"/>
                          </a:solidFill>
                          <a:latin typeface="Arial"/>
                        </a:rPr>
                        <a:t>Block</a:t>
                      </a:r>
                    </a:p>
                  </a:txBody>
                  <a:tcPr marL="109728" marR="109728">
                    <a:solidFill>
                      <a:srgbClr val="22324A"/>
                    </a:solidFill>
                  </a:tcPr>
                </a:tc>
                <a:tc>
                  <a:txBody>
                    <a:bodyPr wrap="square"/>
                    <a:lstStyle/>
                    <a:p>
                      <a:r>
                        <a:rPr sz="1600" b="1">
                          <a:solidFill>
                            <a:srgbClr val="BAFF70"/>
                          </a:solidFill>
                          <a:latin typeface="Arial"/>
                        </a:rPr>
                        <a:t>Parts</a:t>
                      </a:r>
                    </a:p>
                  </a:txBody>
                  <a:tcPr marL="109728" marR="109728">
                    <a:solidFill>
                      <a:srgbClr val="22324A"/>
                    </a:solidFill>
                  </a:tcPr>
                </a:tc>
                <a:tc>
                  <a:txBody>
                    <a:bodyPr wrap="square"/>
                    <a:lstStyle/>
                    <a:p>
                      <a:r>
                        <a:rPr sz="1600" b="1">
                          <a:solidFill>
                            <a:srgbClr val="BAFF70"/>
                          </a:solidFill>
                          <a:latin typeface="Arial"/>
                        </a:rPr>
                        <a:t>Projects</a:t>
                      </a:r>
                    </a:p>
                  </a:txBody>
                  <a:tcPr marL="109728" marR="109728">
                    <a:solidFill>
                      <a:srgbClr val="22324A"/>
                    </a:solidFill>
                  </a:tcPr>
                </a:tc>
              </a:tr>
              <a:tr h="475488">
                <a:tc>
                  <a:txBody>
                    <a:bodyPr wrap="square"/>
                    <a:lstStyle/>
                    <a:p>
                      <a:r>
                        <a:rPr sz="1600" b="1">
                          <a:solidFill>
                            <a:srgbClr val="F8FAFC"/>
                          </a:solidFill>
                          <a:latin typeface="Arial"/>
                        </a:rPr>
                        <a:t>Foundations</a:t>
                      </a:r>
                    </a:p>
                  </a:txBody>
                  <a:tcPr marL="109728" marR="109728">
                    <a:solidFill>
                      <a:srgbClr val="1A283B"/>
                    </a:solidFill>
                  </a:tcPr>
                </a:tc>
                <a:tc>
                  <a:txBody>
                    <a:bodyPr wrap="square"/>
                    <a:lstStyle/>
                    <a:p>
                      <a:r>
                        <a:rPr sz="1600" b="0">
                          <a:solidFill>
                            <a:srgbClr val="ADBBCD"/>
                          </a:solidFill>
                          <a:latin typeface="Arial"/>
                        </a:rPr>
                        <a:t>1–3 · workspace, briefs, project brain</a:t>
                      </a:r>
                    </a:p>
                  </a:txBody>
                  <a:tcPr marL="109728" marR="109728">
                    <a:solidFill>
                      <a:srgbClr val="1A283B"/>
                    </a:solidFill>
                  </a:tcPr>
                </a:tc>
                <a:tc>
                  <a:txBody>
                    <a:bodyPr wrap="square"/>
                    <a:lstStyle/>
                    <a:p>
                      <a:r>
                        <a:rPr sz="1600" b="0">
                          <a:solidFill>
                            <a:srgbClr val="ADBBCD"/>
                          </a:solidFill>
                          <a:latin typeface="Arial"/>
                        </a:rPr>
                        <a:t>1–3</a:t>
                      </a:r>
                    </a:p>
                  </a:txBody>
                  <a:tcPr marL="109728" marR="109728">
                    <a:solidFill>
                      <a:srgbClr val="1A283B"/>
                    </a:solidFill>
                  </a:tcPr>
                </a:tc>
              </a:tr>
              <a:tr h="475488">
                <a:tc>
                  <a:txBody>
                    <a:bodyPr wrap="square"/>
                    <a:lstStyle/>
                    <a:p>
                      <a:r>
                        <a:rPr sz="1600" b="1">
                          <a:solidFill>
                            <a:srgbClr val="F8FAFC"/>
                          </a:solidFill>
                          <a:latin typeface="Arial"/>
                        </a:rPr>
                        <a:t>Better code</a:t>
                      </a:r>
                    </a:p>
                  </a:txBody>
                  <a:tcPr marL="109728" marR="109728">
                    <a:solidFill>
                      <a:srgbClr val="15233A"/>
                    </a:solidFill>
                  </a:tcPr>
                </a:tc>
                <a:tc>
                  <a:txBody>
                    <a:bodyPr wrap="square"/>
                    <a:lstStyle/>
                    <a:p>
                      <a:r>
                        <a:rPr sz="1600" b="0">
                          <a:solidFill>
                            <a:srgbClr val="ADBBCD"/>
                          </a:solidFill>
                          <a:latin typeface="Arial"/>
                        </a:rPr>
                        <a:t>4–6 · Best-of-N, debugging, worktrees</a:t>
                      </a:r>
                    </a:p>
                  </a:txBody>
                  <a:tcPr marL="109728" marR="109728">
                    <a:solidFill>
                      <a:srgbClr val="15233A"/>
                    </a:solidFill>
                  </a:tcPr>
                </a:tc>
                <a:tc>
                  <a:txBody>
                    <a:bodyPr wrap="square"/>
                    <a:lstStyle/>
                    <a:p>
                      <a:r>
                        <a:rPr sz="1600" b="0">
                          <a:solidFill>
                            <a:srgbClr val="ADBBCD"/>
                          </a:solidFill>
                          <a:latin typeface="Arial"/>
                        </a:rPr>
                        <a:t>4–6</a:t>
                      </a:r>
                    </a:p>
                  </a:txBody>
                  <a:tcPr marL="109728" marR="109728">
                    <a:solidFill>
                      <a:srgbClr val="15233A"/>
                    </a:solidFill>
                  </a:tcPr>
                </a:tc>
              </a:tr>
              <a:tr h="475488">
                <a:tc>
                  <a:txBody>
                    <a:bodyPr wrap="square"/>
                    <a:lstStyle/>
                    <a:p>
                      <a:r>
                        <a:rPr sz="1600" b="1">
                          <a:solidFill>
                            <a:srgbClr val="F8FAFC"/>
                          </a:solidFill>
                          <a:latin typeface="Arial"/>
                        </a:rPr>
                        <a:t>Beyond the terminal</a:t>
                      </a:r>
                    </a:p>
                  </a:txBody>
                  <a:tcPr marL="109728" marR="109728">
                    <a:solidFill>
                      <a:srgbClr val="1A283B"/>
                    </a:solidFill>
                  </a:tcPr>
                </a:tc>
                <a:tc>
                  <a:txBody>
                    <a:bodyPr wrap="square"/>
                    <a:lstStyle/>
                    <a:p>
                      <a:r>
                        <a:rPr sz="1600" b="0">
                          <a:solidFill>
                            <a:srgbClr val="ADBBCD"/>
                          </a:solidFill>
                          <a:latin typeface="Arial"/>
                        </a:rPr>
                        <a:t>7–8 · wireframe to UI, Chrome, refactor</a:t>
                      </a:r>
                    </a:p>
                  </a:txBody>
                  <a:tcPr marL="109728" marR="109728">
                    <a:solidFill>
                      <a:srgbClr val="1A283B"/>
                    </a:solidFill>
                  </a:tcPr>
                </a:tc>
                <a:tc>
                  <a:txBody>
                    <a:bodyPr wrap="square"/>
                    <a:lstStyle/>
                    <a:p>
                      <a:r>
                        <a:rPr sz="1600" b="0">
                          <a:solidFill>
                            <a:srgbClr val="ADBBCD"/>
                          </a:solidFill>
                          <a:latin typeface="Arial"/>
                        </a:rPr>
                        <a:t>7–8</a:t>
                      </a:r>
                    </a:p>
                  </a:txBody>
                  <a:tcPr marL="109728" marR="109728">
                    <a:solidFill>
                      <a:srgbClr val="1A283B"/>
                    </a:solidFill>
                  </a:tcPr>
                </a:tc>
              </a:tr>
              <a:tr h="475488">
                <a:tc>
                  <a:txBody>
                    <a:bodyPr wrap="square"/>
                    <a:lstStyle/>
                    <a:p>
                      <a:r>
                        <a:rPr sz="1600" b="1">
                          <a:solidFill>
                            <a:srgbClr val="F8FAFC"/>
                          </a:solidFill>
                          <a:latin typeface="Arial"/>
                        </a:rPr>
                        <a:t>Scale and reuse</a:t>
                      </a:r>
                    </a:p>
                  </a:txBody>
                  <a:tcPr marL="109728" marR="109728">
                    <a:solidFill>
                      <a:srgbClr val="15233A"/>
                    </a:solidFill>
                  </a:tcPr>
                </a:tc>
                <a:tc>
                  <a:txBody>
                    <a:bodyPr wrap="square"/>
                    <a:lstStyle/>
                    <a:p>
                      <a:r>
                        <a:rPr sz="1600" b="0">
                          <a:solidFill>
                            <a:srgbClr val="ADBBCD"/>
                          </a:solidFill>
                          <a:latin typeface="Arial"/>
                        </a:rPr>
                        <a:t>9–11 · Skills, hooks, plugins, Agent Teams</a:t>
                      </a:r>
                    </a:p>
                  </a:txBody>
                  <a:tcPr marL="109728" marR="109728">
                    <a:solidFill>
                      <a:srgbClr val="15233A"/>
                    </a:solidFill>
                  </a:tcPr>
                </a:tc>
                <a:tc>
                  <a:txBody>
                    <a:bodyPr wrap="square"/>
                    <a:lstStyle/>
                    <a:p>
                      <a:r>
                        <a:rPr sz="1600" b="0">
                          <a:solidFill>
                            <a:srgbClr val="ADBBCD"/>
                          </a:solidFill>
                          <a:latin typeface="Arial"/>
                        </a:rPr>
                        <a:t>9A–9C</a:t>
                      </a:r>
                    </a:p>
                  </a:txBody>
                  <a:tcPr marL="109728" marR="109728">
                    <a:solidFill>
                      <a:srgbClr val="15233A"/>
                    </a:solidFill>
                  </a:tcPr>
                </a:tc>
              </a:tr>
              <a:tr h="475488">
                <a:tc>
                  <a:txBody>
                    <a:bodyPr wrap="square"/>
                    <a:lstStyle/>
                    <a:p>
                      <a:r>
                        <a:rPr sz="1600" b="1">
                          <a:solidFill>
                            <a:srgbClr val="F8FAFC"/>
                          </a:solidFill>
                          <a:latin typeface="Arial"/>
                        </a:rPr>
                        <a:t>Ship</a:t>
                      </a:r>
                    </a:p>
                  </a:txBody>
                  <a:tcPr marL="109728" marR="109728">
                    <a:solidFill>
                      <a:srgbClr val="1A283B"/>
                    </a:solidFill>
                  </a:tcPr>
                </a:tc>
                <a:tc>
                  <a:txBody>
                    <a:bodyPr wrap="square"/>
                    <a:lstStyle/>
                    <a:p>
                      <a:r>
                        <a:rPr sz="1600" b="0">
                          <a:solidFill>
                            <a:srgbClr val="ADBBCD"/>
                          </a:solidFill>
                          <a:latin typeface="Arial"/>
                        </a:rPr>
                        <a:t>12–14 · production review, Cowork, Remote Control</a:t>
                      </a:r>
                    </a:p>
                  </a:txBody>
                  <a:tcPr marL="109728" marR="109728">
                    <a:solidFill>
                      <a:srgbClr val="1A283B"/>
                    </a:solidFill>
                  </a:tcPr>
                </a:tc>
                <a:tc>
                  <a:txBody>
                    <a:bodyPr wrap="square"/>
                    <a:lstStyle/>
                    <a:p>
                      <a:r>
                        <a:rPr sz="1600" b="0">
                          <a:solidFill>
                            <a:srgbClr val="ADBBCD"/>
                          </a:solidFill>
                          <a:latin typeface="Arial"/>
                        </a:rPr>
                        <a:t>10A–10C</a:t>
                      </a:r>
                    </a:p>
                  </a:txBody>
                  <a:tcPr marL="109728" marR="109728">
                    <a:solidFill>
                      <a:srgbClr val="1A283B"/>
                    </a:solidFill>
                  </a:tcPr>
                </a:tc>
              </a:tr>
              <a:tr h="475488">
                <a:tc>
                  <a:txBody>
                    <a:bodyPr wrap="square"/>
                    <a:lstStyle/>
                    <a:p>
                      <a:r>
                        <a:rPr sz="1600" b="1">
                          <a:solidFill>
                            <a:srgbClr val="F8FAFC"/>
                          </a:solidFill>
                          <a:latin typeface="Arial"/>
                        </a:rPr>
                        <a:t>Close</a:t>
                      </a:r>
                    </a:p>
                  </a:txBody>
                  <a:tcPr marL="109728" marR="109728">
                    <a:solidFill>
                      <a:srgbClr val="15233A"/>
                    </a:solidFill>
                  </a:tcPr>
                </a:tc>
                <a:tc>
                  <a:txBody>
                    <a:bodyPr wrap="square"/>
                    <a:lstStyle/>
                    <a:p>
                      <a:r>
                        <a:rPr sz="1600" b="0">
                          <a:solidFill>
                            <a:srgbClr val="ADBBCD"/>
                          </a:solidFill>
                          <a:latin typeface="Arial"/>
                        </a:rPr>
                        <a:t>Q&amp;A, assessment, certification briefing</a:t>
                      </a:r>
                    </a:p>
                  </a:txBody>
                  <a:tcPr marL="109728" marR="109728">
                    <a:solidFill>
                      <a:srgbClr val="15233A"/>
                    </a:solidFill>
                  </a:tcPr>
                </a:tc>
                <a:tc>
                  <a:txBody>
                    <a:bodyPr wrap="square"/>
                    <a:lstStyle/>
                    <a:p>
                      <a:r>
                        <a:rPr sz="1600" b="0">
                          <a:solidFill>
                            <a:srgbClr val="ADBBCD"/>
                          </a:solidFill>
                          <a:latin typeface="Arial"/>
                        </a:rPr>
                        <a:t>–</a:t>
                      </a:r>
                    </a:p>
                  </a:txBody>
                  <a:tcPr marL="109728" marR="109728">
                    <a:solidFill>
                      <a:srgbClr val="15233A"/>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003 / 198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THE PRODUCT WE BUILD ALL DAY</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2800" b="1">
                <a:solidFill>
                  <a:srgbClr val="F8FAFC"/>
                </a:solidFill>
                <a:latin typeface="Arial"/>
              </a:rPr>
              <a:t>Shipyard: release readiness in one page</a:t>
            </a:r>
          </a:p>
        </p:txBody>
      </p:sp>
      <p:pic>
        <p:nvPicPr>
          <p:cNvPr id="6" name="Picture 5" descr="crop-evidence-release-notes-desktop-1280.png"/>
          <p:cNvPicPr>
            <a:picLocks noChangeAspect="1"/>
          </p:cNvPicPr>
          <p:nvPr/>
        </p:nvPicPr>
        <p:blipFill>
          <a:blip r:embed="rId3"/>
          <a:stretch>
            <a:fillRect/>
          </a:stretch>
        </p:blipFill>
        <p:spPr>
          <a:xfrm>
            <a:off x="3297648" y="1984248"/>
            <a:ext cx="5566223" cy="4005072"/>
          </a:xfrm>
          <a:prstGeom prst="rect">
            <a:avLst/>
          </a:prstGeom>
        </p:spPr>
      </p:pic>
      <p:sp>
        <p:nvSpPr>
          <p:cNvPr id="7" name="TextBox 6"/>
          <p:cNvSpPr txBox="1"/>
          <p:nvPr/>
        </p:nvSpPr>
        <p:spPr>
          <a:xfrm>
            <a:off x="640080" y="6172200"/>
            <a:ext cx="10881360" cy="365760"/>
          </a:xfrm>
          <a:prstGeom prst="rect">
            <a:avLst/>
          </a:prstGeom>
          <a:noFill/>
        </p:spPr>
        <p:txBody>
          <a:bodyPr wrap="square" lIns="0" rIns="0" tIns="0" bIns="0">
            <a:spAutoFit/>
          </a:bodyPr>
          <a:lstStyle/>
          <a:p>
            <a:pPr algn="l"/>
            <a:r>
              <a:rPr sz="1400" b="0">
                <a:solidFill>
                  <a:srgbClr val="ADBBCD"/>
                </a:solidFill>
                <a:latin typeface="Arial"/>
              </a:rPr>
              <a:t>Where we end up: shipctl CLI → Notes API → release dashboard → release notes, reviewed and production-checked.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004 / 198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THE LOOP WE REPEAT IN EVERY PART</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Plan → Implement → Verify → Review → Commit</a:t>
            </a:r>
          </a:p>
        </p:txBody>
      </p:sp>
      <p:sp>
        <p:nvSpPr>
          <p:cNvPr id="6" name="Pentagon 5"/>
          <p:cNvSpPr/>
          <p:nvPr/>
        </p:nvSpPr>
        <p:spPr>
          <a:xfrm>
            <a:off x="640080" y="2258568"/>
            <a:ext cx="1993392" cy="1188720"/>
          </a:xfrm>
          <a:prstGeom prst="homePlate">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BAFF70"/>
                </a:solidFill>
                <a:latin typeface="Arial"/>
              </a:rPr>
              <a:t>Plan</a:t>
            </a:r>
          </a:p>
        </p:txBody>
      </p:sp>
      <p:sp>
        <p:nvSpPr>
          <p:cNvPr id="7" name="Chevron 6"/>
          <p:cNvSpPr/>
          <p:nvPr/>
        </p:nvSpPr>
        <p:spPr>
          <a:xfrm>
            <a:off x="2862072" y="2258568"/>
            <a:ext cx="1993392" cy="1188720"/>
          </a:xfrm>
          <a:prstGeom prst="chevron">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BAFF70"/>
                </a:solidFill>
                <a:latin typeface="Arial"/>
              </a:rPr>
              <a:t>Implement</a:t>
            </a:r>
          </a:p>
        </p:txBody>
      </p:sp>
      <p:sp>
        <p:nvSpPr>
          <p:cNvPr id="8" name="Chevron 7"/>
          <p:cNvSpPr/>
          <p:nvPr/>
        </p:nvSpPr>
        <p:spPr>
          <a:xfrm>
            <a:off x="5084064" y="2258568"/>
            <a:ext cx="1993392" cy="1188720"/>
          </a:xfrm>
          <a:prstGeom prst="chevron">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BAFF70"/>
                </a:solidFill>
                <a:latin typeface="Arial"/>
              </a:rPr>
              <a:t>Verify</a:t>
            </a:r>
          </a:p>
        </p:txBody>
      </p:sp>
      <p:sp>
        <p:nvSpPr>
          <p:cNvPr id="9" name="Chevron 8"/>
          <p:cNvSpPr/>
          <p:nvPr/>
        </p:nvSpPr>
        <p:spPr>
          <a:xfrm>
            <a:off x="7306056" y="2258568"/>
            <a:ext cx="1993392" cy="1188720"/>
          </a:xfrm>
          <a:prstGeom prst="chevron">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BAFF70"/>
                </a:solidFill>
                <a:latin typeface="Arial"/>
              </a:rPr>
              <a:t>Review</a:t>
            </a:r>
          </a:p>
        </p:txBody>
      </p:sp>
      <p:sp>
        <p:nvSpPr>
          <p:cNvPr id="10" name="Chevron 9"/>
          <p:cNvSpPr/>
          <p:nvPr/>
        </p:nvSpPr>
        <p:spPr>
          <a:xfrm>
            <a:off x="9528048" y="2258568"/>
            <a:ext cx="1993392" cy="1188720"/>
          </a:xfrm>
          <a:prstGeom prst="chevron">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BAFF70"/>
                </a:solidFill>
                <a:latin typeface="Arial"/>
              </a:rPr>
              <a:t>Commit</a:t>
            </a:r>
          </a:p>
        </p:txBody>
      </p:sp>
      <p:sp>
        <p:nvSpPr>
          <p:cNvPr id="11" name="TextBox 10"/>
          <p:cNvSpPr txBox="1"/>
          <p:nvPr/>
        </p:nvSpPr>
        <p:spPr>
          <a:xfrm>
            <a:off x="640080" y="3904488"/>
            <a:ext cx="10881360" cy="1280160"/>
          </a:xfrm>
          <a:prstGeom prst="rect">
            <a:avLst/>
          </a:prstGeom>
          <a:noFill/>
        </p:spPr>
        <p:txBody>
          <a:bodyPr wrap="square" lIns="0" rIns="0" tIns="0" bIns="0">
            <a:spAutoFit/>
          </a:bodyPr>
          <a:lstStyle/>
          <a:p>
            <a:pPr algn="l"/>
            <a:r>
              <a:rPr sz="2200" b="0">
                <a:solidFill>
                  <a:srgbClr val="ADBBCD"/>
                </a:solidFill>
                <a:latin typeface="Arial"/>
              </a:rPr>
              <a:t>Claude proposes. Tests, browsers and reviewers produce evidence. The human — the engineer of record — decides.</a:t>
            </a:r>
          </a:p>
        </p:txBody>
      </p:sp>
      <p:sp>
        <p:nvSpPr>
          <p:cNvPr id="12" name="TextBox 11"/>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005 / 198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HOW EACH PART RUNS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Same rhythm, every time</a:t>
            </a:r>
          </a:p>
        </p:txBody>
      </p:sp>
      <p:graphicFrame>
        <p:nvGraphicFramePr>
          <p:cNvPr id="6" name="Table 5"/>
          <p:cNvGraphicFramePr>
            <a:graphicFrameLocks noGrp="1"/>
          </p:cNvGraphicFramePr>
          <p:nvPr/>
        </p:nvGraphicFramePr>
        <p:xfrm>
          <a:off x="640080" y="1984248"/>
          <a:ext cx="10881359" cy="2852928"/>
        </p:xfrm>
        <a:graphic>
          <a:graphicData uri="http://schemas.openxmlformats.org/drawingml/2006/table">
            <a:tbl>
              <a:tblPr>
                <a:tableStyleId>{5C22544A-7EE6-4342-B048-85BDC9FD1C3A}</a:tableStyleId>
              </a:tblPr>
              <a:tblGrid>
                <a:gridCol w="2078462"/>
                <a:gridCol w="7213485"/>
                <a:gridCol w="1589412"/>
              </a:tblGrid>
              <a:tr h="475488">
                <a:tc>
                  <a:txBody>
                    <a:bodyPr wrap="square"/>
                    <a:lstStyle/>
                    <a:p>
                      <a:r>
                        <a:rPr sz="1600" b="1">
                          <a:solidFill>
                            <a:srgbClr val="BAFF70"/>
                          </a:solidFill>
                          <a:latin typeface="Arial"/>
                        </a:rPr>
                        <a:t>Step</a:t>
                      </a:r>
                    </a:p>
                  </a:txBody>
                  <a:tcPr marL="109728" marR="109728">
                    <a:solidFill>
                      <a:srgbClr val="22324A"/>
                    </a:solidFill>
                  </a:tcPr>
                </a:tc>
                <a:tc>
                  <a:txBody>
                    <a:bodyPr wrap="square"/>
                    <a:lstStyle/>
                    <a:p>
                      <a:r>
                        <a:rPr sz="1600" b="1">
                          <a:solidFill>
                            <a:srgbClr val="BAFF70"/>
                          </a:solidFill>
                          <a:latin typeface="Arial"/>
                        </a:rPr>
                        <a:t>What happens</a:t>
                      </a:r>
                    </a:p>
                  </a:txBody>
                  <a:tcPr marL="109728" marR="109728">
                    <a:solidFill>
                      <a:srgbClr val="22324A"/>
                    </a:solidFill>
                  </a:tcPr>
                </a:tc>
                <a:tc>
                  <a:txBody>
                    <a:bodyPr wrap="square"/>
                    <a:lstStyle/>
                    <a:p>
                      <a:r>
                        <a:rPr sz="1600" b="1">
                          <a:solidFill>
                            <a:srgbClr val="BAFF70"/>
                          </a:solidFill>
                          <a:latin typeface="Arial"/>
                        </a:rPr>
                        <a:t>Who</a:t>
                      </a:r>
                    </a:p>
                  </a:txBody>
                  <a:tcPr marL="109728" marR="109728">
                    <a:solidFill>
                      <a:srgbClr val="22324A"/>
                    </a:solidFill>
                  </a:tcPr>
                </a:tc>
              </a:tr>
              <a:tr h="475488">
                <a:tc>
                  <a:txBody>
                    <a:bodyPr wrap="square"/>
                    <a:lstStyle/>
                    <a:p>
                      <a:r>
                        <a:rPr sz="1600" b="1">
                          <a:solidFill>
                            <a:srgbClr val="F8FAFC"/>
                          </a:solidFill>
                          <a:latin typeface="Arial"/>
                        </a:rPr>
                        <a:t>Topic</a:t>
                      </a:r>
                    </a:p>
                  </a:txBody>
                  <a:tcPr marL="109728" marR="109728">
                    <a:solidFill>
                      <a:srgbClr val="1A283B"/>
                    </a:solidFill>
                  </a:tcPr>
                </a:tc>
                <a:tc>
                  <a:txBody>
                    <a:bodyPr wrap="square"/>
                    <a:lstStyle/>
                    <a:p>
                      <a:r>
                        <a:rPr sz="1600" b="0">
                          <a:solidFill>
                            <a:srgbClr val="ADBBCD"/>
                          </a:solidFill>
                          <a:latin typeface="Arial"/>
                        </a:rPr>
                        <a:t>Concepts and the brief</a:t>
                      </a:r>
                    </a:p>
                  </a:txBody>
                  <a:tcPr marL="109728" marR="109728">
                    <a:solidFill>
                      <a:srgbClr val="1A283B"/>
                    </a:solidFill>
                  </a:tcPr>
                </a:tc>
                <a:tc>
                  <a:txBody>
                    <a:bodyPr wrap="square"/>
                    <a:lstStyle/>
                    <a:p>
                      <a:r>
                        <a:rPr sz="1600" b="0">
                          <a:solidFill>
                            <a:srgbClr val="ADBBCD"/>
                          </a:solidFill>
                          <a:latin typeface="Arial"/>
                        </a:rPr>
                        <a:t>Luca</a:t>
                      </a:r>
                    </a:p>
                  </a:txBody>
                  <a:tcPr marL="109728" marR="109728">
                    <a:solidFill>
                      <a:srgbClr val="1A283B"/>
                    </a:solidFill>
                  </a:tcPr>
                </a:tc>
              </a:tr>
              <a:tr h="475488">
                <a:tc>
                  <a:txBody>
                    <a:bodyPr wrap="square"/>
                    <a:lstStyle/>
                    <a:p>
                      <a:r>
                        <a:rPr sz="1600" b="1">
                          <a:solidFill>
                            <a:srgbClr val="F8FAFC"/>
                          </a:solidFill>
                          <a:latin typeface="Arial"/>
                        </a:rPr>
                        <a:t>Video / live demo</a:t>
                      </a:r>
                    </a:p>
                  </a:txBody>
                  <a:tcPr marL="109728" marR="109728">
                    <a:solidFill>
                      <a:srgbClr val="15233A"/>
                    </a:solidFill>
                  </a:tcPr>
                </a:tc>
                <a:tc>
                  <a:txBody>
                    <a:bodyPr wrap="square"/>
                    <a:lstStyle/>
                    <a:p>
                      <a:r>
                        <a:rPr sz="1600" b="0">
                          <a:solidFill>
                            <a:srgbClr val="ADBBCD"/>
                          </a:solidFill>
                          <a:latin typeface="Arial"/>
                        </a:rPr>
                        <a:t>A real recorded Claude Code run of the exact prompts</a:t>
                      </a:r>
                    </a:p>
                  </a:txBody>
                  <a:tcPr marL="109728" marR="109728">
                    <a:solidFill>
                      <a:srgbClr val="15233A"/>
                    </a:solidFill>
                  </a:tcPr>
                </a:tc>
                <a:tc>
                  <a:txBody>
                    <a:bodyPr wrap="square"/>
                    <a:lstStyle/>
                    <a:p>
                      <a:r>
                        <a:rPr sz="1600" b="0">
                          <a:solidFill>
                            <a:srgbClr val="ADBBCD"/>
                          </a:solidFill>
                          <a:latin typeface="Arial"/>
                        </a:rPr>
                        <a:t>Claude + Luca</a:t>
                      </a:r>
                    </a:p>
                  </a:txBody>
                  <a:tcPr marL="109728" marR="109728">
                    <a:solidFill>
                      <a:srgbClr val="15233A"/>
                    </a:solidFill>
                  </a:tcPr>
                </a:tc>
              </a:tr>
              <a:tr h="475488">
                <a:tc>
                  <a:txBody>
                    <a:bodyPr wrap="square"/>
                    <a:lstStyle/>
                    <a:p>
                      <a:r>
                        <a:rPr sz="1600" b="1">
                          <a:solidFill>
                            <a:srgbClr val="F8FAFC"/>
                          </a:solidFill>
                          <a:latin typeface="Arial"/>
                        </a:rPr>
                        <a:t>Explain + discuss</a:t>
                      </a:r>
                    </a:p>
                  </a:txBody>
                  <a:tcPr marL="109728" marR="109728">
                    <a:solidFill>
                      <a:srgbClr val="1A283B"/>
                    </a:solidFill>
                  </a:tcPr>
                </a:tc>
                <a:tc>
                  <a:txBody>
                    <a:bodyPr wrap="square"/>
                    <a:lstStyle/>
                    <a:p>
                      <a:r>
                        <a:rPr sz="1600" b="0">
                          <a:solidFill>
                            <a:srgbClr val="ADBBCD"/>
                          </a:solidFill>
                          <a:latin typeface="Arial"/>
                        </a:rPr>
                        <a:t>What the evidence shows; your questions</a:t>
                      </a:r>
                    </a:p>
                  </a:txBody>
                  <a:tcPr marL="109728" marR="109728">
                    <a:solidFill>
                      <a:srgbClr val="1A283B"/>
                    </a:solidFill>
                  </a:tcPr>
                </a:tc>
                <a:tc>
                  <a:txBody>
                    <a:bodyPr wrap="square"/>
                    <a:lstStyle/>
                    <a:p>
                      <a:r>
                        <a:rPr sz="1600" b="0">
                          <a:solidFill>
                            <a:srgbClr val="ADBBCD"/>
                          </a:solidFill>
                          <a:latin typeface="Arial"/>
                        </a:rPr>
                        <a:t>Everyone</a:t>
                      </a:r>
                    </a:p>
                  </a:txBody>
                  <a:tcPr marL="109728" marR="109728">
                    <a:solidFill>
                      <a:srgbClr val="1A283B"/>
                    </a:solidFill>
                  </a:tcPr>
                </a:tc>
              </a:tr>
              <a:tr h="475488">
                <a:tc>
                  <a:txBody>
                    <a:bodyPr wrap="square"/>
                    <a:lstStyle/>
                    <a:p>
                      <a:r>
                        <a:rPr sz="1600" b="1">
                          <a:solidFill>
                            <a:srgbClr val="F8FAFC"/>
                          </a:solidFill>
                          <a:latin typeface="Arial"/>
                        </a:rPr>
                        <a:t>Lab</a:t>
                      </a:r>
                    </a:p>
                  </a:txBody>
                  <a:tcPr marL="109728" marR="109728">
                    <a:solidFill>
                      <a:srgbClr val="15233A"/>
                    </a:solidFill>
                  </a:tcPr>
                </a:tc>
                <a:tc>
                  <a:txBody>
                    <a:bodyPr wrap="square"/>
                    <a:lstStyle/>
                    <a:p>
                      <a:r>
                        <a:rPr sz="1600" b="0">
                          <a:solidFill>
                            <a:srgbClr val="ADBBCD"/>
                          </a:solidFill>
                          <a:latin typeface="Arial"/>
                        </a:rPr>
                        <a:t>You run it: bin/bootcamp stage NN, then the prompts</a:t>
                      </a:r>
                    </a:p>
                  </a:txBody>
                  <a:tcPr marL="109728" marR="109728">
                    <a:solidFill>
                      <a:srgbClr val="15233A"/>
                    </a:solidFill>
                  </a:tcPr>
                </a:tc>
                <a:tc>
                  <a:txBody>
                    <a:bodyPr wrap="square"/>
                    <a:lstStyle/>
                    <a:p>
                      <a:r>
                        <a:rPr sz="1600" b="0">
                          <a:solidFill>
                            <a:srgbClr val="ADBBCD"/>
                          </a:solidFill>
                          <a:latin typeface="Arial"/>
                        </a:rPr>
                        <a:t>You</a:t>
                      </a:r>
                    </a:p>
                  </a:txBody>
                  <a:tcPr marL="109728" marR="109728">
                    <a:solidFill>
                      <a:srgbClr val="15233A"/>
                    </a:solidFill>
                  </a:tcPr>
                </a:tc>
              </a:tr>
              <a:tr h="475488">
                <a:tc>
                  <a:txBody>
                    <a:bodyPr wrap="square"/>
                    <a:lstStyle/>
                    <a:p>
                      <a:r>
                        <a:rPr sz="1600" b="1">
                          <a:solidFill>
                            <a:srgbClr val="F8FAFC"/>
                          </a:solidFill>
                          <a:latin typeface="Arial"/>
                        </a:rPr>
                        <a:t>Checkpoint</a:t>
                      </a:r>
                    </a:p>
                  </a:txBody>
                  <a:tcPr marL="109728" marR="109728">
                    <a:solidFill>
                      <a:srgbClr val="1A283B"/>
                    </a:solidFill>
                  </a:tcPr>
                </a:tc>
                <a:tc>
                  <a:txBody>
                    <a:bodyPr wrap="square"/>
                    <a:lstStyle/>
                    <a:p>
                      <a:r>
                        <a:rPr sz="1600" b="0">
                          <a:solidFill>
                            <a:srgbClr val="ADBBCD"/>
                          </a:solidFill>
                          <a:latin typeface="Arial"/>
                        </a:rPr>
                        <a:t>bin/bootcamp verify · fallback bin/bootcamp fallback NN</a:t>
                      </a:r>
                    </a:p>
                  </a:txBody>
                  <a:tcPr marL="109728" marR="109728">
                    <a:solidFill>
                      <a:srgbClr val="1A283B"/>
                    </a:solidFill>
                  </a:tcPr>
                </a:tc>
                <a:tc>
                  <a:txBody>
                    <a:bodyPr wrap="square"/>
                    <a:lstStyle/>
                    <a:p>
                      <a:r>
                        <a:rPr sz="1600" b="0">
                          <a:solidFill>
                            <a:srgbClr val="ADBBCD"/>
                          </a:solidFill>
                          <a:latin typeface="Arial"/>
                        </a:rPr>
                        <a:t>You</a:t>
                      </a:r>
                    </a:p>
                  </a:txBody>
                  <a:tcPr marL="109728" marR="109728">
                    <a:solidFill>
                      <a:srgbClr val="1A283B"/>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006 / 198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SETUP CHECK · 2 MINUTES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Everything you need, verified</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1700">
                <a:solidFill>
                  <a:srgbClr val="BAFF70"/>
                </a:solidFill>
                <a:latin typeface="Consolas"/>
              </a:rPr>
              <a:t>git clone &lt;your copy of the bootcamp repo&gt; &amp;&amp; cd claude-code-bootcamp-cohort-2</a:t>
            </a:r>
          </a:p>
          <a:p>
            <a:pPr algn="l">
              <a:spcAft>
                <a:spcPts val="400"/>
              </a:spcAft>
            </a:pPr>
            <a:r>
              <a:rPr sz="1700">
                <a:solidFill>
                  <a:srgbClr val="BAFF70"/>
                </a:solidFill>
                <a:latin typeface="Consolas"/>
              </a:rPr>
              <a:t>bin/bootcamp preflight        # tools + all 14 reference checkpoints</a:t>
            </a:r>
          </a:p>
          <a:p>
            <a:pPr algn="l">
              <a:spcAft>
                <a:spcPts val="400"/>
              </a:spcAft>
            </a:pPr>
            <a:r>
              <a:rPr sz="1700">
                <a:solidFill>
                  <a:srgbClr val="BAFF70"/>
                </a:solidFill>
                <a:latin typeface="Consolas"/>
              </a:rPr>
              <a:t>bin/bootcamp stage 01         # your Shipyard repo at ~/shipyard-stage</a:t>
            </a:r>
          </a:p>
          <a:p>
            <a:pPr algn="l">
              <a:spcAft>
                <a:spcPts val="400"/>
              </a:spcAft>
            </a:pPr>
            <a:r>
              <a:rPr sz="1700">
                <a:solidFill>
                  <a:srgbClr val="BAFF70"/>
                </a:solidFill>
                <a:latin typeface="Consolas"/>
              </a:rPr>
              <a:t>claude --version              # Claude Code installed and logged in</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Python 3.10+ · Git · Node.js 18+ (dashboard tests) · Chrome for Part 7 · GitHub for selected workflows</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007 / 198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EXACT SCHEDULE · MORNING</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Today, minute by minute</a:t>
            </a:r>
          </a:p>
        </p:txBody>
      </p:sp>
      <p:graphicFrame>
        <p:nvGraphicFramePr>
          <p:cNvPr id="6" name="Table 5"/>
          <p:cNvGraphicFramePr>
            <a:graphicFrameLocks noGrp="1"/>
          </p:cNvGraphicFramePr>
          <p:nvPr/>
        </p:nvGraphicFramePr>
        <p:xfrm>
          <a:off x="640080" y="1984248"/>
          <a:ext cx="10881359" cy="4416552"/>
        </p:xfrm>
        <a:graphic>
          <a:graphicData uri="http://schemas.openxmlformats.org/drawingml/2006/table">
            <a:tbl>
              <a:tblPr>
                <a:tableStyleId>{5C22544A-7EE6-4342-B048-85BDC9FD1C3A}</a:tableStyleId>
              </a:tblPr>
              <a:tblGrid>
                <a:gridCol w="1958644"/>
                <a:gridCol w="7290511"/>
                <a:gridCol w="1632204"/>
              </a:tblGrid>
              <a:tr h="401504">
                <a:tc>
                  <a:txBody>
                    <a:bodyPr wrap="square"/>
                    <a:lstStyle/>
                    <a:p>
                      <a:r>
                        <a:rPr sz="1400" b="1">
                          <a:solidFill>
                            <a:srgbClr val="BAFF70"/>
                          </a:solidFill>
                          <a:latin typeface="Arial"/>
                        </a:rPr>
                        <a:t>Time</a:t>
                      </a:r>
                    </a:p>
                  </a:txBody>
                  <a:tcPr marL="109728" marR="109728">
                    <a:solidFill>
                      <a:srgbClr val="22324A"/>
                    </a:solidFill>
                  </a:tcPr>
                </a:tc>
                <a:tc>
                  <a:txBody>
                    <a:bodyPr wrap="square"/>
                    <a:lstStyle/>
                    <a:p>
                      <a:r>
                        <a:rPr sz="1400" b="1">
                          <a:solidFill>
                            <a:srgbClr val="BAFF70"/>
                          </a:solidFill>
                          <a:latin typeface="Arial"/>
                        </a:rPr>
                        <a:t>Session</a:t>
                      </a:r>
                    </a:p>
                  </a:txBody>
                  <a:tcPr marL="109728" marR="109728">
                    <a:solidFill>
                      <a:srgbClr val="22324A"/>
                    </a:solidFill>
                  </a:tcPr>
                </a:tc>
                <a:tc>
                  <a:txBody>
                    <a:bodyPr wrap="square"/>
                    <a:lstStyle/>
                    <a:p>
                      <a:r>
                        <a:rPr sz="1400" b="1">
                          <a:solidFill>
                            <a:srgbClr val="BAFF70"/>
                          </a:solidFill>
                          <a:latin typeface="Arial"/>
                        </a:rPr>
                        <a:t>Length</a:t>
                      </a:r>
                    </a:p>
                  </a:txBody>
                  <a:tcPr marL="109728" marR="109728">
                    <a:solidFill>
                      <a:srgbClr val="22324A"/>
                    </a:solidFill>
                  </a:tcPr>
                </a:tc>
              </a:tr>
              <a:tr h="401504">
                <a:tc>
                  <a:txBody>
                    <a:bodyPr wrap="square"/>
                    <a:lstStyle/>
                    <a:p>
                      <a:r>
                        <a:rPr sz="1400" b="1">
                          <a:solidFill>
                            <a:srgbClr val="F8FAFC"/>
                          </a:solidFill>
                          <a:latin typeface="Arial"/>
                        </a:rPr>
                        <a:t>09:00–09:20</a:t>
                      </a:r>
                    </a:p>
                  </a:txBody>
                  <a:tcPr marL="109728" marR="109728">
                    <a:solidFill>
                      <a:srgbClr val="1A283B"/>
                    </a:solidFill>
                  </a:tcPr>
                </a:tc>
                <a:tc>
                  <a:txBody>
                    <a:bodyPr wrap="square"/>
                    <a:lstStyle/>
                    <a:p>
                      <a:r>
                        <a:rPr sz="1400" b="0">
                          <a:solidFill>
                            <a:srgbClr val="ADBBCD"/>
                          </a:solidFill>
                          <a:latin typeface="Arial"/>
                        </a:rPr>
                        <a:t>Part 01 · Welcome, setup, AI-first mindset and safe delegation</a:t>
                      </a:r>
                    </a:p>
                  </a:txBody>
                  <a:tcPr marL="109728" marR="109728">
                    <a:solidFill>
                      <a:srgbClr val="1A283B"/>
                    </a:solidFill>
                  </a:tcPr>
                </a:tc>
                <a:tc>
                  <a:txBody>
                    <a:bodyPr wrap="square"/>
                    <a:lstStyle/>
                    <a:p>
                      <a:r>
                        <a:rPr sz="1400" b="0">
                          <a:solidFill>
                            <a:srgbClr val="ADBBCD"/>
                          </a:solidFill>
                          <a:latin typeface="Arial"/>
                        </a:rPr>
                        <a:t>20 min</a:t>
                      </a:r>
                    </a:p>
                  </a:txBody>
                  <a:tcPr marL="109728" marR="109728">
                    <a:solidFill>
                      <a:srgbClr val="1A283B"/>
                    </a:solidFill>
                  </a:tcPr>
                </a:tc>
              </a:tr>
              <a:tr h="401504">
                <a:tc>
                  <a:txBody>
                    <a:bodyPr wrap="square"/>
                    <a:lstStyle/>
                    <a:p>
                      <a:r>
                        <a:rPr sz="1400" b="1">
                          <a:solidFill>
                            <a:srgbClr val="F8FAFC"/>
                          </a:solidFill>
                          <a:latin typeface="Arial"/>
                        </a:rPr>
                        <a:t>09:20–09:45</a:t>
                      </a:r>
                    </a:p>
                  </a:txBody>
                  <a:tcPr marL="109728" marR="109728">
                    <a:solidFill>
                      <a:srgbClr val="15233A"/>
                    </a:solidFill>
                  </a:tcPr>
                </a:tc>
                <a:tc>
                  <a:txBody>
                    <a:bodyPr wrap="square"/>
                    <a:lstStyle/>
                    <a:p>
                      <a:r>
                        <a:rPr sz="1400" b="0">
                          <a:solidFill>
                            <a:srgbClr val="ADBBCD"/>
                          </a:solidFill>
                          <a:latin typeface="Arial"/>
                        </a:rPr>
                        <a:t>Part 02 · Prompting Claude Code like a tech lead</a:t>
                      </a:r>
                    </a:p>
                  </a:txBody>
                  <a:tcPr marL="109728" marR="109728">
                    <a:solidFill>
                      <a:srgbClr val="15233A"/>
                    </a:solidFill>
                  </a:tcPr>
                </a:tc>
                <a:tc>
                  <a:txBody>
                    <a:bodyPr wrap="square"/>
                    <a:lstStyle/>
                    <a:p>
                      <a:r>
                        <a:rPr sz="1400" b="0">
                          <a:solidFill>
                            <a:srgbClr val="ADBBCD"/>
                          </a:solidFill>
                          <a:latin typeface="Arial"/>
                        </a:rPr>
                        <a:t>25 min</a:t>
                      </a:r>
                    </a:p>
                  </a:txBody>
                  <a:tcPr marL="109728" marR="109728">
                    <a:solidFill>
                      <a:srgbClr val="15233A"/>
                    </a:solidFill>
                  </a:tcPr>
                </a:tc>
              </a:tr>
              <a:tr h="401504">
                <a:tc>
                  <a:txBody>
                    <a:bodyPr wrap="square"/>
                    <a:lstStyle/>
                    <a:p>
                      <a:r>
                        <a:rPr sz="1400" b="1">
                          <a:solidFill>
                            <a:srgbClr val="F8FAFC"/>
                          </a:solidFill>
                          <a:latin typeface="Arial"/>
                        </a:rPr>
                        <a:t>09:45–10:10</a:t>
                      </a:r>
                    </a:p>
                  </a:txBody>
                  <a:tcPr marL="109728" marR="109728">
                    <a:solidFill>
                      <a:srgbClr val="1A283B"/>
                    </a:solidFill>
                  </a:tcPr>
                </a:tc>
                <a:tc>
                  <a:txBody>
                    <a:bodyPr wrap="square"/>
                    <a:lstStyle/>
                    <a:p>
                      <a:r>
                        <a:rPr sz="1400" b="0">
                          <a:solidFill>
                            <a:srgbClr val="ADBBCD"/>
                          </a:solidFill>
                          <a:latin typeface="Arial"/>
                        </a:rPr>
                        <a:t>Part 03 · CLAUDE.md, scoped rules and auto memory</a:t>
                      </a:r>
                    </a:p>
                  </a:txBody>
                  <a:tcPr marL="109728" marR="109728">
                    <a:solidFill>
                      <a:srgbClr val="1A283B"/>
                    </a:solidFill>
                  </a:tcPr>
                </a:tc>
                <a:tc>
                  <a:txBody>
                    <a:bodyPr wrap="square"/>
                    <a:lstStyle/>
                    <a:p>
                      <a:r>
                        <a:rPr sz="1400" b="0">
                          <a:solidFill>
                            <a:srgbClr val="ADBBCD"/>
                          </a:solidFill>
                          <a:latin typeface="Arial"/>
                        </a:rPr>
                        <a:t>25 min</a:t>
                      </a:r>
                    </a:p>
                  </a:txBody>
                  <a:tcPr marL="109728" marR="109728">
                    <a:solidFill>
                      <a:srgbClr val="1A283B"/>
                    </a:solidFill>
                  </a:tcPr>
                </a:tc>
              </a:tr>
              <a:tr h="401504">
                <a:tc>
                  <a:txBody>
                    <a:bodyPr wrap="square"/>
                    <a:lstStyle/>
                    <a:p>
                      <a:r>
                        <a:rPr sz="1400" b="1">
                          <a:solidFill>
                            <a:srgbClr val="F8FAFC"/>
                          </a:solidFill>
                          <a:latin typeface="Arial"/>
                        </a:rPr>
                        <a:t>10:10–10:20</a:t>
                      </a:r>
                    </a:p>
                  </a:txBody>
                  <a:tcPr marL="109728" marR="109728">
                    <a:solidFill>
                      <a:srgbClr val="15233A"/>
                    </a:solidFill>
                  </a:tcPr>
                </a:tc>
                <a:tc>
                  <a:txBody>
                    <a:bodyPr wrap="square"/>
                    <a:lstStyle/>
                    <a:p>
                      <a:r>
                        <a:rPr sz="1400" b="0">
                          <a:solidFill>
                            <a:srgbClr val="ADBBCD"/>
                          </a:solidFill>
                          <a:latin typeface="Arial"/>
                        </a:rPr>
                        <a:t>Break</a:t>
                      </a:r>
                    </a:p>
                  </a:txBody>
                  <a:tcPr marL="109728" marR="109728">
                    <a:solidFill>
                      <a:srgbClr val="15233A"/>
                    </a:solidFill>
                  </a:tcPr>
                </a:tc>
                <a:tc>
                  <a:txBody>
                    <a:bodyPr wrap="square"/>
                    <a:lstStyle/>
                    <a:p>
                      <a:r>
                        <a:rPr sz="1400" b="0">
                          <a:solidFill>
                            <a:srgbClr val="ADBBCD"/>
                          </a:solidFill>
                          <a:latin typeface="Arial"/>
                        </a:rPr>
                        <a:t>10 min</a:t>
                      </a:r>
                    </a:p>
                  </a:txBody>
                  <a:tcPr marL="109728" marR="109728">
                    <a:solidFill>
                      <a:srgbClr val="15233A"/>
                    </a:solidFill>
                  </a:tcPr>
                </a:tc>
              </a:tr>
              <a:tr h="401504">
                <a:tc>
                  <a:txBody>
                    <a:bodyPr wrap="square"/>
                    <a:lstStyle/>
                    <a:p>
                      <a:r>
                        <a:rPr sz="1400" b="1">
                          <a:solidFill>
                            <a:srgbClr val="F8FAFC"/>
                          </a:solidFill>
                          <a:latin typeface="Arial"/>
                        </a:rPr>
                        <a:t>10:20–10:50</a:t>
                      </a:r>
                    </a:p>
                  </a:txBody>
                  <a:tcPr marL="109728" marR="109728">
                    <a:solidFill>
                      <a:srgbClr val="1A283B"/>
                    </a:solidFill>
                  </a:tcPr>
                </a:tc>
                <a:tc>
                  <a:txBody>
                    <a:bodyPr wrap="square"/>
                    <a:lstStyle/>
                    <a:p>
                      <a:r>
                        <a:rPr sz="1400" b="0">
                          <a:solidFill>
                            <a:srgbClr val="ADBBCD"/>
                          </a:solidFill>
                          <a:latin typeface="Arial"/>
                        </a:rPr>
                        <a:t>Part 04 · Best-of-N and better engineering decisions</a:t>
                      </a:r>
                    </a:p>
                  </a:txBody>
                  <a:tcPr marL="109728" marR="109728">
                    <a:solidFill>
                      <a:srgbClr val="1A283B"/>
                    </a:solidFill>
                  </a:tcPr>
                </a:tc>
                <a:tc>
                  <a:txBody>
                    <a:bodyPr wrap="square"/>
                    <a:lstStyle/>
                    <a:p>
                      <a:r>
                        <a:rPr sz="1400" b="0">
                          <a:solidFill>
                            <a:srgbClr val="ADBBCD"/>
                          </a:solidFill>
                          <a:latin typeface="Arial"/>
                        </a:rPr>
                        <a:t>30 min</a:t>
                      </a:r>
                    </a:p>
                  </a:txBody>
                  <a:tcPr marL="109728" marR="109728">
                    <a:solidFill>
                      <a:srgbClr val="1A283B"/>
                    </a:solidFill>
                  </a:tcPr>
                </a:tc>
              </a:tr>
              <a:tr h="401504">
                <a:tc>
                  <a:txBody>
                    <a:bodyPr wrap="square"/>
                    <a:lstStyle/>
                    <a:p>
                      <a:r>
                        <a:rPr sz="1400" b="1">
                          <a:solidFill>
                            <a:srgbClr val="F8FAFC"/>
                          </a:solidFill>
                          <a:latin typeface="Arial"/>
                        </a:rPr>
                        <a:t>10:50–11:20</a:t>
                      </a:r>
                    </a:p>
                  </a:txBody>
                  <a:tcPr marL="109728" marR="109728">
                    <a:solidFill>
                      <a:srgbClr val="15233A"/>
                    </a:solidFill>
                  </a:tcPr>
                </a:tc>
                <a:tc>
                  <a:txBody>
                    <a:bodyPr wrap="square"/>
                    <a:lstStyle/>
                    <a:p>
                      <a:r>
                        <a:rPr sz="1400" b="0">
                          <a:solidFill>
                            <a:srgbClr val="ADBBCD"/>
                          </a:solidFill>
                          <a:latin typeface="Arial"/>
                        </a:rPr>
                        <a:t>Part 05 · Testing, debugging, checkpoints and /goal</a:t>
                      </a:r>
                    </a:p>
                  </a:txBody>
                  <a:tcPr marL="109728" marR="109728">
                    <a:solidFill>
                      <a:srgbClr val="15233A"/>
                    </a:solidFill>
                  </a:tcPr>
                </a:tc>
                <a:tc>
                  <a:txBody>
                    <a:bodyPr wrap="square"/>
                    <a:lstStyle/>
                    <a:p>
                      <a:r>
                        <a:rPr sz="1400" b="0">
                          <a:solidFill>
                            <a:srgbClr val="ADBBCD"/>
                          </a:solidFill>
                          <a:latin typeface="Arial"/>
                        </a:rPr>
                        <a:t>30 min</a:t>
                      </a:r>
                    </a:p>
                  </a:txBody>
                  <a:tcPr marL="109728" marR="109728">
                    <a:solidFill>
                      <a:srgbClr val="15233A"/>
                    </a:solidFill>
                  </a:tcPr>
                </a:tc>
              </a:tr>
              <a:tr h="401504">
                <a:tc>
                  <a:txBody>
                    <a:bodyPr wrap="square"/>
                    <a:lstStyle/>
                    <a:p>
                      <a:r>
                        <a:rPr sz="1400" b="1">
                          <a:solidFill>
                            <a:srgbClr val="F8FAFC"/>
                          </a:solidFill>
                          <a:latin typeface="Arial"/>
                        </a:rPr>
                        <a:t>11:20–11:45</a:t>
                      </a:r>
                    </a:p>
                  </a:txBody>
                  <a:tcPr marL="109728" marR="109728">
                    <a:solidFill>
                      <a:srgbClr val="1A283B"/>
                    </a:solidFill>
                  </a:tcPr>
                </a:tc>
                <a:tc>
                  <a:txBody>
                    <a:bodyPr wrap="square"/>
                    <a:lstStyle/>
                    <a:p>
                      <a:r>
                        <a:rPr sz="1400" b="0">
                          <a:solidFill>
                            <a:srgbClr val="ADBBCD"/>
                          </a:solidFill>
                          <a:latin typeface="Arial"/>
                        </a:rPr>
                        <a:t>Part 06 · Git workflows, worktrees, permissions and sandboxing</a:t>
                      </a:r>
                    </a:p>
                  </a:txBody>
                  <a:tcPr marL="109728" marR="109728">
                    <a:solidFill>
                      <a:srgbClr val="1A283B"/>
                    </a:solidFill>
                  </a:tcPr>
                </a:tc>
                <a:tc>
                  <a:txBody>
                    <a:bodyPr wrap="square"/>
                    <a:lstStyle/>
                    <a:p>
                      <a:r>
                        <a:rPr sz="1400" b="0">
                          <a:solidFill>
                            <a:srgbClr val="ADBBCD"/>
                          </a:solidFill>
                          <a:latin typeface="Arial"/>
                        </a:rPr>
                        <a:t>25 min</a:t>
                      </a:r>
                    </a:p>
                  </a:txBody>
                  <a:tcPr marL="109728" marR="109728">
                    <a:solidFill>
                      <a:srgbClr val="1A283B"/>
                    </a:solidFill>
                  </a:tcPr>
                </a:tc>
              </a:tr>
              <a:tr h="401504">
                <a:tc>
                  <a:txBody>
                    <a:bodyPr wrap="square"/>
                    <a:lstStyle/>
                    <a:p>
                      <a:r>
                        <a:rPr sz="1400" b="1">
                          <a:solidFill>
                            <a:srgbClr val="F8FAFC"/>
                          </a:solidFill>
                          <a:latin typeface="Arial"/>
                        </a:rPr>
                        <a:t>11:45–11:55</a:t>
                      </a:r>
                    </a:p>
                  </a:txBody>
                  <a:tcPr marL="109728" marR="109728">
                    <a:solidFill>
                      <a:srgbClr val="15233A"/>
                    </a:solidFill>
                  </a:tcPr>
                </a:tc>
                <a:tc>
                  <a:txBody>
                    <a:bodyPr wrap="square"/>
                    <a:lstStyle/>
                    <a:p>
                      <a:r>
                        <a:rPr sz="1400" b="0">
                          <a:solidFill>
                            <a:srgbClr val="ADBBCD"/>
                          </a:solidFill>
                          <a:latin typeface="Arial"/>
                        </a:rPr>
                        <a:t>Break</a:t>
                      </a:r>
                    </a:p>
                  </a:txBody>
                  <a:tcPr marL="109728" marR="109728">
                    <a:solidFill>
                      <a:srgbClr val="15233A"/>
                    </a:solidFill>
                  </a:tcPr>
                </a:tc>
                <a:tc>
                  <a:txBody>
                    <a:bodyPr wrap="square"/>
                    <a:lstStyle/>
                    <a:p>
                      <a:r>
                        <a:rPr sz="1400" b="0">
                          <a:solidFill>
                            <a:srgbClr val="ADBBCD"/>
                          </a:solidFill>
                          <a:latin typeface="Arial"/>
                        </a:rPr>
                        <a:t>10 min</a:t>
                      </a:r>
                    </a:p>
                  </a:txBody>
                  <a:tcPr marL="109728" marR="109728">
                    <a:solidFill>
                      <a:srgbClr val="15233A"/>
                    </a:solidFill>
                  </a:tcPr>
                </a:tc>
              </a:tr>
              <a:tr h="401504">
                <a:tc>
                  <a:txBody>
                    <a:bodyPr wrap="square"/>
                    <a:lstStyle/>
                    <a:p>
                      <a:r>
                        <a:rPr sz="1400" b="1">
                          <a:solidFill>
                            <a:srgbClr val="F8FAFC"/>
                          </a:solidFill>
                          <a:latin typeface="Arial"/>
                        </a:rPr>
                        <a:t>11:55–12:20</a:t>
                      </a:r>
                    </a:p>
                  </a:txBody>
                  <a:tcPr marL="109728" marR="109728">
                    <a:solidFill>
                      <a:srgbClr val="1A283B"/>
                    </a:solidFill>
                  </a:tcPr>
                </a:tc>
                <a:tc>
                  <a:txBody>
                    <a:bodyPr wrap="square"/>
                    <a:lstStyle/>
                    <a:p>
                      <a:r>
                        <a:rPr sz="1400" b="0">
                          <a:solidFill>
                            <a:srgbClr val="ADBBCD"/>
                          </a:solidFill>
                          <a:latin typeface="Arial"/>
                        </a:rPr>
                        <a:t>Part 07 · Multimodal building and Chrome verification</a:t>
                      </a:r>
                    </a:p>
                  </a:txBody>
                  <a:tcPr marL="109728" marR="109728">
                    <a:solidFill>
                      <a:srgbClr val="1A283B"/>
                    </a:solidFill>
                  </a:tcPr>
                </a:tc>
                <a:tc>
                  <a:txBody>
                    <a:bodyPr wrap="square"/>
                    <a:lstStyle/>
                    <a:p>
                      <a:r>
                        <a:rPr sz="1400" b="0">
                          <a:solidFill>
                            <a:srgbClr val="ADBBCD"/>
                          </a:solidFill>
                          <a:latin typeface="Arial"/>
                        </a:rPr>
                        <a:t>25 min</a:t>
                      </a:r>
                    </a:p>
                  </a:txBody>
                  <a:tcPr marL="109728" marR="109728">
                    <a:solidFill>
                      <a:srgbClr val="1A283B"/>
                    </a:solidFill>
                  </a:tcPr>
                </a:tc>
              </a:tr>
              <a:tr h="401512">
                <a:tc>
                  <a:txBody>
                    <a:bodyPr wrap="square"/>
                    <a:lstStyle/>
                    <a:p>
                      <a:r>
                        <a:rPr sz="1400" b="1">
                          <a:solidFill>
                            <a:srgbClr val="F8FAFC"/>
                          </a:solidFill>
                          <a:latin typeface="Arial"/>
                        </a:rPr>
                        <a:t>12:20–13:00</a:t>
                      </a:r>
                    </a:p>
                  </a:txBody>
                  <a:tcPr marL="109728" marR="109728">
                    <a:solidFill>
                      <a:srgbClr val="15233A"/>
                    </a:solidFill>
                  </a:tcPr>
                </a:tc>
                <a:tc>
                  <a:txBody>
                    <a:bodyPr wrap="square"/>
                    <a:lstStyle/>
                    <a:p>
                      <a:r>
                        <a:rPr sz="1400" b="0">
                          <a:solidFill>
                            <a:srgbClr val="ADBBCD"/>
                          </a:solidFill>
                          <a:latin typeface="Arial"/>
                        </a:rPr>
                        <a:t>Lunch</a:t>
                      </a:r>
                    </a:p>
                  </a:txBody>
                  <a:tcPr marL="109728" marR="109728">
                    <a:solidFill>
                      <a:srgbClr val="15233A"/>
                    </a:solidFill>
                  </a:tcPr>
                </a:tc>
                <a:tc>
                  <a:txBody>
                    <a:bodyPr wrap="square"/>
                    <a:lstStyle/>
                    <a:p>
                      <a:r>
                        <a:rPr sz="1400" b="0">
                          <a:solidFill>
                            <a:srgbClr val="ADBBCD"/>
                          </a:solidFill>
                          <a:latin typeface="Arial"/>
                        </a:rPr>
                        <a:t>40 min</a:t>
                      </a:r>
                    </a:p>
                  </a:txBody>
                  <a:tcPr marL="109728" marR="109728">
                    <a:solidFill>
                      <a:srgbClr val="15233A"/>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008 / 198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EXACT SCHEDULE · AFTERNOON</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Today, minute by minute</a:t>
            </a:r>
          </a:p>
        </p:txBody>
      </p:sp>
      <p:graphicFrame>
        <p:nvGraphicFramePr>
          <p:cNvPr id="6" name="Table 5"/>
          <p:cNvGraphicFramePr>
            <a:graphicFrameLocks noGrp="1"/>
          </p:cNvGraphicFramePr>
          <p:nvPr/>
        </p:nvGraphicFramePr>
        <p:xfrm>
          <a:off x="640080" y="1984248"/>
          <a:ext cx="10881359" cy="4416552"/>
        </p:xfrm>
        <a:graphic>
          <a:graphicData uri="http://schemas.openxmlformats.org/drawingml/2006/table">
            <a:tbl>
              <a:tblPr>
                <a:tableStyleId>{5C22544A-7EE6-4342-B048-85BDC9FD1C3A}</a:tableStyleId>
              </a:tblPr>
              <a:tblGrid>
                <a:gridCol w="1958644"/>
                <a:gridCol w="7290511"/>
                <a:gridCol w="1632204"/>
              </a:tblGrid>
              <a:tr h="441655">
                <a:tc>
                  <a:txBody>
                    <a:bodyPr wrap="square"/>
                    <a:lstStyle/>
                    <a:p>
                      <a:r>
                        <a:rPr sz="1400" b="1">
                          <a:solidFill>
                            <a:srgbClr val="BAFF70"/>
                          </a:solidFill>
                          <a:latin typeface="Arial"/>
                        </a:rPr>
                        <a:t>Time</a:t>
                      </a:r>
                    </a:p>
                  </a:txBody>
                  <a:tcPr marL="109728" marR="109728">
                    <a:solidFill>
                      <a:srgbClr val="22324A"/>
                    </a:solidFill>
                  </a:tcPr>
                </a:tc>
                <a:tc>
                  <a:txBody>
                    <a:bodyPr wrap="square"/>
                    <a:lstStyle/>
                    <a:p>
                      <a:r>
                        <a:rPr sz="1400" b="1">
                          <a:solidFill>
                            <a:srgbClr val="BAFF70"/>
                          </a:solidFill>
                          <a:latin typeface="Arial"/>
                        </a:rPr>
                        <a:t>Session</a:t>
                      </a:r>
                    </a:p>
                  </a:txBody>
                  <a:tcPr marL="109728" marR="109728">
                    <a:solidFill>
                      <a:srgbClr val="22324A"/>
                    </a:solidFill>
                  </a:tcPr>
                </a:tc>
                <a:tc>
                  <a:txBody>
                    <a:bodyPr wrap="square"/>
                    <a:lstStyle/>
                    <a:p>
                      <a:r>
                        <a:rPr sz="1400" b="1">
                          <a:solidFill>
                            <a:srgbClr val="BAFF70"/>
                          </a:solidFill>
                          <a:latin typeface="Arial"/>
                        </a:rPr>
                        <a:t>Length</a:t>
                      </a:r>
                    </a:p>
                  </a:txBody>
                  <a:tcPr marL="109728" marR="109728">
                    <a:solidFill>
                      <a:srgbClr val="22324A"/>
                    </a:solidFill>
                  </a:tcPr>
                </a:tc>
              </a:tr>
              <a:tr h="441655">
                <a:tc>
                  <a:txBody>
                    <a:bodyPr wrap="square"/>
                    <a:lstStyle/>
                    <a:p>
                      <a:r>
                        <a:rPr sz="1400" b="1">
                          <a:solidFill>
                            <a:srgbClr val="F8FAFC"/>
                          </a:solidFill>
                          <a:latin typeface="Arial"/>
                        </a:rPr>
                        <a:t>13:00–13:20</a:t>
                      </a:r>
                    </a:p>
                  </a:txBody>
                  <a:tcPr marL="109728" marR="109728">
                    <a:solidFill>
                      <a:srgbClr val="1A283B"/>
                    </a:solidFill>
                  </a:tcPr>
                </a:tc>
                <a:tc>
                  <a:txBody>
                    <a:bodyPr wrap="square"/>
                    <a:lstStyle/>
                    <a:p>
                      <a:r>
                        <a:rPr sz="1400" b="0">
                          <a:solidFill>
                            <a:srgbClr val="ADBBCD"/>
                          </a:solidFill>
                          <a:latin typeface="Arial"/>
                        </a:rPr>
                        <a:t>Part 08 · Refactor, document and create a maintainer handoff</a:t>
                      </a:r>
                    </a:p>
                  </a:txBody>
                  <a:tcPr marL="109728" marR="109728">
                    <a:solidFill>
                      <a:srgbClr val="1A283B"/>
                    </a:solidFill>
                  </a:tcPr>
                </a:tc>
                <a:tc>
                  <a:txBody>
                    <a:bodyPr wrap="square"/>
                    <a:lstStyle/>
                    <a:p>
                      <a:r>
                        <a:rPr sz="1400" b="0">
                          <a:solidFill>
                            <a:srgbClr val="ADBBCD"/>
                          </a:solidFill>
                          <a:latin typeface="Arial"/>
                        </a:rPr>
                        <a:t>20 min</a:t>
                      </a:r>
                    </a:p>
                  </a:txBody>
                  <a:tcPr marL="109728" marR="109728">
                    <a:solidFill>
                      <a:srgbClr val="1A283B"/>
                    </a:solidFill>
                  </a:tcPr>
                </a:tc>
              </a:tr>
              <a:tr h="441655">
                <a:tc>
                  <a:txBody>
                    <a:bodyPr wrap="square"/>
                    <a:lstStyle/>
                    <a:p>
                      <a:r>
                        <a:rPr sz="1400" b="1">
                          <a:solidFill>
                            <a:srgbClr val="F8FAFC"/>
                          </a:solidFill>
                          <a:latin typeface="Arial"/>
                        </a:rPr>
                        <a:t>13:20–13:55</a:t>
                      </a:r>
                    </a:p>
                  </a:txBody>
                  <a:tcPr marL="109728" marR="109728">
                    <a:solidFill>
                      <a:srgbClr val="15233A"/>
                    </a:solidFill>
                  </a:tcPr>
                </a:tc>
                <a:tc>
                  <a:txBody>
                    <a:bodyPr wrap="square"/>
                    <a:lstStyle/>
                    <a:p>
                      <a:r>
                        <a:rPr sz="1400" b="0">
                          <a:solidFill>
                            <a:srgbClr val="ADBBCD"/>
                          </a:solidFill>
                          <a:latin typeface="Arial"/>
                        </a:rPr>
                        <a:t>Part 09 · Skills, hooks and specialist subagents</a:t>
                      </a:r>
                    </a:p>
                  </a:txBody>
                  <a:tcPr marL="109728" marR="109728">
                    <a:solidFill>
                      <a:srgbClr val="15233A"/>
                    </a:solidFill>
                  </a:tcPr>
                </a:tc>
                <a:tc>
                  <a:txBody>
                    <a:bodyPr wrap="square"/>
                    <a:lstStyle/>
                    <a:p>
                      <a:r>
                        <a:rPr sz="1400" b="0">
                          <a:solidFill>
                            <a:srgbClr val="ADBBCD"/>
                          </a:solidFill>
                          <a:latin typeface="Arial"/>
                        </a:rPr>
                        <a:t>35 min</a:t>
                      </a:r>
                    </a:p>
                  </a:txBody>
                  <a:tcPr marL="109728" marR="109728">
                    <a:solidFill>
                      <a:srgbClr val="15233A"/>
                    </a:solidFill>
                  </a:tcPr>
                </a:tc>
              </a:tr>
              <a:tr h="441655">
                <a:tc>
                  <a:txBody>
                    <a:bodyPr wrap="square"/>
                    <a:lstStyle/>
                    <a:p>
                      <a:r>
                        <a:rPr sz="1400" b="1">
                          <a:solidFill>
                            <a:srgbClr val="F8FAFC"/>
                          </a:solidFill>
                          <a:latin typeface="Arial"/>
                        </a:rPr>
                        <a:t>13:55–14:20</a:t>
                      </a:r>
                    </a:p>
                  </a:txBody>
                  <a:tcPr marL="109728" marR="109728">
                    <a:solidFill>
                      <a:srgbClr val="1A283B"/>
                    </a:solidFill>
                  </a:tcPr>
                </a:tc>
                <a:tc>
                  <a:txBody>
                    <a:bodyPr wrap="square"/>
                    <a:lstStyle/>
                    <a:p>
                      <a:r>
                        <a:rPr sz="1400" b="0">
                          <a:solidFill>
                            <a:srgbClr val="ADBBCD"/>
                          </a:solidFill>
                          <a:latin typeface="Arial"/>
                        </a:rPr>
                        <a:t>Part 10 · Plugins and marketplace distribution</a:t>
                      </a:r>
                    </a:p>
                  </a:txBody>
                  <a:tcPr marL="109728" marR="109728">
                    <a:solidFill>
                      <a:srgbClr val="1A283B"/>
                    </a:solidFill>
                  </a:tcPr>
                </a:tc>
                <a:tc>
                  <a:txBody>
                    <a:bodyPr wrap="square"/>
                    <a:lstStyle/>
                    <a:p>
                      <a:r>
                        <a:rPr sz="1400" b="0">
                          <a:solidFill>
                            <a:srgbClr val="ADBBCD"/>
                          </a:solidFill>
                          <a:latin typeface="Arial"/>
                        </a:rPr>
                        <a:t>25 min</a:t>
                      </a:r>
                    </a:p>
                  </a:txBody>
                  <a:tcPr marL="109728" marR="109728">
                    <a:solidFill>
                      <a:srgbClr val="1A283B"/>
                    </a:solidFill>
                  </a:tcPr>
                </a:tc>
              </a:tr>
              <a:tr h="441655">
                <a:tc>
                  <a:txBody>
                    <a:bodyPr wrap="square"/>
                    <a:lstStyle/>
                    <a:p>
                      <a:r>
                        <a:rPr sz="1400" b="1">
                          <a:solidFill>
                            <a:srgbClr val="F8FAFC"/>
                          </a:solidFill>
                          <a:latin typeface="Arial"/>
                        </a:rPr>
                        <a:t>14:20–14:50</a:t>
                      </a:r>
                    </a:p>
                  </a:txBody>
                  <a:tcPr marL="109728" marR="109728">
                    <a:solidFill>
                      <a:srgbClr val="15233A"/>
                    </a:solidFill>
                  </a:tcPr>
                </a:tc>
                <a:tc>
                  <a:txBody>
                    <a:bodyPr wrap="square"/>
                    <a:lstStyle/>
                    <a:p>
                      <a:r>
                        <a:rPr sz="1400" b="0">
                          <a:solidFill>
                            <a:srgbClr val="ADBBCD"/>
                          </a:solidFill>
                          <a:latin typeface="Arial"/>
                        </a:rPr>
                        <a:t>Part 11 · Agent Teams: ship a feature in parallel</a:t>
                      </a:r>
                    </a:p>
                  </a:txBody>
                  <a:tcPr marL="109728" marR="109728">
                    <a:solidFill>
                      <a:srgbClr val="15233A"/>
                    </a:solidFill>
                  </a:tcPr>
                </a:tc>
                <a:tc>
                  <a:txBody>
                    <a:bodyPr wrap="square"/>
                    <a:lstStyle/>
                    <a:p>
                      <a:r>
                        <a:rPr sz="1400" b="0">
                          <a:solidFill>
                            <a:srgbClr val="ADBBCD"/>
                          </a:solidFill>
                          <a:latin typeface="Arial"/>
                        </a:rPr>
                        <a:t>30 min</a:t>
                      </a:r>
                    </a:p>
                  </a:txBody>
                  <a:tcPr marL="109728" marR="109728">
                    <a:solidFill>
                      <a:srgbClr val="15233A"/>
                    </a:solidFill>
                  </a:tcPr>
                </a:tc>
              </a:tr>
              <a:tr h="441655">
                <a:tc>
                  <a:txBody>
                    <a:bodyPr wrap="square"/>
                    <a:lstStyle/>
                    <a:p>
                      <a:r>
                        <a:rPr sz="1400" b="1">
                          <a:solidFill>
                            <a:srgbClr val="F8FAFC"/>
                          </a:solidFill>
                          <a:latin typeface="Arial"/>
                        </a:rPr>
                        <a:t>14:50–15:00</a:t>
                      </a:r>
                    </a:p>
                  </a:txBody>
                  <a:tcPr marL="109728" marR="109728">
                    <a:solidFill>
                      <a:srgbClr val="1A283B"/>
                    </a:solidFill>
                  </a:tcPr>
                </a:tc>
                <a:tc>
                  <a:txBody>
                    <a:bodyPr wrap="square"/>
                    <a:lstStyle/>
                    <a:p>
                      <a:r>
                        <a:rPr sz="1400" b="0">
                          <a:solidFill>
                            <a:srgbClr val="ADBBCD"/>
                          </a:solidFill>
                          <a:latin typeface="Arial"/>
                        </a:rPr>
                        <a:t>Break</a:t>
                      </a:r>
                    </a:p>
                  </a:txBody>
                  <a:tcPr marL="109728" marR="109728">
                    <a:solidFill>
                      <a:srgbClr val="1A283B"/>
                    </a:solidFill>
                  </a:tcPr>
                </a:tc>
                <a:tc>
                  <a:txBody>
                    <a:bodyPr wrap="square"/>
                    <a:lstStyle/>
                    <a:p>
                      <a:r>
                        <a:rPr sz="1400" b="0">
                          <a:solidFill>
                            <a:srgbClr val="ADBBCD"/>
                          </a:solidFill>
                          <a:latin typeface="Arial"/>
                        </a:rPr>
                        <a:t>10 min</a:t>
                      </a:r>
                    </a:p>
                  </a:txBody>
                  <a:tcPr marL="109728" marR="109728">
                    <a:solidFill>
                      <a:srgbClr val="1A283B"/>
                    </a:solidFill>
                  </a:tcPr>
                </a:tc>
              </a:tr>
              <a:tr h="441655">
                <a:tc>
                  <a:txBody>
                    <a:bodyPr wrap="square"/>
                    <a:lstStyle/>
                    <a:p>
                      <a:r>
                        <a:rPr sz="1400" b="1">
                          <a:solidFill>
                            <a:srgbClr val="F8FAFC"/>
                          </a:solidFill>
                          <a:latin typeface="Arial"/>
                        </a:rPr>
                        <a:t>15:00–15:25</a:t>
                      </a:r>
                    </a:p>
                  </a:txBody>
                  <a:tcPr marL="109728" marR="109728">
                    <a:solidFill>
                      <a:srgbClr val="15233A"/>
                    </a:solidFill>
                  </a:tcPr>
                </a:tc>
                <a:tc>
                  <a:txBody>
                    <a:bodyPr wrap="square"/>
                    <a:lstStyle/>
                    <a:p>
                      <a:r>
                        <a:rPr sz="1400" b="0">
                          <a:solidFill>
                            <a:srgbClr val="ADBBCD"/>
                          </a:solidFill>
                          <a:latin typeface="Arial"/>
                        </a:rPr>
                        <a:t>Part 12 · Production readiness, security and code review</a:t>
                      </a:r>
                    </a:p>
                  </a:txBody>
                  <a:tcPr marL="109728" marR="109728">
                    <a:solidFill>
                      <a:srgbClr val="15233A"/>
                    </a:solidFill>
                  </a:tcPr>
                </a:tc>
                <a:tc>
                  <a:txBody>
                    <a:bodyPr wrap="square"/>
                    <a:lstStyle/>
                    <a:p>
                      <a:r>
                        <a:rPr sz="1400" b="0">
                          <a:solidFill>
                            <a:srgbClr val="ADBBCD"/>
                          </a:solidFill>
                          <a:latin typeface="Arial"/>
                        </a:rPr>
                        <a:t>25 min</a:t>
                      </a:r>
                    </a:p>
                  </a:txBody>
                  <a:tcPr marL="109728" marR="109728">
                    <a:solidFill>
                      <a:srgbClr val="15233A"/>
                    </a:solidFill>
                  </a:tcPr>
                </a:tc>
              </a:tr>
              <a:tr h="441655">
                <a:tc>
                  <a:txBody>
                    <a:bodyPr wrap="square"/>
                    <a:lstStyle/>
                    <a:p>
                      <a:r>
                        <a:rPr sz="1400" b="1">
                          <a:solidFill>
                            <a:srgbClr val="F8FAFC"/>
                          </a:solidFill>
                          <a:latin typeface="Arial"/>
                        </a:rPr>
                        <a:t>15:25–15:45</a:t>
                      </a:r>
                    </a:p>
                  </a:txBody>
                  <a:tcPr marL="109728" marR="109728">
                    <a:solidFill>
                      <a:srgbClr val="1A283B"/>
                    </a:solidFill>
                  </a:tcPr>
                </a:tc>
                <a:tc>
                  <a:txBody>
                    <a:bodyPr wrap="square"/>
                    <a:lstStyle/>
                    <a:p>
                      <a:r>
                        <a:rPr sz="1400" b="0">
                          <a:solidFill>
                            <a:srgbClr val="ADBBCD"/>
                          </a:solidFill>
                          <a:latin typeface="Arial"/>
                        </a:rPr>
                        <a:t>Part 13 · Claude Cowork: engineering output to stakeholder update</a:t>
                      </a:r>
                    </a:p>
                  </a:txBody>
                  <a:tcPr marL="109728" marR="109728">
                    <a:solidFill>
                      <a:srgbClr val="1A283B"/>
                    </a:solidFill>
                  </a:tcPr>
                </a:tc>
                <a:tc>
                  <a:txBody>
                    <a:bodyPr wrap="square"/>
                    <a:lstStyle/>
                    <a:p>
                      <a:r>
                        <a:rPr sz="1400" b="0">
                          <a:solidFill>
                            <a:srgbClr val="ADBBCD"/>
                          </a:solidFill>
                          <a:latin typeface="Arial"/>
                        </a:rPr>
                        <a:t>20 min</a:t>
                      </a:r>
                    </a:p>
                  </a:txBody>
                  <a:tcPr marL="109728" marR="109728">
                    <a:solidFill>
                      <a:srgbClr val="1A283B"/>
                    </a:solidFill>
                  </a:tcPr>
                </a:tc>
              </a:tr>
              <a:tr h="441655">
                <a:tc>
                  <a:txBody>
                    <a:bodyPr wrap="square"/>
                    <a:lstStyle/>
                    <a:p>
                      <a:r>
                        <a:rPr sz="1400" b="1">
                          <a:solidFill>
                            <a:srgbClr val="F8FAFC"/>
                          </a:solidFill>
                          <a:latin typeface="Arial"/>
                        </a:rPr>
                        <a:t>15:45–16:05</a:t>
                      </a:r>
                    </a:p>
                  </a:txBody>
                  <a:tcPr marL="109728" marR="109728">
                    <a:solidFill>
                      <a:srgbClr val="15233A"/>
                    </a:solidFill>
                  </a:tcPr>
                </a:tc>
                <a:tc>
                  <a:txBody>
                    <a:bodyPr wrap="square"/>
                    <a:lstStyle/>
                    <a:p>
                      <a:r>
                        <a:rPr sz="1400" b="0">
                          <a:solidFill>
                            <a:srgbClr val="ADBBCD"/>
                          </a:solidFill>
                          <a:latin typeface="Arial"/>
                        </a:rPr>
                        <a:t>Part 14 · Web, mobile, Remote Control and work that continues</a:t>
                      </a:r>
                    </a:p>
                  </a:txBody>
                  <a:tcPr marL="109728" marR="109728">
                    <a:solidFill>
                      <a:srgbClr val="15233A"/>
                    </a:solidFill>
                  </a:tcPr>
                </a:tc>
                <a:tc>
                  <a:txBody>
                    <a:bodyPr wrap="square"/>
                    <a:lstStyle/>
                    <a:p>
                      <a:r>
                        <a:rPr sz="1400" b="0">
                          <a:solidFill>
                            <a:srgbClr val="ADBBCD"/>
                          </a:solidFill>
                          <a:latin typeface="Arial"/>
                        </a:rPr>
                        <a:t>20 min</a:t>
                      </a:r>
                    </a:p>
                  </a:txBody>
                  <a:tcPr marL="109728" marR="109728">
                    <a:solidFill>
                      <a:srgbClr val="15233A"/>
                    </a:solidFill>
                  </a:tcPr>
                </a:tc>
              </a:tr>
              <a:tr h="441657">
                <a:tc>
                  <a:txBody>
                    <a:bodyPr wrap="square"/>
                    <a:lstStyle/>
                    <a:p>
                      <a:r>
                        <a:rPr sz="1400" b="1">
                          <a:solidFill>
                            <a:srgbClr val="F8FAFC"/>
                          </a:solidFill>
                          <a:latin typeface="Arial"/>
                        </a:rPr>
                        <a:t>16:05–16:30</a:t>
                      </a:r>
                    </a:p>
                  </a:txBody>
                  <a:tcPr marL="109728" marR="109728">
                    <a:solidFill>
                      <a:srgbClr val="1A283B"/>
                    </a:solidFill>
                  </a:tcPr>
                </a:tc>
                <a:tc>
                  <a:txBody>
                    <a:bodyPr wrap="square"/>
                    <a:lstStyle/>
                    <a:p>
                      <a:r>
                        <a:rPr sz="1400" b="0">
                          <a:solidFill>
                            <a:srgbClr val="ADBBCD"/>
                          </a:solidFill>
                          <a:latin typeface="Arial"/>
                        </a:rPr>
                        <a:t>Final Q&amp;A and exam briefing</a:t>
                      </a:r>
                    </a:p>
                  </a:txBody>
                  <a:tcPr marL="109728" marR="109728">
                    <a:solidFill>
                      <a:srgbClr val="1A283B"/>
                    </a:solidFill>
                  </a:tcPr>
                </a:tc>
                <a:tc>
                  <a:txBody>
                    <a:bodyPr wrap="square"/>
                    <a:lstStyle/>
                    <a:p>
                      <a:r>
                        <a:rPr sz="1400" b="0">
                          <a:solidFill>
                            <a:srgbClr val="ADBBCD"/>
                          </a:solidFill>
                          <a:latin typeface="Arial"/>
                        </a:rPr>
                        <a:t>25 min</a:t>
                      </a:r>
                    </a:p>
                  </a:txBody>
                  <a:tcPr marL="109728" marR="109728">
                    <a:solidFill>
                      <a:srgbClr val="1A283B"/>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009 / 198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2194560"/>
            <a:ext cx="10058400" cy="365760"/>
          </a:xfrm>
          <a:prstGeom prst="rect">
            <a:avLst/>
          </a:prstGeom>
          <a:noFill/>
        </p:spPr>
        <p:txBody>
          <a:bodyPr wrap="square" lIns="0" rIns="0" tIns="0" bIns="0">
            <a:spAutoFit/>
          </a:bodyPr>
          <a:lstStyle/>
          <a:p>
            <a:pPr algn="l"/>
            <a:r>
              <a:rPr sz="1600" b="1">
                <a:solidFill>
                  <a:srgbClr val="BAFF70"/>
                </a:solidFill>
                <a:latin typeface="Arial"/>
              </a:rPr>
              <a:t>PART 01 · 09:00–09:20 · 20 MIN</a:t>
            </a:r>
          </a:p>
        </p:txBody>
      </p:sp>
      <p:sp>
        <p:nvSpPr>
          <p:cNvPr id="5" name="TextBox 4"/>
          <p:cNvSpPr txBox="1"/>
          <p:nvPr/>
        </p:nvSpPr>
        <p:spPr>
          <a:xfrm>
            <a:off x="640080" y="2697480"/>
            <a:ext cx="10789920" cy="1463040"/>
          </a:xfrm>
          <a:prstGeom prst="rect">
            <a:avLst/>
          </a:prstGeom>
          <a:noFill/>
        </p:spPr>
        <p:txBody>
          <a:bodyPr wrap="square" lIns="0" rIns="0" tIns="0" bIns="0">
            <a:spAutoFit/>
          </a:bodyPr>
          <a:lstStyle/>
          <a:p>
            <a:pPr algn="l"/>
            <a:r>
              <a:rPr sz="4600" b="1">
                <a:solidFill>
                  <a:srgbClr val="F8FAFC"/>
                </a:solidFill>
                <a:latin typeface="Arial"/>
              </a:rPr>
              <a:t>Welcome, setup, AI-first mindset and safe delegation</a:t>
            </a:r>
          </a:p>
        </p:txBody>
      </p:sp>
      <p:sp>
        <p:nvSpPr>
          <p:cNvPr id="6" name="TextBox 5"/>
          <p:cNvSpPr txBox="1"/>
          <p:nvPr/>
        </p:nvSpPr>
        <p:spPr>
          <a:xfrm>
            <a:off x="640080" y="4297680"/>
            <a:ext cx="10789920" cy="914400"/>
          </a:xfrm>
          <a:prstGeom prst="rect">
            <a:avLst/>
          </a:prstGeom>
          <a:noFill/>
        </p:spPr>
        <p:txBody>
          <a:bodyPr wrap="square" lIns="0" rIns="0" tIns="0" bIns="0">
            <a:spAutoFit/>
          </a:bodyPr>
          <a:lstStyle/>
          <a:p>
            <a:pPr algn="l"/>
            <a:r>
              <a:rPr sz="2000" b="0">
                <a:solidFill>
                  <a:srgbClr val="ADBBCD"/>
                </a:solidFill>
                <a:latin typeface="Arial"/>
              </a:rPr>
              <a:t>Project 1: AI-Ready Engineering Workspace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010 / 198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01 · GOALS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you will be able to do</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Map what Claude Code can do across CLI, IDE, desktop, web and mobile</a:t>
            </a:r>
          </a:p>
          <a:p>
            <a:pPr algn="l">
              <a:spcAft>
                <a:spcPts val="800"/>
              </a:spcAft>
            </a:pPr>
            <a:r>
              <a:rPr sz="2200">
                <a:solidFill>
                  <a:srgbClr val="F8FAFC"/>
                </a:solidFill>
                <a:latin typeface="Arial"/>
              </a:rPr>
              <a:t>•  Run the lifecycle: plan → implement → verify → review → commit</a:t>
            </a:r>
          </a:p>
          <a:p>
            <a:pPr algn="l">
              <a:spcAft>
                <a:spcPts val="800"/>
              </a:spcAft>
            </a:pPr>
            <a:r>
              <a:rPr sz="2200">
                <a:solidFill>
                  <a:srgbClr val="F8FAFC"/>
                </a:solidFill>
                <a:latin typeface="Arial"/>
              </a:rPr>
              <a:t>•  Choose model, context and effort for a task</a:t>
            </a:r>
          </a:p>
          <a:p>
            <a:pPr algn="l">
              <a:spcAft>
                <a:spcPts val="800"/>
              </a:spcAft>
            </a:pPr>
            <a:r>
              <a:rPr sz="2200">
                <a:solidFill>
                  <a:srgbClr val="F8FAFC"/>
                </a:solidFill>
                <a:latin typeface="Arial"/>
              </a:rPr>
              <a:t>•  Pick a permission mode and accept workspace trust deliberately</a:t>
            </a:r>
          </a:p>
          <a:p>
            <a:pPr algn="l">
              <a:spcAft>
                <a:spcPts val="800"/>
              </a:spcAft>
            </a:pPr>
            <a:r>
              <a:rPr sz="2200">
                <a:solidFill>
                  <a:srgbClr val="F8FAFC"/>
                </a:solidFill>
                <a:latin typeface="Arial"/>
              </a:rPr>
              <a:t>•  Separate reversible from irreversible actions; create a recovery point first</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011 / 198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WHERE CLAUDE CODE RUNS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One agent, many surfaces</a:t>
            </a:r>
          </a:p>
        </p:txBody>
      </p:sp>
      <p:graphicFrame>
        <p:nvGraphicFramePr>
          <p:cNvPr id="6" name="Table 5"/>
          <p:cNvGraphicFramePr>
            <a:graphicFrameLocks noGrp="1"/>
          </p:cNvGraphicFramePr>
          <p:nvPr/>
        </p:nvGraphicFramePr>
        <p:xfrm>
          <a:off x="640080" y="1984248"/>
          <a:ext cx="10881359" cy="2852928"/>
        </p:xfrm>
        <a:graphic>
          <a:graphicData uri="http://schemas.openxmlformats.org/drawingml/2006/table">
            <a:tbl>
              <a:tblPr>
                <a:tableStyleId>{5C22544A-7EE6-4342-B048-85BDC9FD1C3A}</a:tableStyleId>
              </a:tblPr>
              <a:tblGrid>
                <a:gridCol w="3553097"/>
                <a:gridCol w="5551714"/>
                <a:gridCol w="1776548"/>
              </a:tblGrid>
              <a:tr h="475488">
                <a:tc>
                  <a:txBody>
                    <a:bodyPr wrap="square"/>
                    <a:lstStyle/>
                    <a:p>
                      <a:r>
                        <a:rPr sz="1600" b="1">
                          <a:solidFill>
                            <a:srgbClr val="BAFF70"/>
                          </a:solidFill>
                          <a:latin typeface="Arial"/>
                        </a:rPr>
                        <a:t>Surface</a:t>
                      </a:r>
                    </a:p>
                  </a:txBody>
                  <a:tcPr marL="109728" marR="109728">
                    <a:solidFill>
                      <a:srgbClr val="22324A"/>
                    </a:solidFill>
                  </a:tcPr>
                </a:tc>
                <a:tc>
                  <a:txBody>
                    <a:bodyPr wrap="square"/>
                    <a:lstStyle/>
                    <a:p>
                      <a:r>
                        <a:rPr sz="1600" b="1">
                          <a:solidFill>
                            <a:srgbClr val="BAFF70"/>
                          </a:solidFill>
                          <a:latin typeface="Arial"/>
                        </a:rPr>
                        <a:t>Best for</a:t>
                      </a:r>
                    </a:p>
                  </a:txBody>
                  <a:tcPr marL="109728" marR="109728">
                    <a:solidFill>
                      <a:srgbClr val="22324A"/>
                    </a:solidFill>
                  </a:tcPr>
                </a:tc>
                <a:tc>
                  <a:txBody>
                    <a:bodyPr wrap="square"/>
                    <a:lstStyle/>
                    <a:p>
                      <a:r>
                        <a:rPr sz="1600" b="1">
                          <a:solidFill>
                            <a:srgbClr val="BAFF70"/>
                          </a:solidFill>
                          <a:latin typeface="Arial"/>
                        </a:rPr>
                        <a:t>Today</a:t>
                      </a:r>
                    </a:p>
                  </a:txBody>
                  <a:tcPr marL="109728" marR="109728">
                    <a:solidFill>
                      <a:srgbClr val="22324A"/>
                    </a:solidFill>
                  </a:tcPr>
                </a:tc>
              </a:tr>
              <a:tr h="475488">
                <a:tc>
                  <a:txBody>
                    <a:bodyPr wrap="square"/>
                    <a:lstStyle/>
                    <a:p>
                      <a:r>
                        <a:rPr sz="1600" b="1">
                          <a:solidFill>
                            <a:srgbClr val="F8FAFC"/>
                          </a:solidFill>
                          <a:latin typeface="Arial"/>
                        </a:rPr>
                        <a:t>Terminal (CLI)</a:t>
                      </a:r>
                    </a:p>
                  </a:txBody>
                  <a:tcPr marL="109728" marR="109728">
                    <a:solidFill>
                      <a:srgbClr val="1A283B"/>
                    </a:solidFill>
                  </a:tcPr>
                </a:tc>
                <a:tc>
                  <a:txBody>
                    <a:bodyPr wrap="square"/>
                    <a:lstStyle/>
                    <a:p>
                      <a:r>
                        <a:rPr sz="1600" b="0">
                          <a:solidFill>
                            <a:srgbClr val="ADBBCD"/>
                          </a:solidFill>
                          <a:latin typeface="Arial"/>
                        </a:rPr>
                        <a:t>Full control, scripting, -p automation</a:t>
                      </a:r>
                    </a:p>
                  </a:txBody>
                  <a:tcPr marL="109728" marR="109728">
                    <a:solidFill>
                      <a:srgbClr val="1A283B"/>
                    </a:solidFill>
                  </a:tcPr>
                </a:tc>
                <a:tc>
                  <a:txBody>
                    <a:bodyPr wrap="square"/>
                    <a:lstStyle/>
                    <a:p>
                      <a:r>
                        <a:rPr sz="1600" b="0">
                          <a:solidFill>
                            <a:srgbClr val="ADBBCD"/>
                          </a:solidFill>
                          <a:latin typeface="Arial"/>
                        </a:rPr>
                        <a:t>Parts 1–12</a:t>
                      </a:r>
                    </a:p>
                  </a:txBody>
                  <a:tcPr marL="109728" marR="109728">
                    <a:solidFill>
                      <a:srgbClr val="1A283B"/>
                    </a:solidFill>
                  </a:tcPr>
                </a:tc>
              </a:tr>
              <a:tr h="475488">
                <a:tc>
                  <a:txBody>
                    <a:bodyPr wrap="square"/>
                    <a:lstStyle/>
                    <a:p>
                      <a:r>
                        <a:rPr sz="1600" b="1">
                          <a:solidFill>
                            <a:srgbClr val="F8FAFC"/>
                          </a:solidFill>
                          <a:latin typeface="Arial"/>
                        </a:rPr>
                        <a:t>IDE (VS Code, JetBrains)</a:t>
                      </a:r>
                    </a:p>
                  </a:txBody>
                  <a:tcPr marL="109728" marR="109728">
                    <a:solidFill>
                      <a:srgbClr val="15233A"/>
                    </a:solidFill>
                  </a:tcPr>
                </a:tc>
                <a:tc>
                  <a:txBody>
                    <a:bodyPr wrap="square"/>
                    <a:lstStyle/>
                    <a:p>
                      <a:r>
                        <a:rPr sz="1600" b="0">
                          <a:solidFill>
                            <a:srgbClr val="ADBBCD"/>
                          </a:solidFill>
                          <a:latin typeface="Arial"/>
                        </a:rPr>
                        <a:t>Diffs inline with your editor</a:t>
                      </a:r>
                    </a:p>
                  </a:txBody>
                  <a:tcPr marL="109728" marR="109728">
                    <a:solidFill>
                      <a:srgbClr val="15233A"/>
                    </a:solidFill>
                  </a:tcPr>
                </a:tc>
                <a:tc>
                  <a:txBody>
                    <a:bodyPr wrap="square"/>
                    <a:lstStyle/>
                    <a:p>
                      <a:r>
                        <a:rPr sz="1600" b="0">
                          <a:solidFill>
                            <a:srgbClr val="ADBBCD"/>
                          </a:solidFill>
                          <a:latin typeface="Arial"/>
                        </a:rPr>
                        <a:t>Optional</a:t>
                      </a:r>
                    </a:p>
                  </a:txBody>
                  <a:tcPr marL="109728" marR="109728">
                    <a:solidFill>
                      <a:srgbClr val="15233A"/>
                    </a:solidFill>
                  </a:tcPr>
                </a:tc>
              </a:tr>
              <a:tr h="475488">
                <a:tc>
                  <a:txBody>
                    <a:bodyPr wrap="square"/>
                    <a:lstStyle/>
                    <a:p>
                      <a:r>
                        <a:rPr sz="1600" b="1">
                          <a:solidFill>
                            <a:srgbClr val="F8FAFC"/>
                          </a:solidFill>
                          <a:latin typeface="Arial"/>
                        </a:rPr>
                        <a:t>Desktop app</a:t>
                      </a:r>
                    </a:p>
                  </a:txBody>
                  <a:tcPr marL="109728" marR="109728">
                    <a:solidFill>
                      <a:srgbClr val="1A283B"/>
                    </a:solidFill>
                  </a:tcPr>
                </a:tc>
                <a:tc>
                  <a:txBody>
                    <a:bodyPr wrap="square"/>
                    <a:lstStyle/>
                    <a:p>
                      <a:r>
                        <a:rPr sz="1600" b="0">
                          <a:solidFill>
                            <a:srgbClr val="ADBBCD"/>
                          </a:solidFill>
                          <a:latin typeface="Arial"/>
                        </a:rPr>
                        <a:t>Sessions side by side, Cowork</a:t>
                      </a:r>
                    </a:p>
                  </a:txBody>
                  <a:tcPr marL="109728" marR="109728">
                    <a:solidFill>
                      <a:srgbClr val="1A283B"/>
                    </a:solidFill>
                  </a:tcPr>
                </a:tc>
                <a:tc>
                  <a:txBody>
                    <a:bodyPr wrap="square"/>
                    <a:lstStyle/>
                    <a:p>
                      <a:r>
                        <a:rPr sz="1600" b="0">
                          <a:solidFill>
                            <a:srgbClr val="ADBBCD"/>
                          </a:solidFill>
                          <a:latin typeface="Arial"/>
                        </a:rPr>
                        <a:t>Part 13</a:t>
                      </a:r>
                    </a:p>
                  </a:txBody>
                  <a:tcPr marL="109728" marR="109728">
                    <a:solidFill>
                      <a:srgbClr val="1A283B"/>
                    </a:solidFill>
                  </a:tcPr>
                </a:tc>
              </a:tr>
              <a:tr h="475488">
                <a:tc>
                  <a:txBody>
                    <a:bodyPr wrap="square"/>
                    <a:lstStyle/>
                    <a:p>
                      <a:r>
                        <a:rPr sz="1600" b="1">
                          <a:solidFill>
                            <a:srgbClr val="F8FAFC"/>
                          </a:solidFill>
                          <a:latin typeface="Arial"/>
                        </a:rPr>
                        <a:t>Web (claude.ai/code)</a:t>
                      </a:r>
                    </a:p>
                  </a:txBody>
                  <a:tcPr marL="109728" marR="109728">
                    <a:solidFill>
                      <a:srgbClr val="15233A"/>
                    </a:solidFill>
                  </a:tcPr>
                </a:tc>
                <a:tc>
                  <a:txBody>
                    <a:bodyPr wrap="square"/>
                    <a:lstStyle/>
                    <a:p>
                      <a:r>
                        <a:rPr sz="1600" b="0">
                          <a:solidFill>
                            <a:srgbClr val="ADBBCD"/>
                          </a:solidFill>
                          <a:latin typeface="Arial"/>
                        </a:rPr>
                        <a:t>Cloud sessions, routines</a:t>
                      </a:r>
                    </a:p>
                  </a:txBody>
                  <a:tcPr marL="109728" marR="109728">
                    <a:solidFill>
                      <a:srgbClr val="15233A"/>
                    </a:solidFill>
                  </a:tcPr>
                </a:tc>
                <a:tc>
                  <a:txBody>
                    <a:bodyPr wrap="square"/>
                    <a:lstStyle/>
                    <a:p>
                      <a:r>
                        <a:rPr sz="1600" b="0">
                          <a:solidFill>
                            <a:srgbClr val="ADBBCD"/>
                          </a:solidFill>
                          <a:latin typeface="Arial"/>
                        </a:rPr>
                        <a:t>Part 14</a:t>
                      </a:r>
                    </a:p>
                  </a:txBody>
                  <a:tcPr marL="109728" marR="109728">
                    <a:solidFill>
                      <a:srgbClr val="15233A"/>
                    </a:solidFill>
                  </a:tcPr>
                </a:tc>
              </a:tr>
              <a:tr h="475488">
                <a:tc>
                  <a:txBody>
                    <a:bodyPr wrap="square"/>
                    <a:lstStyle/>
                    <a:p>
                      <a:r>
                        <a:rPr sz="1600" b="1">
                          <a:solidFill>
                            <a:srgbClr val="F8FAFC"/>
                          </a:solidFill>
                          <a:latin typeface="Arial"/>
                        </a:rPr>
                        <a:t>Mobile</a:t>
                      </a:r>
                    </a:p>
                  </a:txBody>
                  <a:tcPr marL="109728" marR="109728">
                    <a:solidFill>
                      <a:srgbClr val="1A283B"/>
                    </a:solidFill>
                  </a:tcPr>
                </a:tc>
                <a:tc>
                  <a:txBody>
                    <a:bodyPr wrap="square"/>
                    <a:lstStyle/>
                    <a:p>
                      <a:r>
                        <a:rPr sz="1600" b="0">
                          <a:solidFill>
                            <a:srgbClr val="ADBBCD"/>
                          </a:solidFill>
                          <a:latin typeface="Arial"/>
                        </a:rPr>
                        <a:t>Monitor and steer via Remote Control</a:t>
                      </a:r>
                    </a:p>
                  </a:txBody>
                  <a:tcPr marL="109728" marR="109728">
                    <a:solidFill>
                      <a:srgbClr val="1A283B"/>
                    </a:solidFill>
                  </a:tcPr>
                </a:tc>
                <a:tc>
                  <a:txBody>
                    <a:bodyPr wrap="square"/>
                    <a:lstStyle/>
                    <a:p>
                      <a:r>
                        <a:rPr sz="1600" b="0">
                          <a:solidFill>
                            <a:srgbClr val="ADBBCD"/>
                          </a:solidFill>
                          <a:latin typeface="Arial"/>
                        </a:rPr>
                        <a:t>Part 14</a:t>
                      </a:r>
                    </a:p>
                  </a:txBody>
                  <a:tcPr marL="109728" marR="109728">
                    <a:solidFill>
                      <a:srgbClr val="1A283B"/>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012 / 198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CHOOSE BEFORE YOU TYPE</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Model, context and effort</a:t>
            </a:r>
          </a:p>
        </p:txBody>
      </p:sp>
      <p:graphicFrame>
        <p:nvGraphicFramePr>
          <p:cNvPr id="6" name="Table 5"/>
          <p:cNvGraphicFramePr>
            <a:graphicFrameLocks noGrp="1"/>
          </p:cNvGraphicFramePr>
          <p:nvPr/>
        </p:nvGraphicFramePr>
        <p:xfrm>
          <a:off x="640080" y="1984248"/>
          <a:ext cx="10881358" cy="1901952"/>
        </p:xfrm>
        <a:graphic>
          <a:graphicData uri="http://schemas.openxmlformats.org/drawingml/2006/table">
            <a:tbl>
              <a:tblPr>
                <a:tableStyleId>{5C22544A-7EE6-4342-B048-85BDC9FD1C3A}</a:tableStyleId>
              </a:tblPr>
              <a:tblGrid>
                <a:gridCol w="1277746"/>
                <a:gridCol w="2890407"/>
                <a:gridCol w="6713205"/>
              </a:tblGrid>
              <a:tr h="475488">
                <a:tc>
                  <a:txBody>
                    <a:bodyPr wrap="square"/>
                    <a:lstStyle/>
                    <a:p>
                      <a:r>
                        <a:rPr sz="1600" b="1">
                          <a:solidFill>
                            <a:srgbClr val="BAFF70"/>
                          </a:solidFill>
                          <a:latin typeface="Arial"/>
                        </a:rPr>
                        <a:t>Knob</a:t>
                      </a:r>
                    </a:p>
                  </a:txBody>
                  <a:tcPr marL="109728" marR="109728">
                    <a:solidFill>
                      <a:srgbClr val="22324A"/>
                    </a:solidFill>
                  </a:tcPr>
                </a:tc>
                <a:tc>
                  <a:txBody>
                    <a:bodyPr wrap="square"/>
                    <a:lstStyle/>
                    <a:p>
                      <a:r>
                        <a:rPr sz="1600" b="1">
                          <a:solidFill>
                            <a:srgbClr val="BAFF70"/>
                          </a:solidFill>
                          <a:latin typeface="Arial"/>
                        </a:rPr>
                        <a:t>How</a:t>
                      </a:r>
                    </a:p>
                  </a:txBody>
                  <a:tcPr marL="109728" marR="109728">
                    <a:solidFill>
                      <a:srgbClr val="22324A"/>
                    </a:solidFill>
                  </a:tcPr>
                </a:tc>
                <a:tc>
                  <a:txBody>
                    <a:bodyPr wrap="square"/>
                    <a:lstStyle/>
                    <a:p>
                      <a:r>
                        <a:rPr sz="1600" b="1">
                          <a:solidFill>
                            <a:srgbClr val="BAFF70"/>
                          </a:solidFill>
                          <a:latin typeface="Arial"/>
                        </a:rPr>
                        <a:t>Rule of thumb</a:t>
                      </a:r>
                    </a:p>
                  </a:txBody>
                  <a:tcPr marL="109728" marR="109728">
                    <a:solidFill>
                      <a:srgbClr val="22324A"/>
                    </a:solidFill>
                  </a:tcPr>
                </a:tc>
              </a:tr>
              <a:tr h="475488">
                <a:tc>
                  <a:txBody>
                    <a:bodyPr wrap="square"/>
                    <a:lstStyle/>
                    <a:p>
                      <a:r>
                        <a:rPr sz="1600" b="1">
                          <a:solidFill>
                            <a:srgbClr val="F8FAFC"/>
                          </a:solidFill>
                          <a:latin typeface="Arial"/>
                        </a:rPr>
                        <a:t>Model</a:t>
                      </a:r>
                    </a:p>
                  </a:txBody>
                  <a:tcPr marL="109728" marR="109728">
                    <a:solidFill>
                      <a:srgbClr val="1A283B"/>
                    </a:solidFill>
                  </a:tcPr>
                </a:tc>
                <a:tc>
                  <a:txBody>
                    <a:bodyPr wrap="square"/>
                    <a:lstStyle/>
                    <a:p>
                      <a:r>
                        <a:rPr sz="1600" b="0">
                          <a:solidFill>
                            <a:srgbClr val="ADBBCD"/>
                          </a:solidFill>
                          <a:latin typeface="Arial"/>
                        </a:rPr>
                        <a:t>/model, --model sonnet</a:t>
                      </a:r>
                    </a:p>
                  </a:txBody>
                  <a:tcPr marL="109728" marR="109728">
                    <a:solidFill>
                      <a:srgbClr val="1A283B"/>
                    </a:solidFill>
                  </a:tcPr>
                </a:tc>
                <a:tc>
                  <a:txBody>
                    <a:bodyPr wrap="square"/>
                    <a:lstStyle/>
                    <a:p>
                      <a:r>
                        <a:rPr sz="1600" b="0">
                          <a:solidFill>
                            <a:srgbClr val="ADBBCD"/>
                          </a:solidFill>
                          <a:latin typeface="Arial"/>
                        </a:rPr>
                        <a:t>Sonnet for most work; Opus for hard design; Haiku for quick, cheap tasks</a:t>
                      </a:r>
                    </a:p>
                  </a:txBody>
                  <a:tcPr marL="109728" marR="109728">
                    <a:solidFill>
                      <a:srgbClr val="1A283B"/>
                    </a:solidFill>
                  </a:tcPr>
                </a:tc>
              </a:tr>
              <a:tr h="475488">
                <a:tc>
                  <a:txBody>
                    <a:bodyPr wrap="square"/>
                    <a:lstStyle/>
                    <a:p>
                      <a:r>
                        <a:rPr sz="1600" b="1">
                          <a:solidFill>
                            <a:srgbClr val="F8FAFC"/>
                          </a:solidFill>
                          <a:latin typeface="Arial"/>
                        </a:rPr>
                        <a:t>Effort</a:t>
                      </a:r>
                    </a:p>
                  </a:txBody>
                  <a:tcPr marL="109728" marR="109728">
                    <a:solidFill>
                      <a:srgbClr val="15233A"/>
                    </a:solidFill>
                  </a:tcPr>
                </a:tc>
                <a:tc>
                  <a:txBody>
                    <a:bodyPr wrap="square"/>
                    <a:lstStyle/>
                    <a:p>
                      <a:r>
                        <a:rPr sz="1600" b="0">
                          <a:solidFill>
                            <a:srgbClr val="ADBBCD"/>
                          </a:solidFill>
                          <a:latin typeface="Arial"/>
                        </a:rPr>
                        <a:t>/effort low…max, --effort</a:t>
                      </a:r>
                    </a:p>
                  </a:txBody>
                  <a:tcPr marL="109728" marR="109728">
                    <a:solidFill>
                      <a:srgbClr val="15233A"/>
                    </a:solidFill>
                  </a:tcPr>
                </a:tc>
                <a:tc>
                  <a:txBody>
                    <a:bodyPr wrap="square"/>
                    <a:lstStyle/>
                    <a:p>
                      <a:r>
                        <a:rPr sz="1600" b="0">
                          <a:solidFill>
                            <a:srgbClr val="ADBBCD"/>
                          </a:solidFill>
                          <a:latin typeface="Arial"/>
                        </a:rPr>
                        <a:t>Raise for ambiguous problems; lower for mechanical edits</a:t>
                      </a:r>
                    </a:p>
                  </a:txBody>
                  <a:tcPr marL="109728" marR="109728">
                    <a:solidFill>
                      <a:srgbClr val="15233A"/>
                    </a:solidFill>
                  </a:tcPr>
                </a:tc>
              </a:tr>
              <a:tr h="475488">
                <a:tc>
                  <a:txBody>
                    <a:bodyPr wrap="square"/>
                    <a:lstStyle/>
                    <a:p>
                      <a:r>
                        <a:rPr sz="1600" b="1">
                          <a:solidFill>
                            <a:srgbClr val="F8FAFC"/>
                          </a:solidFill>
                          <a:latin typeface="Arial"/>
                        </a:rPr>
                        <a:t>Context</a:t>
                      </a:r>
                    </a:p>
                  </a:txBody>
                  <a:tcPr marL="109728" marR="109728">
                    <a:solidFill>
                      <a:srgbClr val="1A283B"/>
                    </a:solidFill>
                  </a:tcPr>
                </a:tc>
                <a:tc>
                  <a:txBody>
                    <a:bodyPr wrap="square"/>
                    <a:lstStyle/>
                    <a:p>
                      <a:r>
                        <a:rPr sz="1600" b="0">
                          <a:solidFill>
                            <a:srgbClr val="ADBBCD"/>
                          </a:solidFill>
                          <a:latin typeface="Arial"/>
                        </a:rPr>
                        <a:t>/context, /compact, @file</a:t>
                      </a:r>
                    </a:p>
                  </a:txBody>
                  <a:tcPr marL="109728" marR="109728">
                    <a:solidFill>
                      <a:srgbClr val="1A283B"/>
                    </a:solidFill>
                  </a:tcPr>
                </a:tc>
                <a:tc>
                  <a:txBody>
                    <a:bodyPr wrap="square"/>
                    <a:lstStyle/>
                    <a:p>
                      <a:r>
                        <a:rPr sz="1600" b="0">
                          <a:solidFill>
                            <a:srgbClr val="ADBBCD"/>
                          </a:solidFill>
                          <a:latin typeface="Arial"/>
                        </a:rPr>
                        <a:t>Give the brief and the files, not your whole disk</a:t>
                      </a:r>
                    </a:p>
                  </a:txBody>
                  <a:tcPr marL="109728" marR="109728">
                    <a:solidFill>
                      <a:srgbClr val="1A283B"/>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013 / 198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PERMISSION MODES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Autonomy is a setting, not a mood</a:t>
            </a:r>
          </a:p>
        </p:txBody>
      </p:sp>
      <p:graphicFrame>
        <p:nvGraphicFramePr>
          <p:cNvPr id="6" name="Table 5"/>
          <p:cNvGraphicFramePr>
            <a:graphicFrameLocks noGrp="1"/>
          </p:cNvGraphicFramePr>
          <p:nvPr/>
        </p:nvGraphicFramePr>
        <p:xfrm>
          <a:off x="640080" y="1984248"/>
          <a:ext cx="10881359" cy="2852928"/>
        </p:xfrm>
        <a:graphic>
          <a:graphicData uri="http://schemas.openxmlformats.org/drawingml/2006/table">
            <a:tbl>
              <a:tblPr>
                <a:tableStyleId>{5C22544A-7EE6-4342-B048-85BDC9FD1C3A}</a:tableStyleId>
              </a:tblPr>
              <a:tblGrid>
                <a:gridCol w="2891550"/>
                <a:gridCol w="4660722"/>
                <a:gridCol w="3329087"/>
              </a:tblGrid>
              <a:tr h="475488">
                <a:tc>
                  <a:txBody>
                    <a:bodyPr wrap="square"/>
                    <a:lstStyle/>
                    <a:p>
                      <a:r>
                        <a:rPr sz="1600" b="1">
                          <a:solidFill>
                            <a:srgbClr val="BAFF70"/>
                          </a:solidFill>
                          <a:latin typeface="Arial"/>
                        </a:rPr>
                        <a:t>Mode</a:t>
                      </a:r>
                    </a:p>
                  </a:txBody>
                  <a:tcPr marL="109728" marR="109728">
                    <a:solidFill>
                      <a:srgbClr val="22324A"/>
                    </a:solidFill>
                  </a:tcPr>
                </a:tc>
                <a:tc>
                  <a:txBody>
                    <a:bodyPr wrap="square"/>
                    <a:lstStyle/>
                    <a:p>
                      <a:r>
                        <a:rPr sz="1600" b="1">
                          <a:solidFill>
                            <a:srgbClr val="BAFF70"/>
                          </a:solidFill>
                          <a:latin typeface="Arial"/>
                        </a:rPr>
                        <a:t>Behaviour</a:t>
                      </a:r>
                    </a:p>
                  </a:txBody>
                  <a:tcPr marL="109728" marR="109728">
                    <a:solidFill>
                      <a:srgbClr val="22324A"/>
                    </a:solidFill>
                  </a:tcPr>
                </a:tc>
                <a:tc>
                  <a:txBody>
                    <a:bodyPr wrap="square"/>
                    <a:lstStyle/>
                    <a:p>
                      <a:r>
                        <a:rPr sz="1600" b="1">
                          <a:solidFill>
                            <a:srgbClr val="BAFF70"/>
                          </a:solidFill>
                          <a:latin typeface="Arial"/>
                        </a:rPr>
                        <a:t>Use when</a:t>
                      </a:r>
                    </a:p>
                  </a:txBody>
                  <a:tcPr marL="109728" marR="109728">
                    <a:solidFill>
                      <a:srgbClr val="22324A"/>
                    </a:solidFill>
                  </a:tcPr>
                </a:tc>
              </a:tr>
              <a:tr h="475488">
                <a:tc>
                  <a:txBody>
                    <a:bodyPr wrap="square"/>
                    <a:lstStyle/>
                    <a:p>
                      <a:r>
                        <a:rPr sz="1600" b="1">
                          <a:solidFill>
                            <a:srgbClr val="F8FAFC"/>
                          </a:solidFill>
                          <a:latin typeface="Arial"/>
                        </a:rPr>
                        <a:t>Manual (default)</a:t>
                      </a:r>
                    </a:p>
                  </a:txBody>
                  <a:tcPr marL="109728" marR="109728">
                    <a:solidFill>
                      <a:srgbClr val="1A283B"/>
                    </a:solidFill>
                  </a:tcPr>
                </a:tc>
                <a:tc>
                  <a:txBody>
                    <a:bodyPr wrap="square"/>
                    <a:lstStyle/>
                    <a:p>
                      <a:r>
                        <a:rPr sz="1600" b="0">
                          <a:solidFill>
                            <a:srgbClr val="ADBBCD"/>
                          </a:solidFill>
                          <a:latin typeface="Arial"/>
                        </a:rPr>
                        <a:t>Asks before edits and commands</a:t>
                      </a:r>
                    </a:p>
                  </a:txBody>
                  <a:tcPr marL="109728" marR="109728">
                    <a:solidFill>
                      <a:srgbClr val="1A283B"/>
                    </a:solidFill>
                  </a:tcPr>
                </a:tc>
                <a:tc>
                  <a:txBody>
                    <a:bodyPr wrap="square"/>
                    <a:lstStyle/>
                    <a:p>
                      <a:r>
                        <a:rPr sz="1600" b="0">
                          <a:solidFill>
                            <a:srgbClr val="ADBBCD"/>
                          </a:solidFill>
                          <a:latin typeface="Arial"/>
                        </a:rPr>
                        <a:t>Learning, risky areas</a:t>
                      </a:r>
                    </a:p>
                  </a:txBody>
                  <a:tcPr marL="109728" marR="109728">
                    <a:solidFill>
                      <a:srgbClr val="1A283B"/>
                    </a:solidFill>
                  </a:tcPr>
                </a:tc>
              </a:tr>
              <a:tr h="475488">
                <a:tc>
                  <a:txBody>
                    <a:bodyPr wrap="square"/>
                    <a:lstStyle/>
                    <a:p>
                      <a:r>
                        <a:rPr sz="1600" b="1">
                          <a:solidFill>
                            <a:srgbClr val="F8FAFC"/>
                          </a:solidFill>
                          <a:latin typeface="Arial"/>
                        </a:rPr>
                        <a:t>acceptEdits</a:t>
                      </a:r>
                    </a:p>
                  </a:txBody>
                  <a:tcPr marL="109728" marR="109728">
                    <a:solidFill>
                      <a:srgbClr val="15233A"/>
                    </a:solidFill>
                  </a:tcPr>
                </a:tc>
                <a:tc>
                  <a:txBody>
                    <a:bodyPr wrap="square"/>
                    <a:lstStyle/>
                    <a:p>
                      <a:r>
                        <a:rPr sz="1600" b="0">
                          <a:solidFill>
                            <a:srgbClr val="ADBBCD"/>
                          </a:solidFill>
                          <a:latin typeface="Arial"/>
                        </a:rPr>
                        <a:t>Auto-accepts edits and common file commands</a:t>
                      </a:r>
                    </a:p>
                  </a:txBody>
                  <a:tcPr marL="109728" marR="109728">
                    <a:solidFill>
                      <a:srgbClr val="15233A"/>
                    </a:solidFill>
                  </a:tcPr>
                </a:tc>
                <a:tc>
                  <a:txBody>
                    <a:bodyPr wrap="square"/>
                    <a:lstStyle/>
                    <a:p>
                      <a:r>
                        <a:rPr sz="1600" b="0">
                          <a:solidFill>
                            <a:srgbClr val="ADBBCD"/>
                          </a:solidFill>
                          <a:latin typeface="Arial"/>
                        </a:rPr>
                        <a:t>Focused edit loops</a:t>
                      </a:r>
                    </a:p>
                  </a:txBody>
                  <a:tcPr marL="109728" marR="109728">
                    <a:solidFill>
                      <a:srgbClr val="15233A"/>
                    </a:solidFill>
                  </a:tcPr>
                </a:tc>
              </a:tr>
              <a:tr h="475488">
                <a:tc>
                  <a:txBody>
                    <a:bodyPr wrap="square"/>
                    <a:lstStyle/>
                    <a:p>
                      <a:r>
                        <a:rPr sz="1600" b="1">
                          <a:solidFill>
                            <a:srgbClr val="F8FAFC"/>
                          </a:solidFill>
                          <a:latin typeface="Arial"/>
                        </a:rPr>
                        <a:t>plan</a:t>
                      </a:r>
                    </a:p>
                  </a:txBody>
                  <a:tcPr marL="109728" marR="109728">
                    <a:solidFill>
                      <a:srgbClr val="1A283B"/>
                    </a:solidFill>
                  </a:tcPr>
                </a:tc>
                <a:tc>
                  <a:txBody>
                    <a:bodyPr wrap="square"/>
                    <a:lstStyle/>
                    <a:p>
                      <a:r>
                        <a:rPr sz="1600" b="0">
                          <a:solidFill>
                            <a:srgbClr val="ADBBCD"/>
                          </a:solidFill>
                          <a:latin typeface="Arial"/>
                        </a:rPr>
                        <a:t>Read-only until you approve a plan</a:t>
                      </a:r>
                    </a:p>
                  </a:txBody>
                  <a:tcPr marL="109728" marR="109728">
                    <a:solidFill>
                      <a:srgbClr val="1A283B"/>
                    </a:solidFill>
                  </a:tcPr>
                </a:tc>
                <a:tc>
                  <a:txBody>
                    <a:bodyPr wrap="square"/>
                    <a:lstStyle/>
                    <a:p>
                      <a:r>
                        <a:rPr sz="1600" b="0">
                          <a:solidFill>
                            <a:srgbClr val="ADBBCD"/>
                          </a:solidFill>
                          <a:latin typeface="Arial"/>
                        </a:rPr>
                        <a:t>New designs, multi-file changes</a:t>
                      </a:r>
                    </a:p>
                  </a:txBody>
                  <a:tcPr marL="109728" marR="109728">
                    <a:solidFill>
                      <a:srgbClr val="1A283B"/>
                    </a:solidFill>
                  </a:tcPr>
                </a:tc>
              </a:tr>
              <a:tr h="475488">
                <a:tc>
                  <a:txBody>
                    <a:bodyPr wrap="square"/>
                    <a:lstStyle/>
                    <a:p>
                      <a:r>
                        <a:rPr sz="1600" b="1">
                          <a:solidFill>
                            <a:srgbClr val="F8FAFC"/>
                          </a:solidFill>
                          <a:latin typeface="Arial"/>
                        </a:rPr>
                        <a:t>auto</a:t>
                      </a:r>
                    </a:p>
                  </a:txBody>
                  <a:tcPr marL="109728" marR="109728">
                    <a:solidFill>
                      <a:srgbClr val="15233A"/>
                    </a:solidFill>
                  </a:tcPr>
                </a:tc>
                <a:tc>
                  <a:txBody>
                    <a:bodyPr wrap="square"/>
                    <a:lstStyle/>
                    <a:p>
                      <a:r>
                        <a:rPr sz="1600" b="0">
                          <a:solidFill>
                            <a:srgbClr val="ADBBCD"/>
                          </a:solidFill>
                          <a:latin typeface="Arial"/>
                        </a:rPr>
                        <a:t>A classifier reviews actions instead of prompting</a:t>
                      </a:r>
                    </a:p>
                  </a:txBody>
                  <a:tcPr marL="109728" marR="109728">
                    <a:solidFill>
                      <a:srgbClr val="15233A"/>
                    </a:solidFill>
                  </a:tcPr>
                </a:tc>
                <a:tc>
                  <a:txBody>
                    <a:bodyPr wrap="square"/>
                    <a:lstStyle/>
                    <a:p>
                      <a:r>
                        <a:rPr sz="1600" b="0">
                          <a:solidFill>
                            <a:srgbClr val="ADBBCD"/>
                          </a:solidFill>
                          <a:latin typeface="Arial"/>
                        </a:rPr>
                        <a:t>Staged copies with a recovery point</a:t>
                      </a:r>
                    </a:p>
                  </a:txBody>
                  <a:tcPr marL="109728" marR="109728">
                    <a:solidFill>
                      <a:srgbClr val="15233A"/>
                    </a:solidFill>
                  </a:tcPr>
                </a:tc>
              </a:tr>
              <a:tr h="475488">
                <a:tc>
                  <a:txBody>
                    <a:bodyPr wrap="square"/>
                    <a:lstStyle/>
                    <a:p>
                      <a:r>
                        <a:rPr sz="1600" b="1">
                          <a:solidFill>
                            <a:srgbClr val="F8FAFC"/>
                          </a:solidFill>
                          <a:latin typeface="Arial"/>
                        </a:rPr>
                        <a:t>bypassPermissions</a:t>
                      </a:r>
                    </a:p>
                  </a:txBody>
                  <a:tcPr marL="109728" marR="109728">
                    <a:solidFill>
                      <a:srgbClr val="1A283B"/>
                    </a:solidFill>
                  </a:tcPr>
                </a:tc>
                <a:tc>
                  <a:txBody>
                    <a:bodyPr wrap="square"/>
                    <a:lstStyle/>
                    <a:p>
                      <a:r>
                        <a:rPr sz="1600" b="0">
                          <a:solidFill>
                            <a:srgbClr val="ADBBCD"/>
                          </a:solidFill>
                          <a:latin typeface="Arial"/>
                        </a:rPr>
                        <a:t>No checks</a:t>
                      </a:r>
                    </a:p>
                  </a:txBody>
                  <a:tcPr marL="109728" marR="109728">
                    <a:solidFill>
                      <a:srgbClr val="1A283B"/>
                    </a:solidFill>
                  </a:tcPr>
                </a:tc>
                <a:tc>
                  <a:txBody>
                    <a:bodyPr wrap="square"/>
                    <a:lstStyle/>
                    <a:p>
                      <a:r>
                        <a:rPr sz="1600" b="0">
                          <a:solidFill>
                            <a:srgbClr val="ADBBCD"/>
                          </a:solidFill>
                          <a:latin typeface="Arial"/>
                        </a:rPr>
                        <a:t>Disposable containers only</a:t>
                      </a:r>
                    </a:p>
                  </a:txBody>
                  <a:tcPr marL="109728" marR="109728">
                    <a:solidFill>
                      <a:srgbClr val="1A283B"/>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014 / 198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SAFE DELEGATION</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Blind trust vs safe delegation</a:t>
            </a:r>
          </a:p>
        </p:txBody>
      </p:sp>
      <p:sp>
        <p:nvSpPr>
          <p:cNvPr id="6" name="TextBox 5"/>
          <p:cNvSpPr txBox="1"/>
          <p:nvPr/>
        </p:nvSpPr>
        <p:spPr>
          <a:xfrm>
            <a:off x="640080" y="1984248"/>
            <a:ext cx="5349240" cy="365760"/>
          </a:xfrm>
          <a:prstGeom prst="rect">
            <a:avLst/>
          </a:prstGeom>
          <a:noFill/>
        </p:spPr>
        <p:txBody>
          <a:bodyPr wrap="square" lIns="0" rIns="0" tIns="0" bIns="0">
            <a:spAutoFit/>
          </a:bodyPr>
          <a:lstStyle/>
          <a:p>
            <a:pPr algn="l"/>
            <a:r>
              <a:rPr sz="1500" b="1">
                <a:solidFill>
                  <a:srgbClr val="FBBF24"/>
                </a:solidFill>
                <a:latin typeface="Arial"/>
              </a:rPr>
              <a:t>BLIND TRUST</a:t>
            </a:r>
          </a:p>
        </p:txBody>
      </p:sp>
      <p:sp>
        <p:nvSpPr>
          <p:cNvPr id="7" name="Rounded Rectangle 6"/>
          <p:cNvSpPr/>
          <p:nvPr/>
        </p:nvSpPr>
        <p:spPr>
          <a:xfrm>
            <a:off x="64008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“Update every dependency, fix whatever breaks, and deploy the application.”</a:t>
            </a:r>
          </a:p>
        </p:txBody>
      </p:sp>
      <p:sp>
        <p:nvSpPr>
          <p:cNvPr id="8" name="TextBox 7"/>
          <p:cNvSpPr txBox="1"/>
          <p:nvPr/>
        </p:nvSpPr>
        <p:spPr>
          <a:xfrm>
            <a:off x="6172200" y="1984248"/>
            <a:ext cx="5349240" cy="365760"/>
          </a:xfrm>
          <a:prstGeom prst="rect">
            <a:avLst/>
          </a:prstGeom>
          <a:noFill/>
        </p:spPr>
        <p:txBody>
          <a:bodyPr wrap="square" lIns="0" rIns="0" tIns="0" bIns="0">
            <a:spAutoFit/>
          </a:bodyPr>
          <a:lstStyle/>
          <a:p>
            <a:pPr algn="l"/>
            <a:r>
              <a:rPr sz="1500" b="1">
                <a:solidFill>
                  <a:srgbClr val="BAFF70"/>
                </a:solidFill>
                <a:latin typeface="Arial"/>
              </a:rPr>
              <a:t>SAFE DELEGATION</a:t>
            </a:r>
          </a:p>
        </p:txBody>
      </p:sp>
      <p:sp>
        <p:nvSpPr>
          <p:cNvPr id="9" name="Rounded Rectangle 8"/>
          <p:cNvSpPr/>
          <p:nvPr/>
        </p:nvSpPr>
        <p:spPr>
          <a:xfrm>
            <a:off x="617220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Inspect dependencies and propose an upgrade plan</a:t>
            </a:r>
          </a:p>
          <a:p>
            <a:pPr algn="l">
              <a:spcAft>
                <a:spcPts val="800"/>
              </a:spcAft>
            </a:pPr>
            <a:r>
              <a:rPr sz="1900">
                <a:solidFill>
                  <a:srgbClr val="F8FAFC"/>
                </a:solidFill>
                <a:latin typeface="Arial"/>
              </a:rPr>
              <a:t>•  Don't touch deployment config or credentials</a:t>
            </a:r>
          </a:p>
          <a:p>
            <a:pPr algn="l">
              <a:spcAft>
                <a:spcPts val="800"/>
              </a:spcAft>
            </a:pPr>
            <a:r>
              <a:rPr sz="1900">
                <a:solidFill>
                  <a:srgbClr val="F8FAFC"/>
                </a:solidFill>
                <a:latin typeface="Arial"/>
              </a:rPr>
              <a:t>•  Update approved packages in an isolated branch</a:t>
            </a:r>
          </a:p>
          <a:p>
            <a:pPr algn="l">
              <a:spcAft>
                <a:spcPts val="800"/>
              </a:spcAft>
            </a:pPr>
            <a:r>
              <a:rPr sz="1900">
                <a:solidFill>
                  <a:srgbClr val="F8FAFC"/>
                </a:solidFill>
                <a:latin typeface="Arial"/>
              </a:rPr>
              <a:t>•  Run the full suite; document breaking changes</a:t>
            </a:r>
          </a:p>
          <a:p>
            <a:pPr algn="l">
              <a:spcAft>
                <a:spcPts val="800"/>
              </a:spcAft>
            </a:pPr>
            <a:r>
              <a:rPr sz="1900">
                <a:solidFill>
                  <a:srgbClr val="F8FAFC"/>
                </a:solidFill>
                <a:latin typeface="Arial"/>
              </a:rPr>
              <a:t>•  Stop for review before merging</a:t>
            </a:r>
          </a:p>
        </p:txBody>
      </p:sp>
      <p:sp>
        <p:nvSpPr>
          <p:cNvPr id="10" name="TextBox 9"/>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015 / 198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REVERSIBILITY</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Autonomy proportional to reversibility</a:t>
            </a:r>
          </a:p>
        </p:txBody>
      </p:sp>
      <p:sp>
        <p:nvSpPr>
          <p:cNvPr id="6" name="TextBox 5"/>
          <p:cNvSpPr txBox="1"/>
          <p:nvPr/>
        </p:nvSpPr>
        <p:spPr>
          <a:xfrm>
            <a:off x="640080" y="1984248"/>
            <a:ext cx="5349240" cy="365760"/>
          </a:xfrm>
          <a:prstGeom prst="rect">
            <a:avLst/>
          </a:prstGeom>
          <a:noFill/>
        </p:spPr>
        <p:txBody>
          <a:bodyPr wrap="square" lIns="0" rIns="0" tIns="0" bIns="0">
            <a:spAutoFit/>
          </a:bodyPr>
          <a:lstStyle/>
          <a:p>
            <a:pPr algn="l"/>
            <a:r>
              <a:rPr sz="1500" b="1">
                <a:solidFill>
                  <a:srgbClr val="FBBF24"/>
                </a:solidFill>
                <a:latin typeface="Arial"/>
              </a:rPr>
              <a:t>REVERSIBLE: DELEGATE</a:t>
            </a:r>
          </a:p>
        </p:txBody>
      </p:sp>
      <p:sp>
        <p:nvSpPr>
          <p:cNvPr id="7" name="Rounded Rectangle 6"/>
          <p:cNvSpPr/>
          <p:nvPr/>
        </p:nvSpPr>
        <p:spPr>
          <a:xfrm>
            <a:off x="64008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File edits (git, /rewind)</a:t>
            </a:r>
          </a:p>
          <a:p>
            <a:pPr algn="l">
              <a:spcAft>
                <a:spcPts val="800"/>
              </a:spcAft>
            </a:pPr>
            <a:r>
              <a:rPr sz="1900">
                <a:solidFill>
                  <a:srgbClr val="F8FAFC"/>
                </a:solidFill>
                <a:latin typeface="Arial"/>
              </a:rPr>
              <a:t>•  Local test runs</a:t>
            </a:r>
          </a:p>
          <a:p>
            <a:pPr algn="l">
              <a:spcAft>
                <a:spcPts val="800"/>
              </a:spcAft>
            </a:pPr>
            <a:r>
              <a:rPr sz="1900">
                <a:solidFill>
                  <a:srgbClr val="F8FAFC"/>
                </a:solidFill>
                <a:latin typeface="Arial"/>
              </a:rPr>
              <a:t>•  Branches and worktrees</a:t>
            </a:r>
          </a:p>
          <a:p>
            <a:pPr algn="l">
              <a:spcAft>
                <a:spcPts val="800"/>
              </a:spcAft>
            </a:pPr>
            <a:r>
              <a:rPr sz="1900">
                <a:solidFill>
                  <a:srgbClr val="F8FAFC"/>
                </a:solidFill>
                <a:latin typeface="Arial"/>
              </a:rPr>
              <a:t>•  Drafts and previews</a:t>
            </a:r>
          </a:p>
        </p:txBody>
      </p:sp>
      <p:sp>
        <p:nvSpPr>
          <p:cNvPr id="8" name="TextBox 7"/>
          <p:cNvSpPr txBox="1"/>
          <p:nvPr/>
        </p:nvSpPr>
        <p:spPr>
          <a:xfrm>
            <a:off x="6172200" y="1984248"/>
            <a:ext cx="5349240" cy="365760"/>
          </a:xfrm>
          <a:prstGeom prst="rect">
            <a:avLst/>
          </a:prstGeom>
          <a:noFill/>
        </p:spPr>
        <p:txBody>
          <a:bodyPr wrap="square" lIns="0" rIns="0" tIns="0" bIns="0">
            <a:spAutoFit/>
          </a:bodyPr>
          <a:lstStyle/>
          <a:p>
            <a:pPr algn="l"/>
            <a:r>
              <a:rPr sz="1500" b="1">
                <a:solidFill>
                  <a:srgbClr val="BAFF70"/>
                </a:solidFill>
                <a:latin typeface="Arial"/>
              </a:rPr>
              <a:t>IRREVERSIBLE: HUMAN APPROVAL</a:t>
            </a:r>
          </a:p>
        </p:txBody>
      </p:sp>
      <p:sp>
        <p:nvSpPr>
          <p:cNvPr id="9" name="Rounded Rectangle 8"/>
          <p:cNvSpPr/>
          <p:nvPr/>
        </p:nvSpPr>
        <p:spPr>
          <a:xfrm>
            <a:off x="617220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git push / force push</a:t>
            </a:r>
          </a:p>
          <a:p>
            <a:pPr algn="l">
              <a:spcAft>
                <a:spcPts val="800"/>
              </a:spcAft>
            </a:pPr>
            <a:r>
              <a:rPr sz="1900">
                <a:solidFill>
                  <a:srgbClr val="F8FAFC"/>
                </a:solidFill>
                <a:latin typeface="Arial"/>
              </a:rPr>
              <a:t>•  Deleting outside git</a:t>
            </a:r>
          </a:p>
          <a:p>
            <a:pPr algn="l">
              <a:spcAft>
                <a:spcPts val="800"/>
              </a:spcAft>
            </a:pPr>
            <a:r>
              <a:rPr sz="1900">
                <a:solidFill>
                  <a:srgbClr val="F8FAFC"/>
                </a:solidFill>
                <a:latin typeface="Arial"/>
              </a:rPr>
              <a:t>•  Deployments, sent messages</a:t>
            </a:r>
          </a:p>
          <a:p>
            <a:pPr algn="l">
              <a:spcAft>
                <a:spcPts val="800"/>
              </a:spcAft>
            </a:pPr>
            <a:r>
              <a:rPr sz="1900">
                <a:solidFill>
                  <a:srgbClr val="F8FAFC"/>
                </a:solidFill>
                <a:latin typeface="Arial"/>
              </a:rPr>
              <a:t>•  Credential and permission changes</a:t>
            </a:r>
          </a:p>
        </p:txBody>
      </p:sp>
      <p:sp>
        <p:nvSpPr>
          <p:cNvPr id="10" name="TextBox 9"/>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016 / 198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01 · PROMPT 1 OF 1</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Safety boundary (Manual mode)</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Read README.md. Draft SAFETY.md for this repository: the permission</a:t>
            </a:r>
          </a:p>
          <a:p>
            <a:pPr algn="l">
              <a:spcAft>
                <a:spcPts val="400"/>
              </a:spcAft>
            </a:pPr>
            <a:r>
              <a:rPr sz="2000">
                <a:solidFill>
                  <a:srgbClr val="BAFF70"/>
                </a:solidFill>
                <a:latin typeface="Consolas"/>
              </a:rPr>
              <a:t>mode we use and when, actions allowed without asking, actions that</a:t>
            </a:r>
          </a:p>
          <a:p>
            <a:pPr algn="l">
              <a:spcAft>
                <a:spcPts val="400"/>
              </a:spcAft>
            </a:pPr>
            <a:r>
              <a:rPr sz="2000">
                <a:solidFill>
                  <a:srgbClr val="BAFF70"/>
                </a:solidFill>
                <a:latin typeface="Consolas"/>
              </a:rPr>
              <a:t>must ask first, blocked actions, which actions are reversible versus</a:t>
            </a:r>
          </a:p>
          <a:p>
            <a:pPr algn="l">
              <a:spcAft>
                <a:spcPts val="400"/>
              </a:spcAft>
            </a:pPr>
            <a:r>
              <a:rPr sz="2000">
                <a:solidFill>
                  <a:srgbClr val="BAFF70"/>
                </a:solidFill>
                <a:latin typeface="Consolas"/>
              </a:rPr>
              <a:t>irreversible, and how we recover (baseline commit). Then show me a</a:t>
            </a:r>
          </a:p>
          <a:p>
            <a:pPr algn="l">
              <a:spcAft>
                <a:spcPts val="400"/>
              </a:spcAft>
            </a:pPr>
            <a:r>
              <a:rPr sz="2000">
                <a:solidFill>
                  <a:srgbClr val="BAFF70"/>
                </a:solidFill>
                <a:latin typeface="Consolas"/>
              </a:rPr>
              <a:t>matching .claude/settings.json permissions block (allow / ask /</a:t>
            </a:r>
          </a:p>
          <a:p>
            <a:pPr algn="l">
              <a:spcAft>
                <a:spcPts val="400"/>
              </a:spcAft>
            </a:pPr>
            <a:r>
              <a:rPr sz="2000">
                <a:solidFill>
                  <a:srgbClr val="BAFF70"/>
                </a:solidFill>
                <a:latin typeface="Consolas"/>
              </a:rPr>
              <a:t>deny) in your reply, but do not create that file: I will review it</a:t>
            </a:r>
          </a:p>
          <a:p>
            <a:pPr algn="l">
              <a:spcAft>
                <a:spcPts val="400"/>
              </a:spcAft>
            </a:pPr>
            <a:r>
              <a:rPr sz="2000">
                <a:solidFill>
                  <a:srgbClr val="BAFF70"/>
                </a:solidFill>
                <a:latin typeface="Consolas"/>
              </a:rPr>
              <a:t>and save it myself. Do not commit.</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parts/01-workspace/PROMPTS.md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017 / 198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pic>
        <p:nvPicPr>
          <p:cNvPr id="2" name="01-workspace.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01 · EVIDENCE, NOT CLAIMS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the run proved</a:t>
            </a:r>
          </a:p>
        </p:txBody>
      </p:sp>
      <p:sp>
        <p:nvSpPr>
          <p:cNvPr id="6" name="TextBox 5"/>
          <p:cNvSpPr txBox="1"/>
          <p:nvPr/>
        </p:nvSpPr>
        <p:spPr>
          <a:xfrm>
            <a:off x="640080" y="1984248"/>
            <a:ext cx="5349240" cy="365760"/>
          </a:xfrm>
          <a:prstGeom prst="rect">
            <a:avLst/>
          </a:prstGeom>
          <a:noFill/>
        </p:spPr>
        <p:txBody>
          <a:bodyPr wrap="square" lIns="0" rIns="0" tIns="0" bIns="0">
            <a:spAutoFit/>
          </a:bodyPr>
          <a:lstStyle/>
          <a:p>
            <a:pPr algn="l"/>
            <a:r>
              <a:rPr sz="1500" b="1">
                <a:solidFill>
                  <a:srgbClr val="FBBF24"/>
                </a:solidFill>
                <a:latin typeface="Arial"/>
              </a:rPr>
              <a:t>WHAT TO LOOK FOR</a:t>
            </a:r>
          </a:p>
        </p:txBody>
      </p:sp>
      <p:sp>
        <p:nvSpPr>
          <p:cNvPr id="7" name="Rounded Rectangle 6"/>
          <p:cNvSpPr/>
          <p:nvPr/>
        </p:nvSpPr>
        <p:spPr>
          <a:xfrm>
            <a:off x="64008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claude --version and /status</a:t>
            </a:r>
          </a:p>
          <a:p>
            <a:pPr algn="l">
              <a:spcAft>
                <a:spcPts val="800"/>
              </a:spcAft>
            </a:pPr>
            <a:r>
              <a:rPr sz="1900">
                <a:solidFill>
                  <a:srgbClr val="F8FAFC"/>
                </a:solidFill>
                <a:latin typeface="Arial"/>
              </a:rPr>
              <a:t>•  git log --oneline -1 → baseline commit</a:t>
            </a:r>
          </a:p>
          <a:p>
            <a:pPr algn="l">
              <a:spcAft>
                <a:spcPts val="800"/>
              </a:spcAft>
            </a:pPr>
            <a:r>
              <a:rPr sz="1900">
                <a:solidFill>
                  <a:srgbClr val="F8FAFC"/>
                </a:solidFill>
                <a:latin typeface="Arial"/>
              </a:rPr>
              <a:t>•  SAFETY.md reviewed by a human</a:t>
            </a:r>
          </a:p>
          <a:p>
            <a:pPr algn="l">
              <a:spcAft>
                <a:spcPts val="800"/>
              </a:spcAft>
            </a:pPr>
            <a:r>
              <a:rPr sz="1900">
                <a:solidFill>
                  <a:srgbClr val="F8FAFC"/>
                </a:solidFill>
                <a:latin typeface="Arial"/>
              </a:rPr>
              <a:t>•  /permissions shows the saved rules</a:t>
            </a:r>
          </a:p>
        </p:txBody>
      </p:sp>
      <p:sp>
        <p:nvSpPr>
          <p:cNvPr id="8" name="TextBox 7"/>
          <p:cNvSpPr txBox="1"/>
          <p:nvPr/>
        </p:nvSpPr>
        <p:spPr>
          <a:xfrm>
            <a:off x="6172200" y="1984248"/>
            <a:ext cx="5349240" cy="365760"/>
          </a:xfrm>
          <a:prstGeom prst="rect">
            <a:avLst/>
          </a:prstGeom>
          <a:noFill/>
        </p:spPr>
        <p:txBody>
          <a:bodyPr wrap="square" lIns="0" rIns="0" tIns="0" bIns="0">
            <a:spAutoFit/>
          </a:bodyPr>
          <a:lstStyle/>
          <a:p>
            <a:pPr algn="l"/>
            <a:r>
              <a:rPr sz="1500" b="1">
                <a:solidFill>
                  <a:srgbClr val="BAFF70"/>
                </a:solidFill>
                <a:latin typeface="Arial"/>
              </a:rPr>
              <a:t>WHAT THE RECORDED RUN PRODUCED</a:t>
            </a:r>
          </a:p>
        </p:txBody>
      </p:sp>
      <p:sp>
        <p:nvSpPr>
          <p:cNvPr id="9" name="Rounded Rectangle 8"/>
          <p:cNvSpPr/>
          <p:nvPr/>
        </p:nvSpPr>
        <p:spPr>
          <a:xfrm>
            <a:off x="617220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1 prompt(s) · 1 min 29 s · $0.10 · 5 tool calls</a:t>
            </a:r>
          </a:p>
          <a:p>
            <a:pPr algn="l">
              <a:spcAft>
                <a:spcPts val="800"/>
              </a:spcAft>
            </a:pPr>
            <a:r>
              <a:rPr sz="1900">
                <a:solidFill>
                  <a:srgbClr val="F8FAFC"/>
                </a:solidFill>
                <a:latin typeface="Arial"/>
              </a:rPr>
              <a:t>•  bin/bootcamp verify: 3 PASS · 0 FAIL</a:t>
            </a:r>
          </a:p>
          <a:p>
            <a:pPr algn="l">
              <a:spcAft>
                <a:spcPts val="800"/>
              </a:spcAft>
            </a:pPr>
            <a:r>
              <a:rPr sz="1900">
                <a:solidFill>
                  <a:srgbClr val="F8FAFC"/>
                </a:solidFill>
                <a:latin typeface="Arial"/>
              </a:rPr>
              <a:t>•  Changed: ?? SAFETY.md</a:t>
            </a:r>
          </a:p>
        </p:txBody>
      </p:sp>
      <p:sp>
        <p:nvSpPr>
          <p:cNvPr id="10" name="TextBox 9"/>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019 / 198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01 · DISCUSS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Your turn to think</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Which of your daily tasks are reversible, and which are not?</a:t>
            </a:r>
          </a:p>
          <a:p>
            <a:pPr algn="l">
              <a:spcAft>
                <a:spcPts val="800"/>
              </a:spcAft>
            </a:pPr>
            <a:r>
              <a:rPr sz="2200">
                <a:solidFill>
                  <a:srgbClr val="F8FAFC"/>
                </a:solidFill>
                <a:latin typeface="Arial"/>
              </a:rPr>
              <a:t>•  Rewrite "Update every dependency, fix whatever breaks, and deploy" as a safe delegation.</a:t>
            </a:r>
          </a:p>
          <a:p>
            <a:pPr algn="l">
              <a:spcAft>
                <a:spcPts val="800"/>
              </a:spcAft>
            </a:pPr>
            <a:r>
              <a:rPr sz="2200">
                <a:solidFill>
                  <a:srgbClr val="F8FAFC"/>
                </a:solidFill>
                <a:latin typeface="Arial"/>
              </a:rPr>
              <a:t>•  When would you choose plan mode over auto mode?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020 / 198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01 · LAB</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Hands-on</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Stage part 01, start Claude Code, accept trust only after reading the folder, choose Manual mode, draft SAFETY.md with the prompt, save the settings yourself, commit the baseline.</a:t>
            </a:r>
          </a:p>
          <a:p>
            <a:pPr algn="l">
              <a:spcAft>
                <a:spcPts val="800"/>
              </a:spcAft>
            </a:pPr>
            <a:r>
              <a:rPr sz="2200">
                <a:solidFill>
                  <a:srgbClr val="F8FAFC"/>
                </a:solidFill>
                <a:latin typeface="Arial"/>
              </a:rPr>
              <a:t>•  Start: bin/bootcamp stage 01</a:t>
            </a:r>
          </a:p>
          <a:p>
            <a:pPr algn="l">
              <a:spcAft>
                <a:spcPts val="800"/>
              </a:spcAft>
            </a:pPr>
            <a:r>
              <a:rPr sz="2200">
                <a:solidFill>
                  <a:srgbClr val="F8FAFC"/>
                </a:solidFill>
                <a:latin typeface="Arial"/>
              </a:rPr>
              <a:t>•  Prompts: parts/01-workspace/PROMPTS.md</a:t>
            </a:r>
          </a:p>
          <a:p>
            <a:pPr algn="l">
              <a:spcAft>
                <a:spcPts val="800"/>
              </a:spcAft>
            </a:pPr>
            <a:r>
              <a:rPr sz="2200">
                <a:solidFill>
                  <a:srgbClr val="F8FAFC"/>
                </a:solidFill>
                <a:latin typeface="Arial"/>
              </a:rPr>
              <a:t>•  Check: bin/bootcamp verify</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021 / 198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01 · CHECKPOINT</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 now have</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Working Claude Code environment</a:t>
            </a:r>
          </a:p>
          <a:p>
            <a:pPr algn="l">
              <a:spcAft>
                <a:spcPts val="800"/>
              </a:spcAft>
            </a:pPr>
            <a:r>
              <a:rPr sz="2200">
                <a:solidFill>
                  <a:srgbClr val="F8FAFC"/>
                </a:solidFill>
                <a:latin typeface="Arial"/>
              </a:rPr>
              <a:t>✓  Trusted starter repository</a:t>
            </a:r>
          </a:p>
          <a:p>
            <a:pPr algn="l">
              <a:spcAft>
                <a:spcPts val="800"/>
              </a:spcAft>
            </a:pPr>
            <a:r>
              <a:rPr sz="2200">
                <a:solidFill>
                  <a:srgbClr val="F8FAFC"/>
                </a:solidFill>
                <a:latin typeface="Arial"/>
              </a:rPr>
              <a:t>✓  Written permission and safety boundary (SAFETY.md + .claude/settings.json)</a:t>
            </a:r>
          </a:p>
          <a:p>
            <a:pPr algn="l">
              <a:spcAft>
                <a:spcPts val="800"/>
              </a:spcAft>
            </a:pPr>
            <a:r>
              <a:rPr sz="2200">
                <a:solidFill>
                  <a:srgbClr val="F8FAFC"/>
                </a:solidFill>
                <a:latin typeface="Arial"/>
              </a:rPr>
              <a:t>✓  Baseline Git commit and recovery point</a:t>
            </a:r>
          </a:p>
          <a:p>
            <a:pPr algn="l">
              <a:spcAft>
                <a:spcPts val="800"/>
              </a:spcAft>
            </a:pPr>
            <a:r>
              <a:rPr sz="2200">
                <a:solidFill>
                  <a:srgbClr val="F8FAFC"/>
                </a:solidFill>
                <a:latin typeface="Arial"/>
              </a:rPr>
              <a:t>•  Behind? bin/bootcamp checkpoint 01 --force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022 / 198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2194560"/>
            <a:ext cx="10058400" cy="365760"/>
          </a:xfrm>
          <a:prstGeom prst="rect">
            <a:avLst/>
          </a:prstGeom>
          <a:noFill/>
        </p:spPr>
        <p:txBody>
          <a:bodyPr wrap="square" lIns="0" rIns="0" tIns="0" bIns="0">
            <a:spAutoFit/>
          </a:bodyPr>
          <a:lstStyle/>
          <a:p>
            <a:pPr algn="l"/>
            <a:r>
              <a:rPr sz="1600" b="1">
                <a:solidFill>
                  <a:srgbClr val="BAFF70"/>
                </a:solidFill>
                <a:latin typeface="Arial"/>
              </a:rPr>
              <a:t>PART 02 · 09:20–09:45 · 25 MIN</a:t>
            </a:r>
          </a:p>
        </p:txBody>
      </p:sp>
      <p:sp>
        <p:nvSpPr>
          <p:cNvPr id="5" name="TextBox 4"/>
          <p:cNvSpPr txBox="1"/>
          <p:nvPr/>
        </p:nvSpPr>
        <p:spPr>
          <a:xfrm>
            <a:off x="640080" y="2697480"/>
            <a:ext cx="10789920" cy="1463040"/>
          </a:xfrm>
          <a:prstGeom prst="rect">
            <a:avLst/>
          </a:prstGeom>
          <a:noFill/>
        </p:spPr>
        <p:txBody>
          <a:bodyPr wrap="square" lIns="0" rIns="0" tIns="0" bIns="0">
            <a:spAutoFit/>
          </a:bodyPr>
          <a:lstStyle/>
          <a:p>
            <a:pPr algn="l"/>
            <a:r>
              <a:rPr sz="4600" b="1">
                <a:solidFill>
                  <a:srgbClr val="F8FAFC"/>
                </a:solidFill>
                <a:latin typeface="Arial"/>
              </a:rPr>
              <a:t>Prompting Claude Code like a tech lead</a:t>
            </a:r>
          </a:p>
        </p:txBody>
      </p:sp>
      <p:sp>
        <p:nvSpPr>
          <p:cNvPr id="6" name="TextBox 5"/>
          <p:cNvSpPr txBox="1"/>
          <p:nvPr/>
        </p:nvSpPr>
        <p:spPr>
          <a:xfrm>
            <a:off x="640080" y="4297680"/>
            <a:ext cx="10789920" cy="914400"/>
          </a:xfrm>
          <a:prstGeom prst="rect">
            <a:avLst/>
          </a:prstGeom>
          <a:noFill/>
        </p:spPr>
        <p:txBody>
          <a:bodyPr wrap="square" lIns="0" rIns="0" tIns="0" bIns="0">
            <a:spAutoFit/>
          </a:bodyPr>
          <a:lstStyle/>
          <a:p>
            <a:pPr algn="l"/>
            <a:r>
              <a:rPr sz="2000" b="0">
                <a:solidFill>
                  <a:srgbClr val="ADBBCD"/>
                </a:solidFill>
                <a:latin typeface="Arial"/>
              </a:rPr>
              <a:t>Project 2: CLI Release Task Manager</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023 / 198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02 · GOALS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you will be able to do</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Replace small prompts with a complete engineering brief</a:t>
            </a:r>
          </a:p>
          <a:p>
            <a:pPr algn="l">
              <a:spcAft>
                <a:spcPts val="800"/>
              </a:spcAft>
            </a:pPr>
            <a:r>
              <a:rPr sz="2200">
                <a:solidFill>
                  <a:srgbClr val="F8FAFC"/>
                </a:solidFill>
                <a:latin typeface="Arial"/>
              </a:rPr>
              <a:t>•  State outcome, context, constraints, protected areas and acceptance criteria</a:t>
            </a:r>
          </a:p>
          <a:p>
            <a:pPr algn="l">
              <a:spcAft>
                <a:spcPts val="800"/>
              </a:spcAft>
            </a:pPr>
            <a:r>
              <a:rPr sz="2200">
                <a:solidFill>
                  <a:srgbClr val="F8FAFC"/>
                </a:solidFill>
                <a:latin typeface="Arial"/>
              </a:rPr>
              <a:t>•  Require proof instead of accepting completion claims</a:t>
            </a:r>
          </a:p>
          <a:p>
            <a:pPr algn="l">
              <a:spcAft>
                <a:spcPts val="800"/>
              </a:spcAft>
            </a:pPr>
            <a:r>
              <a:rPr sz="2200">
                <a:solidFill>
                  <a:srgbClr val="F8FAFC"/>
                </a:solidFill>
                <a:latin typeface="Arial"/>
              </a:rPr>
              <a:t>•  Ask for a plan first; review and challenge it; intervene only at decision points</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024 / 198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FROM PROMPT TO BRIEF</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Small prompt vs engineering brief</a:t>
            </a:r>
          </a:p>
        </p:txBody>
      </p:sp>
      <p:sp>
        <p:nvSpPr>
          <p:cNvPr id="6" name="TextBox 5"/>
          <p:cNvSpPr txBox="1"/>
          <p:nvPr/>
        </p:nvSpPr>
        <p:spPr>
          <a:xfrm>
            <a:off x="640080" y="1984248"/>
            <a:ext cx="5349240" cy="365760"/>
          </a:xfrm>
          <a:prstGeom prst="rect">
            <a:avLst/>
          </a:prstGeom>
          <a:noFill/>
        </p:spPr>
        <p:txBody>
          <a:bodyPr wrap="square" lIns="0" rIns="0" tIns="0" bIns="0">
            <a:spAutoFit/>
          </a:bodyPr>
          <a:lstStyle/>
          <a:p>
            <a:pPr algn="l"/>
            <a:r>
              <a:rPr sz="1500" b="1">
                <a:solidFill>
                  <a:srgbClr val="FBBF24"/>
                </a:solidFill>
                <a:latin typeface="Arial"/>
              </a:rPr>
              <a:t>SMALL PROMPT</a:t>
            </a:r>
          </a:p>
        </p:txBody>
      </p:sp>
      <p:sp>
        <p:nvSpPr>
          <p:cNvPr id="7" name="Rounded Rectangle 6"/>
          <p:cNvSpPr/>
          <p:nvPr/>
        </p:nvSpPr>
        <p:spPr>
          <a:xfrm>
            <a:off x="64008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“Write a task manager CLI.”</a:t>
            </a:r>
          </a:p>
          <a:p>
            <a:pPr algn="l">
              <a:spcAft>
                <a:spcPts val="800"/>
              </a:spcAft>
            </a:pPr>
            <a:r>
              <a:rPr sz="1900">
                <a:solidFill>
                  <a:srgbClr val="F8FAFC"/>
                </a:solidFill>
                <a:latin typeface="Arial"/>
              </a:rPr>
              <a:t>•  No scope, no constraints</a:t>
            </a:r>
          </a:p>
          <a:p>
            <a:pPr algn="l">
              <a:spcAft>
                <a:spcPts val="800"/>
              </a:spcAft>
            </a:pPr>
            <a:r>
              <a:rPr sz="1900">
                <a:solidFill>
                  <a:srgbClr val="F8FAFC"/>
                </a:solidFill>
                <a:latin typeface="Arial"/>
              </a:rPr>
              <a:t>•  No definition of done</a:t>
            </a:r>
          </a:p>
          <a:p>
            <a:pPr algn="l">
              <a:spcAft>
                <a:spcPts val="800"/>
              </a:spcAft>
            </a:pPr>
            <a:r>
              <a:rPr sz="1900">
                <a:solidFill>
                  <a:srgbClr val="F8FAFC"/>
                </a:solidFill>
                <a:latin typeface="Arial"/>
              </a:rPr>
              <a:t>•  You get a guess</a:t>
            </a:r>
          </a:p>
        </p:txBody>
      </p:sp>
      <p:sp>
        <p:nvSpPr>
          <p:cNvPr id="8" name="TextBox 7"/>
          <p:cNvSpPr txBox="1"/>
          <p:nvPr/>
        </p:nvSpPr>
        <p:spPr>
          <a:xfrm>
            <a:off x="6172200" y="1984248"/>
            <a:ext cx="5349240" cy="365760"/>
          </a:xfrm>
          <a:prstGeom prst="rect">
            <a:avLst/>
          </a:prstGeom>
          <a:noFill/>
        </p:spPr>
        <p:txBody>
          <a:bodyPr wrap="square" lIns="0" rIns="0" tIns="0" bIns="0">
            <a:spAutoFit/>
          </a:bodyPr>
          <a:lstStyle/>
          <a:p>
            <a:pPr algn="l"/>
            <a:r>
              <a:rPr sz="1500" b="1">
                <a:solidFill>
                  <a:srgbClr val="BAFF70"/>
                </a:solidFill>
                <a:latin typeface="Arial"/>
              </a:rPr>
              <a:t>ENGINEERING BRIEF</a:t>
            </a:r>
          </a:p>
        </p:txBody>
      </p:sp>
      <p:sp>
        <p:nvSpPr>
          <p:cNvPr id="9" name="Rounded Rectangle 8"/>
          <p:cNvSpPr/>
          <p:nvPr/>
        </p:nvSpPr>
        <p:spPr>
          <a:xfrm>
            <a:off x="617220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Outcome and context</a:t>
            </a:r>
          </a:p>
          <a:p>
            <a:pPr algn="l">
              <a:spcAft>
                <a:spcPts val="800"/>
              </a:spcAft>
            </a:pPr>
            <a:r>
              <a:rPr sz="1900">
                <a:solidFill>
                  <a:srgbClr val="F8FAFC"/>
                </a:solidFill>
                <a:latin typeface="Arial"/>
              </a:rPr>
              <a:t>•  Constraints and protected areas</a:t>
            </a:r>
          </a:p>
          <a:p>
            <a:pPr algn="l">
              <a:spcAft>
                <a:spcPts val="800"/>
              </a:spcAft>
            </a:pPr>
            <a:r>
              <a:rPr sz="1900">
                <a:solidFill>
                  <a:srgbClr val="F8FAFC"/>
                </a:solidFill>
                <a:latin typeface="Arial"/>
              </a:rPr>
              <a:t>•  Acceptance criteria AC1–AC8</a:t>
            </a:r>
          </a:p>
          <a:p>
            <a:pPr algn="l">
              <a:spcAft>
                <a:spcPts val="800"/>
              </a:spcAft>
            </a:pPr>
            <a:r>
              <a:rPr sz="1900">
                <a:solidFill>
                  <a:srgbClr val="F8FAFC"/>
                </a:solidFill>
                <a:latin typeface="Arial"/>
              </a:rPr>
              <a:t>•  Required evidence</a:t>
            </a:r>
          </a:p>
          <a:p>
            <a:pPr algn="l">
              <a:spcAft>
                <a:spcPts val="800"/>
              </a:spcAft>
            </a:pPr>
            <a:r>
              <a:rPr sz="1900">
                <a:solidFill>
                  <a:srgbClr val="F8FAFC"/>
                </a:solidFill>
                <a:latin typeface="Arial"/>
              </a:rPr>
              <a:t>•  Plan first, then stop</a:t>
            </a:r>
          </a:p>
        </p:txBody>
      </p:sp>
      <p:sp>
        <p:nvSpPr>
          <p:cNvPr id="10" name="TextBox 9"/>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025 / 198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THE BRIEF, ABRIDGED</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briefs/cli-release-task-manager.md</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1700">
                <a:solidFill>
                  <a:srgbClr val="BAFF70"/>
                </a:solidFill>
                <a:latin typeface="Consolas"/>
              </a:rPr>
              <a:t>## Constraints</a:t>
            </a:r>
          </a:p>
          <a:p>
            <a:pPr algn="l">
              <a:spcAft>
                <a:spcPts val="400"/>
              </a:spcAft>
            </a:pPr>
            <a:r>
              <a:rPr sz="1700">
                <a:solidFill>
                  <a:srgbClr val="BAFF70"/>
                </a:solidFill>
                <a:latin typeface="Consolas"/>
              </a:rPr>
              <a:t>- Python stdlib only; storage ./tasks.json, override with SHIPCTL_DB</a:t>
            </a:r>
          </a:p>
          <a:p>
            <a:pPr algn="l">
              <a:spcAft>
                <a:spcPts val="400"/>
              </a:spcAft>
            </a:pPr>
            <a:r>
              <a:rPr sz="1700">
                <a:solidFill>
                  <a:srgbClr val="BAFF70"/>
                </a:solidFill>
                <a:latin typeface="Consolas"/>
              </a:rPr>
              <a:t>- Exit codes: 0 ok · 1 user error · 2 storage error</a:t>
            </a:r>
          </a:p>
          <a:p>
            <a:pPr algn="l">
              <a:spcAft>
                <a:spcPts val="400"/>
              </a:spcAft>
            </a:pPr>
            <a:r>
              <a:rPr sz="1700">
                <a:solidFill>
                  <a:srgbClr val="BAFF70"/>
                </a:solidFill>
                <a:latin typeface="Consolas"/>
              </a:rPr>
              <a:t>## Protected areas</a:t>
            </a:r>
          </a:p>
          <a:p>
            <a:pPr algn="l">
              <a:spcAft>
                <a:spcPts val="400"/>
              </a:spcAft>
            </a:pPr>
            <a:r>
              <a:rPr sz="1700">
                <a:solidFill>
                  <a:srgbClr val="BAFF70"/>
                </a:solidFill>
                <a:latin typeface="Consolas"/>
              </a:rPr>
              <a:t>- SAFETY.md, .claude/, briefs/ · no commits</a:t>
            </a:r>
          </a:p>
          <a:p>
            <a:pPr algn="l">
              <a:spcAft>
                <a:spcPts val="400"/>
              </a:spcAft>
            </a:pPr>
            <a:r>
              <a:rPr sz="1700">
                <a:solidFill>
                  <a:srgbClr val="BAFF70"/>
                </a:solidFill>
                <a:latin typeface="Consolas"/>
              </a:rPr>
              <a:t>## Acceptance criteria</a:t>
            </a:r>
          </a:p>
          <a:p>
            <a:pPr algn="l">
              <a:spcAft>
                <a:spcPts val="400"/>
              </a:spcAft>
            </a:pPr>
            <a:r>
              <a:rPr sz="1700">
                <a:solidFill>
                  <a:srgbClr val="BAFF70"/>
                </a:solidFill>
                <a:latin typeface="Consolas"/>
              </a:rPr>
              <a:t>AC1 add prints `Added #&lt;id&gt;: &lt;title&gt;`   AC4 pending list sorted by due date</a:t>
            </a:r>
          </a:p>
          <a:p>
            <a:pPr algn="l">
              <a:spcAft>
                <a:spcPts val="400"/>
              </a:spcAft>
            </a:pPr>
            <a:r>
              <a:rPr sz="1700">
                <a:solidFill>
                  <a:srgbClr val="BAFF70"/>
                </a:solidFill>
                <a:latin typeface="Consolas"/>
              </a:rPr>
              <a:t>AC5 owner + status filters combine     AC7 corrupt tasks.json exits 2</a:t>
            </a:r>
          </a:p>
          <a:p>
            <a:pPr algn="l">
              <a:spcAft>
                <a:spcPts val="400"/>
              </a:spcAft>
            </a:pPr>
            <a:r>
              <a:rPr sz="1700">
                <a:solidFill>
                  <a:srgbClr val="BAFF70"/>
                </a:solidFill>
                <a:latin typeface="Consolas"/>
              </a:rPr>
              <a:t>## Required evidence</a:t>
            </a:r>
          </a:p>
          <a:p>
            <a:pPr algn="l">
              <a:spcAft>
                <a:spcPts val="400"/>
              </a:spcAft>
            </a:pPr>
            <a:r>
              <a:rPr sz="1700">
                <a:solidFill>
                  <a:srgbClr val="BAFF70"/>
                </a:solidFill>
                <a:latin typeface="Consolas"/>
              </a:rPr>
              <a:t>- plan · raw test output · AC→test table · real CLI session</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Full brief in parts/02-task-manager/start/briefs/</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026 / 198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PLAN MODE</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Review the plan like a pull request</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Shift+Tab to plan mode: Claude reads and proposes, edits nothing</a:t>
            </a:r>
          </a:p>
          <a:p>
            <a:pPr algn="l">
              <a:spcAft>
                <a:spcPts val="800"/>
              </a:spcAft>
            </a:pPr>
            <a:r>
              <a:rPr sz="2200">
                <a:solidFill>
                  <a:srgbClr val="F8FAFC"/>
                </a:solidFill>
                <a:latin typeface="Arial"/>
              </a:rPr>
              <a:t>•  Challenge storage, error handling, test strategy, edge cases</a:t>
            </a:r>
          </a:p>
          <a:p>
            <a:pPr algn="l">
              <a:spcAft>
                <a:spcPts val="800"/>
              </a:spcAft>
            </a:pPr>
            <a:r>
              <a:rPr sz="2200">
                <a:solidFill>
                  <a:srgbClr val="F8FAFC"/>
                </a:solidFill>
                <a:latin typeface="Arial"/>
              </a:rPr>
              <a:t>•  Reject once with a concrete objection; approve explicitly</a:t>
            </a:r>
          </a:p>
          <a:p>
            <a:pPr algn="l">
              <a:spcAft>
                <a:spcPts val="800"/>
              </a:spcAft>
            </a:pPr>
            <a:r>
              <a:rPr sz="2200">
                <a:solidFill>
                  <a:srgbClr val="F8FAFC"/>
                </a:solidFill>
                <a:latin typeface="Arial"/>
              </a:rPr>
              <a:t>•  Intervene at decision points, not on every line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027 / 198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1645920"/>
            <a:ext cx="10058400" cy="365760"/>
          </a:xfrm>
          <a:prstGeom prst="rect">
            <a:avLst/>
          </a:prstGeom>
          <a:noFill/>
        </p:spPr>
        <p:txBody>
          <a:bodyPr wrap="square" lIns="0" rIns="0" tIns="0" bIns="0">
            <a:spAutoFit/>
          </a:bodyPr>
          <a:lstStyle/>
          <a:p>
            <a:pPr algn="l"/>
            <a:r>
              <a:rPr sz="1400" b="1">
                <a:solidFill>
                  <a:srgbClr val="BAFF70"/>
                </a:solidFill>
                <a:latin typeface="Arial"/>
              </a:rPr>
              <a:t>PROOF, NOT CLAIMS</a:t>
            </a:r>
          </a:p>
        </p:txBody>
      </p:sp>
      <p:sp>
        <p:nvSpPr>
          <p:cNvPr id="5" name="TextBox 4"/>
          <p:cNvSpPr txBox="1"/>
          <p:nvPr/>
        </p:nvSpPr>
        <p:spPr>
          <a:xfrm>
            <a:off x="640080" y="2194560"/>
            <a:ext cx="10789920" cy="2194560"/>
          </a:xfrm>
          <a:prstGeom prst="rect">
            <a:avLst/>
          </a:prstGeom>
          <a:noFill/>
        </p:spPr>
        <p:txBody>
          <a:bodyPr wrap="square" lIns="0" rIns="0" tIns="0" bIns="0">
            <a:spAutoFit/>
          </a:bodyPr>
          <a:lstStyle/>
          <a:p>
            <a:pPr algn="l"/>
            <a:r>
              <a:rPr sz="4000" b="1">
                <a:solidFill>
                  <a:srgbClr val="F8FAFC"/>
                </a:solidFill>
                <a:latin typeface="Arial"/>
              </a:rPr>
              <a:t>“Tests pass” is a claim.</a:t>
            </a:r>
          </a:p>
          <a:p>
            <a:pPr algn="l"/>
            <a:r>
              <a:rPr sz="4000" b="1">
                <a:solidFill>
                  <a:srgbClr val="F8FAFC"/>
                </a:solidFill>
                <a:latin typeface="Arial"/>
              </a:rPr>
              <a:t>“Ran 15 tests … OK” is evidence.</a:t>
            </a:r>
          </a:p>
        </p:txBody>
      </p:sp>
      <p:sp>
        <p:nvSpPr>
          <p:cNvPr id="6" name="TextBox 5"/>
          <p:cNvSpPr txBox="1"/>
          <p:nvPr/>
        </p:nvSpPr>
        <p:spPr>
          <a:xfrm>
            <a:off x="640080" y="4572000"/>
            <a:ext cx="10789920" cy="1097280"/>
          </a:xfrm>
          <a:prstGeom prst="rect">
            <a:avLst/>
          </a:prstGeom>
          <a:noFill/>
        </p:spPr>
        <p:txBody>
          <a:bodyPr wrap="square" lIns="0" rIns="0" tIns="0" bIns="0">
            <a:spAutoFit/>
          </a:bodyPr>
          <a:lstStyle/>
          <a:p>
            <a:pPr algn="l"/>
            <a:r>
              <a:rPr sz="2000" b="0">
                <a:solidFill>
                  <a:srgbClr val="ADBBCD"/>
                </a:solidFill>
                <a:latin typeface="Arial"/>
              </a:rPr>
              <a:t>Ask for the command, the raw output, and the criterion each test proves.</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028 / 198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02 · PROMPT 1 OF 2</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Plan first (plan mode)</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Read briefs/cli-release-task-manager.md and SAFETY.md. Propose an</a:t>
            </a:r>
          </a:p>
          <a:p>
            <a:pPr algn="l">
              <a:spcAft>
                <a:spcPts val="400"/>
              </a:spcAft>
            </a:pPr>
            <a:r>
              <a:rPr sz="2000">
                <a:solidFill>
                  <a:srgbClr val="BAFF70"/>
                </a:solidFill>
                <a:latin typeface="Consolas"/>
              </a:rPr>
              <a:t>implementation plan for shipctl: files, functions, storage format,</a:t>
            </a:r>
          </a:p>
          <a:p>
            <a:pPr algn="l">
              <a:spcAft>
                <a:spcPts val="400"/>
              </a:spcAft>
            </a:pPr>
            <a:r>
              <a:rPr sz="2000">
                <a:solidFill>
                  <a:srgbClr val="BAFF70"/>
                </a:solidFill>
                <a:latin typeface="Consolas"/>
              </a:rPr>
              <a:t>how each acceptance criterion will be tested, and the risks. Do not</a:t>
            </a:r>
          </a:p>
          <a:p>
            <a:pPr algn="l">
              <a:spcAft>
                <a:spcPts val="400"/>
              </a:spcAft>
            </a:pPr>
            <a:r>
              <a:rPr sz="2000">
                <a:solidFill>
                  <a:srgbClr val="BAFF70"/>
                </a:solidFill>
                <a:latin typeface="Consolas"/>
              </a:rPr>
              <a:t>write code yet.</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parts/02-task-manager/PROMPTS.md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029 / 198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02 · PROMPT 2 OF 2</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Implement after approval</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Plan approved. Implement shipctl.py, tests/test_shipctl.py and the</a:t>
            </a:r>
          </a:p>
          <a:p>
            <a:pPr algn="l">
              <a:spcAft>
                <a:spcPts val="400"/>
              </a:spcAft>
            </a:pPr>
            <a:r>
              <a:rPr sz="2000">
                <a:solidFill>
                  <a:srgbClr val="BAFF70"/>
                </a:solidFill>
                <a:latin typeface="Consolas"/>
              </a:rPr>
              <a:t>README section exactly as planned. Run python3 -m unittest discover</a:t>
            </a:r>
          </a:p>
          <a:p>
            <a:pPr algn="l">
              <a:spcAft>
                <a:spcPts val="400"/>
              </a:spcAft>
            </a:pPr>
            <a:r>
              <a:rPr sz="2000">
                <a:solidFill>
                  <a:srgbClr val="BAFF70"/>
                </a:solidFill>
                <a:latin typeface="Consolas"/>
              </a:rPr>
              <a:t>-s tests -v and show the raw output. Then give me a table mapping</a:t>
            </a:r>
          </a:p>
          <a:p>
            <a:pPr algn="l">
              <a:spcAft>
                <a:spcPts val="400"/>
              </a:spcAft>
            </a:pPr>
            <a:r>
              <a:rPr sz="2000">
                <a:solidFill>
                  <a:srgbClr val="BAFF70"/>
                </a:solidFill>
                <a:latin typeface="Consolas"/>
              </a:rPr>
              <a:t>every acceptance criterion (AC1-AC8) to the test that proves it, and</a:t>
            </a:r>
          </a:p>
          <a:p>
            <a:pPr algn="l">
              <a:spcAft>
                <a:spcPts val="400"/>
              </a:spcAft>
            </a:pPr>
            <a:r>
              <a:rPr sz="2000">
                <a:solidFill>
                  <a:srgbClr val="BAFF70"/>
                </a:solidFill>
                <a:latin typeface="Consolas"/>
              </a:rPr>
              <a:t>a short terminal session with real CLI output for AC1, AC4 and AC5</a:t>
            </a:r>
          </a:p>
          <a:p>
            <a:pPr algn="l">
              <a:spcAft>
                <a:spcPts val="400"/>
              </a:spcAft>
            </a:pPr>
            <a:r>
              <a:rPr sz="2000">
                <a:solidFill>
                  <a:srgbClr val="BAFF70"/>
                </a:solidFill>
                <a:latin typeface="Consolas"/>
              </a:rPr>
              <a:t>using SHIPCTL_DB=./demo-tasks.json. Do not commit.</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parts/02-task-manager/PROMPTS.md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030 / 198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pic>
        <p:nvPicPr>
          <p:cNvPr id="2" name="02-task-manager.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02 · EVIDENCE, NOT CLAIMS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the run proved</a:t>
            </a:r>
          </a:p>
        </p:txBody>
      </p:sp>
      <p:sp>
        <p:nvSpPr>
          <p:cNvPr id="6" name="TextBox 5"/>
          <p:cNvSpPr txBox="1"/>
          <p:nvPr/>
        </p:nvSpPr>
        <p:spPr>
          <a:xfrm>
            <a:off x="640080" y="1984248"/>
            <a:ext cx="5349240" cy="365760"/>
          </a:xfrm>
          <a:prstGeom prst="rect">
            <a:avLst/>
          </a:prstGeom>
          <a:noFill/>
        </p:spPr>
        <p:txBody>
          <a:bodyPr wrap="square" lIns="0" rIns="0" tIns="0" bIns="0">
            <a:spAutoFit/>
          </a:bodyPr>
          <a:lstStyle/>
          <a:p>
            <a:pPr algn="l"/>
            <a:r>
              <a:rPr sz="1500" b="1">
                <a:solidFill>
                  <a:srgbClr val="FBBF24"/>
                </a:solidFill>
                <a:latin typeface="Arial"/>
              </a:rPr>
              <a:t>WHAT TO LOOK FOR</a:t>
            </a:r>
          </a:p>
        </p:txBody>
      </p:sp>
      <p:sp>
        <p:nvSpPr>
          <p:cNvPr id="7" name="Rounded Rectangle 6"/>
          <p:cNvSpPr/>
          <p:nvPr/>
        </p:nvSpPr>
        <p:spPr>
          <a:xfrm>
            <a:off x="64008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The approved plan</a:t>
            </a:r>
          </a:p>
          <a:p>
            <a:pPr algn="l">
              <a:spcAft>
                <a:spcPts val="800"/>
              </a:spcAft>
            </a:pPr>
            <a:r>
              <a:rPr sz="1900">
                <a:solidFill>
                  <a:srgbClr val="F8FAFC"/>
                </a:solidFill>
                <a:latin typeface="Arial"/>
              </a:rPr>
              <a:t>•  Raw unittest -v output</a:t>
            </a:r>
          </a:p>
          <a:p>
            <a:pPr algn="l">
              <a:spcAft>
                <a:spcPts val="800"/>
              </a:spcAft>
            </a:pPr>
            <a:r>
              <a:rPr sz="1900">
                <a:solidFill>
                  <a:srgbClr val="F8FAFC"/>
                </a:solidFill>
                <a:latin typeface="Arial"/>
              </a:rPr>
              <a:t>•  AC → test table</a:t>
            </a:r>
          </a:p>
          <a:p>
            <a:pPr algn="l">
              <a:spcAft>
                <a:spcPts val="800"/>
              </a:spcAft>
            </a:pPr>
            <a:r>
              <a:rPr sz="1900">
                <a:solidFill>
                  <a:srgbClr val="F8FAFC"/>
                </a:solidFill>
                <a:latin typeface="Arial"/>
              </a:rPr>
              <a:t>•  Real CLI session for AC1, AC4, AC5</a:t>
            </a:r>
          </a:p>
        </p:txBody>
      </p:sp>
      <p:sp>
        <p:nvSpPr>
          <p:cNvPr id="8" name="TextBox 7"/>
          <p:cNvSpPr txBox="1"/>
          <p:nvPr/>
        </p:nvSpPr>
        <p:spPr>
          <a:xfrm>
            <a:off x="6172200" y="1984248"/>
            <a:ext cx="5349240" cy="365760"/>
          </a:xfrm>
          <a:prstGeom prst="rect">
            <a:avLst/>
          </a:prstGeom>
          <a:noFill/>
        </p:spPr>
        <p:txBody>
          <a:bodyPr wrap="square" lIns="0" rIns="0" tIns="0" bIns="0">
            <a:spAutoFit/>
          </a:bodyPr>
          <a:lstStyle/>
          <a:p>
            <a:pPr algn="l"/>
            <a:r>
              <a:rPr sz="1500" b="1">
                <a:solidFill>
                  <a:srgbClr val="BAFF70"/>
                </a:solidFill>
                <a:latin typeface="Arial"/>
              </a:rPr>
              <a:t>WHAT THE RECORDED RUN PRODUCED</a:t>
            </a:r>
          </a:p>
        </p:txBody>
      </p:sp>
      <p:sp>
        <p:nvSpPr>
          <p:cNvPr id="9" name="Rounded Rectangle 8"/>
          <p:cNvSpPr/>
          <p:nvPr/>
        </p:nvSpPr>
        <p:spPr>
          <a:xfrm>
            <a:off x="617220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2 prompt(s) · 3 min 17 s · $0.50 · 18 tool calls</a:t>
            </a:r>
          </a:p>
          <a:p>
            <a:pPr algn="l">
              <a:spcAft>
                <a:spcPts val="800"/>
              </a:spcAft>
            </a:pPr>
            <a:r>
              <a:rPr sz="1900">
                <a:solidFill>
                  <a:srgbClr val="F8FAFC"/>
                </a:solidFill>
                <a:latin typeface="Arial"/>
              </a:rPr>
              <a:t>•  Tests seen in the run: Ran 33 tests in 4.279s</a:t>
            </a:r>
          </a:p>
          <a:p>
            <a:pPr algn="l">
              <a:spcAft>
                <a:spcPts val="800"/>
              </a:spcAft>
            </a:pPr>
            <a:r>
              <a:rPr sz="1900">
                <a:solidFill>
                  <a:srgbClr val="F8FAFC"/>
                </a:solidFill>
                <a:latin typeface="Arial"/>
              </a:rPr>
              <a:t>•  bin/bootcamp verify: 5 PASS · 0 FAIL</a:t>
            </a:r>
          </a:p>
          <a:p>
            <a:pPr algn="l">
              <a:spcAft>
                <a:spcPts val="800"/>
              </a:spcAft>
            </a:pPr>
            <a:r>
              <a:rPr sz="1900">
                <a:solidFill>
                  <a:srgbClr val="F8FAFC"/>
                </a:solidFill>
                <a:latin typeface="Arial"/>
              </a:rPr>
              <a:t>•  Changed: M README.md, ?? shipctl.py, ?? tests/</a:t>
            </a:r>
          </a:p>
        </p:txBody>
      </p:sp>
      <p:sp>
        <p:nvSpPr>
          <p:cNvPr id="10" name="TextBox 9"/>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032 / 198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02 · DISCUSS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Your turn to think</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Which acceptance criterion was the hardest to prove, and why?</a:t>
            </a:r>
          </a:p>
          <a:p>
            <a:pPr algn="l">
              <a:spcAft>
                <a:spcPts val="800"/>
              </a:spcAft>
            </a:pPr>
            <a:r>
              <a:rPr sz="2200">
                <a:solidFill>
                  <a:srgbClr val="F8FAFC"/>
                </a:solidFill>
                <a:latin typeface="Arial"/>
              </a:rPr>
              <a:t>•  What would you have challenged in the plan?</a:t>
            </a:r>
          </a:p>
          <a:p>
            <a:pPr algn="l">
              <a:spcAft>
                <a:spcPts val="800"/>
              </a:spcAft>
            </a:pPr>
            <a:r>
              <a:rPr sz="2200">
                <a:solidFill>
                  <a:srgbClr val="F8FAFC"/>
                </a:solidFill>
                <a:latin typeface="Arial"/>
              </a:rPr>
              <a:t>•  What is the difference between "tests pass" and "here is the command and its output"?</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033 / 198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02 · LAB</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Hands-on</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Run the two prompts. Reject the first plan once with a concrete objection (for example: atomic writes). Check the evidence table against the brief yourself.</a:t>
            </a:r>
          </a:p>
          <a:p>
            <a:pPr algn="l">
              <a:spcAft>
                <a:spcPts val="800"/>
              </a:spcAft>
            </a:pPr>
            <a:r>
              <a:rPr sz="2200">
                <a:solidFill>
                  <a:srgbClr val="F8FAFC"/>
                </a:solidFill>
                <a:latin typeface="Arial"/>
              </a:rPr>
              <a:t>•  Start: bin/bootcamp stage 02</a:t>
            </a:r>
          </a:p>
          <a:p>
            <a:pPr algn="l">
              <a:spcAft>
                <a:spcPts val="800"/>
              </a:spcAft>
            </a:pPr>
            <a:r>
              <a:rPr sz="2200">
                <a:solidFill>
                  <a:srgbClr val="F8FAFC"/>
                </a:solidFill>
                <a:latin typeface="Arial"/>
              </a:rPr>
              <a:t>•  Prompts: parts/02-task-manager/PROMPTS.md</a:t>
            </a:r>
          </a:p>
          <a:p>
            <a:pPr algn="l">
              <a:spcAft>
                <a:spcPts val="800"/>
              </a:spcAft>
            </a:pPr>
            <a:r>
              <a:rPr sz="2200">
                <a:solidFill>
                  <a:srgbClr val="F8FAFC"/>
                </a:solidFill>
                <a:latin typeface="Arial"/>
              </a:rPr>
              <a:t>•  Check: bin/bootcamp verify</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034 / 198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02 · CHECKPOINT</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 now have</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Working CLI application (shipctl.py)</a:t>
            </a:r>
          </a:p>
          <a:p>
            <a:pPr algn="l">
              <a:spcAft>
                <a:spcPts val="800"/>
              </a:spcAft>
            </a:pPr>
            <a:r>
              <a:rPr sz="2200">
                <a:solidFill>
                  <a:srgbClr val="F8FAFC"/>
                </a:solidFill>
                <a:latin typeface="Arial"/>
              </a:rPr>
              <a:t>✓  Structured engineering brief</a:t>
            </a:r>
          </a:p>
          <a:p>
            <a:pPr algn="l">
              <a:spcAft>
                <a:spcPts val="800"/>
              </a:spcAft>
            </a:pPr>
            <a:r>
              <a:rPr sz="2200">
                <a:solidFill>
                  <a:srgbClr val="F8FAFC"/>
                </a:solidFill>
                <a:latin typeface="Arial"/>
              </a:rPr>
              <a:t>✓  Test suite</a:t>
            </a:r>
          </a:p>
          <a:p>
            <a:pPr algn="l">
              <a:spcAft>
                <a:spcPts val="800"/>
              </a:spcAft>
            </a:pPr>
            <a:r>
              <a:rPr sz="2200">
                <a:solidFill>
                  <a:srgbClr val="F8FAFC"/>
                </a:solidFill>
                <a:latin typeface="Arial"/>
              </a:rPr>
              <a:t>✓  Acceptance evidence table</a:t>
            </a:r>
          </a:p>
          <a:p>
            <a:pPr algn="l">
              <a:spcAft>
                <a:spcPts val="800"/>
              </a:spcAft>
            </a:pPr>
            <a:r>
              <a:rPr sz="2200">
                <a:solidFill>
                  <a:srgbClr val="F8FAFC"/>
                </a:solidFill>
                <a:latin typeface="Arial"/>
              </a:rPr>
              <a:t>✓  README with usage examples</a:t>
            </a:r>
          </a:p>
          <a:p>
            <a:pPr algn="l">
              <a:spcAft>
                <a:spcPts val="800"/>
              </a:spcAft>
            </a:pPr>
            <a:r>
              <a:rPr sz="2200">
                <a:solidFill>
                  <a:srgbClr val="F8FAFC"/>
                </a:solidFill>
                <a:latin typeface="Arial"/>
              </a:rPr>
              <a:t>•  Behind? bin/bootcamp checkpoint 02 --force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035 / 198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2194560"/>
            <a:ext cx="10058400" cy="365760"/>
          </a:xfrm>
          <a:prstGeom prst="rect">
            <a:avLst/>
          </a:prstGeom>
          <a:noFill/>
        </p:spPr>
        <p:txBody>
          <a:bodyPr wrap="square" lIns="0" rIns="0" tIns="0" bIns="0">
            <a:spAutoFit/>
          </a:bodyPr>
          <a:lstStyle/>
          <a:p>
            <a:pPr algn="l"/>
            <a:r>
              <a:rPr sz="1600" b="1">
                <a:solidFill>
                  <a:srgbClr val="BAFF70"/>
                </a:solidFill>
                <a:latin typeface="Arial"/>
              </a:rPr>
              <a:t>PART 03 · 09:45–10:10 · 25 MIN</a:t>
            </a:r>
          </a:p>
        </p:txBody>
      </p:sp>
      <p:sp>
        <p:nvSpPr>
          <p:cNvPr id="5" name="TextBox 4"/>
          <p:cNvSpPr txBox="1"/>
          <p:nvPr/>
        </p:nvSpPr>
        <p:spPr>
          <a:xfrm>
            <a:off x="640080" y="2697480"/>
            <a:ext cx="10789920" cy="1463040"/>
          </a:xfrm>
          <a:prstGeom prst="rect">
            <a:avLst/>
          </a:prstGeom>
          <a:noFill/>
        </p:spPr>
        <p:txBody>
          <a:bodyPr wrap="square" lIns="0" rIns="0" tIns="0" bIns="0">
            <a:spAutoFit/>
          </a:bodyPr>
          <a:lstStyle/>
          <a:p>
            <a:pPr algn="l"/>
            <a:r>
              <a:rPr sz="4600" b="1">
                <a:solidFill>
                  <a:srgbClr val="F8FAFC"/>
                </a:solidFill>
                <a:latin typeface="Arial"/>
              </a:rPr>
              <a:t>CLAUDE.md, scoped rules and auto memory</a:t>
            </a:r>
          </a:p>
        </p:txBody>
      </p:sp>
      <p:sp>
        <p:nvSpPr>
          <p:cNvPr id="6" name="TextBox 5"/>
          <p:cNvSpPr txBox="1"/>
          <p:nvPr/>
        </p:nvSpPr>
        <p:spPr>
          <a:xfrm>
            <a:off x="640080" y="4297680"/>
            <a:ext cx="10789920" cy="914400"/>
          </a:xfrm>
          <a:prstGeom prst="rect">
            <a:avLst/>
          </a:prstGeom>
          <a:noFill/>
        </p:spPr>
        <p:txBody>
          <a:bodyPr wrap="square" lIns="0" rIns="0" tIns="0" bIns="0">
            <a:spAutoFit/>
          </a:bodyPr>
          <a:lstStyle/>
          <a:p>
            <a:pPr algn="l"/>
            <a:r>
              <a:rPr sz="2000" b="0">
                <a:solidFill>
                  <a:srgbClr val="ADBBCD"/>
                </a:solidFill>
                <a:latin typeface="Arial"/>
              </a:rPr>
              <a:t>Project 3: Project Brain</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036 / 198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03 · GOALS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you will be able to do</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Decide what belongs in CLAUDE.md, and what does not</a:t>
            </a:r>
          </a:p>
          <a:p>
            <a:pPr algn="l">
              <a:spcAft>
                <a:spcPts val="800"/>
              </a:spcAft>
            </a:pPr>
            <a:r>
              <a:rPr sz="2200">
                <a:solidFill>
                  <a:srgbClr val="F8FAFC"/>
                </a:solidFill>
                <a:latin typeface="Arial"/>
              </a:rPr>
              <a:t>•  Record build/test commands, conventions, security rules and do-not-touch areas concisely</a:t>
            </a:r>
          </a:p>
          <a:p>
            <a:pPr algn="l">
              <a:spcAft>
                <a:spcPts val="800"/>
              </a:spcAft>
            </a:pPr>
            <a:r>
              <a:rPr sz="2200">
                <a:solidFill>
                  <a:srgbClr val="F8FAFC"/>
                </a:solidFill>
                <a:latin typeface="Arial"/>
              </a:rPr>
              <a:t>•  Use .claude/rules with paths: for directory- or language-specific instructions</a:t>
            </a:r>
          </a:p>
          <a:p>
            <a:pPr algn="l">
              <a:spcAft>
                <a:spcPts val="800"/>
              </a:spcAft>
            </a:pPr>
            <a:r>
              <a:rPr sz="2200">
                <a:solidFill>
                  <a:srgbClr val="F8FAFC"/>
                </a:solidFill>
                <a:latin typeface="Arial"/>
              </a:rPr>
              <a:t>•  Move occasional reference material into Skills</a:t>
            </a:r>
          </a:p>
          <a:p>
            <a:pPr algn="l">
              <a:spcAft>
                <a:spcPts val="800"/>
              </a:spcAft>
            </a:pPr>
            <a:r>
              <a:rPr sz="2200">
                <a:solidFill>
                  <a:srgbClr val="F8FAFC"/>
                </a:solidFill>
                <a:latin typeface="Arial"/>
              </a:rPr>
              <a:t>•  Review, correct and remove stale auto memory</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037 / 198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CLAUDE.MD</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belongs in CLAUDE.md</a:t>
            </a:r>
          </a:p>
        </p:txBody>
      </p:sp>
      <p:sp>
        <p:nvSpPr>
          <p:cNvPr id="6" name="TextBox 5"/>
          <p:cNvSpPr txBox="1"/>
          <p:nvPr/>
        </p:nvSpPr>
        <p:spPr>
          <a:xfrm>
            <a:off x="640080" y="1984248"/>
            <a:ext cx="5349240" cy="365760"/>
          </a:xfrm>
          <a:prstGeom prst="rect">
            <a:avLst/>
          </a:prstGeom>
          <a:noFill/>
        </p:spPr>
        <p:txBody>
          <a:bodyPr wrap="square" lIns="0" rIns="0" tIns="0" bIns="0">
            <a:spAutoFit/>
          </a:bodyPr>
          <a:lstStyle/>
          <a:p>
            <a:pPr algn="l"/>
            <a:r>
              <a:rPr sz="1500" b="1">
                <a:solidFill>
                  <a:srgbClr val="FBBF24"/>
                </a:solidFill>
                <a:latin typeface="Arial"/>
              </a:rPr>
              <a:t>IN</a:t>
            </a:r>
          </a:p>
        </p:txBody>
      </p:sp>
      <p:sp>
        <p:nvSpPr>
          <p:cNvPr id="7" name="Rounded Rectangle 6"/>
          <p:cNvSpPr/>
          <p:nvPr/>
        </p:nvSpPr>
        <p:spPr>
          <a:xfrm>
            <a:off x="64008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Stack and exact commands</a:t>
            </a:r>
          </a:p>
          <a:p>
            <a:pPr algn="l">
              <a:spcAft>
                <a:spcPts val="800"/>
              </a:spcAft>
            </a:pPr>
            <a:r>
              <a:rPr sz="1900">
                <a:solidFill>
                  <a:srgbClr val="F8FAFC"/>
                </a:solidFill>
                <a:latin typeface="Arial"/>
              </a:rPr>
              <a:t>•  Conventions Claude can't infer</a:t>
            </a:r>
          </a:p>
          <a:p>
            <a:pPr algn="l">
              <a:spcAft>
                <a:spcPts val="800"/>
              </a:spcAft>
            </a:pPr>
            <a:r>
              <a:rPr sz="1900">
                <a:solidFill>
                  <a:srgbClr val="F8FAFC"/>
                </a:solidFill>
                <a:latin typeface="Arial"/>
              </a:rPr>
              <a:t>•  Exit-code and API contracts</a:t>
            </a:r>
          </a:p>
          <a:p>
            <a:pPr algn="l">
              <a:spcAft>
                <a:spcPts val="800"/>
              </a:spcAft>
            </a:pPr>
            <a:r>
              <a:rPr sz="1900">
                <a:solidFill>
                  <a:srgbClr val="F8FAFC"/>
                </a:solidFill>
                <a:latin typeface="Arial"/>
              </a:rPr>
              <a:t>•  Protected files, do-not rules</a:t>
            </a:r>
          </a:p>
          <a:p>
            <a:pPr algn="l">
              <a:spcAft>
                <a:spcPts val="800"/>
              </a:spcAft>
            </a:pPr>
            <a:r>
              <a:rPr sz="1900">
                <a:solidFill>
                  <a:srgbClr val="F8FAFC"/>
                </a:solidFill>
                <a:latin typeface="Arial"/>
              </a:rPr>
              <a:t>•  Pointers: @SAFETY.md</a:t>
            </a:r>
          </a:p>
        </p:txBody>
      </p:sp>
      <p:sp>
        <p:nvSpPr>
          <p:cNvPr id="8" name="TextBox 7"/>
          <p:cNvSpPr txBox="1"/>
          <p:nvPr/>
        </p:nvSpPr>
        <p:spPr>
          <a:xfrm>
            <a:off x="6172200" y="1984248"/>
            <a:ext cx="5349240" cy="365760"/>
          </a:xfrm>
          <a:prstGeom prst="rect">
            <a:avLst/>
          </a:prstGeom>
          <a:noFill/>
        </p:spPr>
        <p:txBody>
          <a:bodyPr wrap="square" lIns="0" rIns="0" tIns="0" bIns="0">
            <a:spAutoFit/>
          </a:bodyPr>
          <a:lstStyle/>
          <a:p>
            <a:pPr algn="l"/>
            <a:r>
              <a:rPr sz="1500" b="1">
                <a:solidFill>
                  <a:srgbClr val="BAFF70"/>
                </a:solidFill>
                <a:latin typeface="Arial"/>
              </a:rPr>
              <a:t>OUT</a:t>
            </a:r>
          </a:p>
        </p:txBody>
      </p:sp>
      <p:sp>
        <p:nvSpPr>
          <p:cNvPr id="9" name="Rounded Rectangle 8"/>
          <p:cNvSpPr/>
          <p:nvPr/>
        </p:nvSpPr>
        <p:spPr>
          <a:xfrm>
            <a:off x="617220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Long reference material (→ Skills)</a:t>
            </a:r>
          </a:p>
          <a:p>
            <a:pPr algn="l">
              <a:spcAft>
                <a:spcPts val="800"/>
              </a:spcAft>
            </a:pPr>
            <a:r>
              <a:rPr sz="1900">
                <a:solidFill>
                  <a:srgbClr val="F8FAFC"/>
                </a:solidFill>
                <a:latin typeface="Arial"/>
              </a:rPr>
              <a:t>•  Path-specific rules (→ .claude/rules)</a:t>
            </a:r>
          </a:p>
          <a:p>
            <a:pPr algn="l">
              <a:spcAft>
                <a:spcPts val="800"/>
              </a:spcAft>
            </a:pPr>
            <a:r>
              <a:rPr sz="1900">
                <a:solidFill>
                  <a:srgbClr val="F8FAFC"/>
                </a:solidFill>
                <a:latin typeface="Arial"/>
              </a:rPr>
              <a:t>•  Things the code already says</a:t>
            </a:r>
          </a:p>
          <a:p>
            <a:pPr algn="l">
              <a:spcAft>
                <a:spcPts val="800"/>
              </a:spcAft>
            </a:pPr>
            <a:r>
              <a:rPr sz="1900">
                <a:solidFill>
                  <a:srgbClr val="F8FAFC"/>
                </a:solidFill>
                <a:latin typeface="Arial"/>
              </a:rPr>
              <a:t>•  Personal preferences (→ auto memory)</a:t>
            </a:r>
          </a:p>
          <a:p>
            <a:pPr algn="l">
              <a:spcAft>
                <a:spcPts val="800"/>
              </a:spcAft>
            </a:pPr>
            <a:r>
              <a:rPr sz="1900">
                <a:solidFill>
                  <a:srgbClr val="F8FAFC"/>
                </a:solidFill>
                <a:latin typeface="Arial"/>
              </a:rPr>
              <a:t>•  Secrets, ever</a:t>
            </a:r>
          </a:p>
        </p:txBody>
      </p:sp>
      <p:sp>
        <p:nvSpPr>
          <p:cNvPr id="10" name="TextBox 9"/>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038 / 198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PATH-SCOPED RULES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.claude/rules/tests.md</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a:t>
            </a:r>
          </a:p>
          <a:p>
            <a:pPr algn="l">
              <a:spcAft>
                <a:spcPts val="400"/>
              </a:spcAft>
            </a:pPr>
            <a:r>
              <a:rPr sz="2000">
                <a:solidFill>
                  <a:srgbClr val="BAFF70"/>
                </a:solidFill>
                <a:latin typeface="Consolas"/>
              </a:rPr>
              <a:t>paths:</a:t>
            </a:r>
          </a:p>
          <a:p>
            <a:pPr algn="l">
              <a:spcAft>
                <a:spcPts val="400"/>
              </a:spcAft>
            </a:pPr>
            <a:r>
              <a:rPr sz="2000">
                <a:solidFill>
                  <a:srgbClr val="BAFF70"/>
                </a:solidFill>
                <a:latin typeface="Consolas"/>
              </a:rPr>
              <a:t>  - "tests/**/*.py"</a:t>
            </a:r>
          </a:p>
          <a:p>
            <a:pPr algn="l">
              <a:spcAft>
                <a:spcPts val="400"/>
              </a:spcAft>
            </a:pPr>
            <a:r>
              <a:rPr sz="2000">
                <a:solidFill>
                  <a:srgbClr val="BAFF70"/>
                </a:solidFill>
                <a:latin typeface="Consolas"/>
              </a:rPr>
              <a:t>---</a:t>
            </a:r>
          </a:p>
          <a:p>
            <a:pPr algn="l">
              <a:spcAft>
                <a:spcPts val="400"/>
              </a:spcAft>
            </a:pPr>
            <a:r>
              <a:rPr sz="2000">
                <a:solidFill>
                  <a:srgbClr val="BAFF70"/>
                </a:solidFill>
                <a:latin typeface="Consolas"/>
              </a:rPr>
              <a:t/>
            </a:r>
          </a:p>
          <a:p>
            <a:pPr algn="l">
              <a:spcAft>
                <a:spcPts val="400"/>
              </a:spcAft>
            </a:pPr>
            <a:r>
              <a:rPr sz="2000">
                <a:solidFill>
                  <a:srgbClr val="BAFF70"/>
                </a:solidFill>
                <a:latin typeface="Consolas"/>
              </a:rPr>
              <a:t># Test conventions</a:t>
            </a:r>
          </a:p>
          <a:p>
            <a:pPr algn="l">
              <a:spcAft>
                <a:spcPts val="400"/>
              </a:spcAft>
            </a:pPr>
            <a:r>
              <a:rPr sz="2000">
                <a:solidFill>
                  <a:srgbClr val="BAFF70"/>
                </a:solidFill>
                <a:latin typeface="Consolas"/>
              </a:rPr>
              <a:t>- One TestCase class per behaviour: &lt;Behaviour&gt;Tests</a:t>
            </a:r>
          </a:p>
          <a:p>
            <a:pPr algn="l">
              <a:spcAft>
                <a:spcPts val="400"/>
              </a:spcAft>
            </a:pPr>
            <a:r>
              <a:rPr sz="2000">
                <a:solidFill>
                  <a:srgbClr val="BAFF70"/>
                </a:solidFill>
                <a:latin typeface="Consolas"/>
              </a:rPr>
              <a:t>- Never touch the real tasks.json: SHIPCTL_DB → temp dir</a:t>
            </a:r>
          </a:p>
          <a:p>
            <a:pPr algn="l">
              <a:spcAft>
                <a:spcPts val="400"/>
              </a:spcAft>
            </a:pPr>
            <a:r>
              <a:rPr sz="2000">
                <a:solidFill>
                  <a:srgbClr val="BAFF70"/>
                </a:solidFill>
                <a:latin typeface="Consolas"/>
              </a:rPr>
              <a:t>- Assert exit codes and exact messages</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Loaded only when Claude works on matching files. The only frontmatter key is paths:.</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039 / 198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MEMORY, LAYERED</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Who remembers what</a:t>
            </a:r>
          </a:p>
        </p:txBody>
      </p:sp>
      <p:graphicFrame>
        <p:nvGraphicFramePr>
          <p:cNvPr id="6" name="Table 5"/>
          <p:cNvGraphicFramePr>
            <a:graphicFrameLocks noGrp="1"/>
          </p:cNvGraphicFramePr>
          <p:nvPr/>
        </p:nvGraphicFramePr>
        <p:xfrm>
          <a:off x="640080" y="1984248"/>
          <a:ext cx="10881359" cy="2377440"/>
        </p:xfrm>
        <a:graphic>
          <a:graphicData uri="http://schemas.openxmlformats.org/drawingml/2006/table">
            <a:tbl>
              <a:tblPr>
                <a:tableStyleId>{5C22544A-7EE6-4342-B048-85BDC9FD1C3A}</a:tableStyleId>
              </a:tblPr>
              <a:tblGrid>
                <a:gridCol w="1760579"/>
                <a:gridCol w="7042318"/>
                <a:gridCol w="2078462"/>
              </a:tblGrid>
              <a:tr h="475488">
                <a:tc>
                  <a:txBody>
                    <a:bodyPr wrap="square"/>
                    <a:lstStyle/>
                    <a:p>
                      <a:r>
                        <a:rPr sz="1600" b="1">
                          <a:solidFill>
                            <a:srgbClr val="BAFF70"/>
                          </a:solidFill>
                          <a:latin typeface="Arial"/>
                        </a:rPr>
                        <a:t>Layer</a:t>
                      </a:r>
                    </a:p>
                  </a:txBody>
                  <a:tcPr marL="109728" marR="109728">
                    <a:solidFill>
                      <a:srgbClr val="22324A"/>
                    </a:solidFill>
                  </a:tcPr>
                </a:tc>
                <a:tc>
                  <a:txBody>
                    <a:bodyPr wrap="square"/>
                    <a:lstStyle/>
                    <a:p>
                      <a:r>
                        <a:rPr sz="1600" b="1">
                          <a:solidFill>
                            <a:srgbClr val="BAFF70"/>
                          </a:solidFill>
                          <a:latin typeface="Arial"/>
                        </a:rPr>
                        <a:t>Where</a:t>
                      </a:r>
                    </a:p>
                  </a:txBody>
                  <a:tcPr marL="109728" marR="109728">
                    <a:solidFill>
                      <a:srgbClr val="22324A"/>
                    </a:solidFill>
                  </a:tcPr>
                </a:tc>
                <a:tc>
                  <a:txBody>
                    <a:bodyPr wrap="square"/>
                    <a:lstStyle/>
                    <a:p>
                      <a:r>
                        <a:rPr sz="1600" b="1">
                          <a:solidFill>
                            <a:srgbClr val="BAFF70"/>
                          </a:solidFill>
                          <a:latin typeface="Arial"/>
                        </a:rPr>
                        <a:t>Reviewed by</a:t>
                      </a:r>
                    </a:p>
                  </a:txBody>
                  <a:tcPr marL="109728" marR="109728">
                    <a:solidFill>
                      <a:srgbClr val="22324A"/>
                    </a:solidFill>
                  </a:tcPr>
                </a:tc>
              </a:tr>
              <a:tr h="475488">
                <a:tc>
                  <a:txBody>
                    <a:bodyPr wrap="square"/>
                    <a:lstStyle/>
                    <a:p>
                      <a:r>
                        <a:rPr sz="1600" b="1">
                          <a:solidFill>
                            <a:srgbClr val="F8FAFC"/>
                          </a:solidFill>
                          <a:latin typeface="Arial"/>
                        </a:rPr>
                        <a:t>CLAUDE.md</a:t>
                      </a:r>
                    </a:p>
                  </a:txBody>
                  <a:tcPr marL="109728" marR="109728">
                    <a:solidFill>
                      <a:srgbClr val="1A283B"/>
                    </a:solidFill>
                  </a:tcPr>
                </a:tc>
                <a:tc>
                  <a:txBody>
                    <a:bodyPr wrap="square"/>
                    <a:lstStyle/>
                    <a:p>
                      <a:r>
                        <a:rPr sz="1600" b="0">
                          <a:solidFill>
                            <a:srgbClr val="ADBBCD"/>
                          </a:solidFill>
                          <a:latin typeface="Arial"/>
                        </a:rPr>
                        <a:t>repo root, versioned</a:t>
                      </a:r>
                    </a:p>
                  </a:txBody>
                  <a:tcPr marL="109728" marR="109728">
                    <a:solidFill>
                      <a:srgbClr val="1A283B"/>
                    </a:solidFill>
                  </a:tcPr>
                </a:tc>
                <a:tc>
                  <a:txBody>
                    <a:bodyPr wrap="square"/>
                    <a:lstStyle/>
                    <a:p>
                      <a:r>
                        <a:rPr sz="1600" b="0">
                          <a:solidFill>
                            <a:srgbClr val="ADBBCD"/>
                          </a:solidFill>
                          <a:latin typeface="Arial"/>
                        </a:rPr>
                        <a:t>the team, in PRs</a:t>
                      </a:r>
                    </a:p>
                  </a:txBody>
                  <a:tcPr marL="109728" marR="109728">
                    <a:solidFill>
                      <a:srgbClr val="1A283B"/>
                    </a:solidFill>
                  </a:tcPr>
                </a:tc>
              </a:tr>
              <a:tr h="475488">
                <a:tc>
                  <a:txBody>
                    <a:bodyPr wrap="square"/>
                    <a:lstStyle/>
                    <a:p>
                      <a:r>
                        <a:rPr sz="1600" b="1">
                          <a:solidFill>
                            <a:srgbClr val="F8FAFC"/>
                          </a:solidFill>
                          <a:latin typeface="Arial"/>
                        </a:rPr>
                        <a:t>Rules</a:t>
                      </a:r>
                    </a:p>
                  </a:txBody>
                  <a:tcPr marL="109728" marR="109728">
                    <a:solidFill>
                      <a:srgbClr val="15233A"/>
                    </a:solidFill>
                  </a:tcPr>
                </a:tc>
                <a:tc>
                  <a:txBody>
                    <a:bodyPr wrap="square"/>
                    <a:lstStyle/>
                    <a:p>
                      <a:r>
                        <a:rPr sz="1600" b="0">
                          <a:solidFill>
                            <a:srgbClr val="ADBBCD"/>
                          </a:solidFill>
                          <a:latin typeface="Arial"/>
                        </a:rPr>
                        <a:t>.claude/rules/*.md with paths:</a:t>
                      </a:r>
                    </a:p>
                  </a:txBody>
                  <a:tcPr marL="109728" marR="109728">
                    <a:solidFill>
                      <a:srgbClr val="15233A"/>
                    </a:solidFill>
                  </a:tcPr>
                </a:tc>
                <a:tc>
                  <a:txBody>
                    <a:bodyPr wrap="square"/>
                    <a:lstStyle/>
                    <a:p>
                      <a:r>
                        <a:rPr sz="1600" b="0">
                          <a:solidFill>
                            <a:srgbClr val="ADBBCD"/>
                          </a:solidFill>
                          <a:latin typeface="Arial"/>
                        </a:rPr>
                        <a:t>the team</a:t>
                      </a:r>
                    </a:p>
                  </a:txBody>
                  <a:tcPr marL="109728" marR="109728">
                    <a:solidFill>
                      <a:srgbClr val="15233A"/>
                    </a:solidFill>
                  </a:tcPr>
                </a:tc>
              </a:tr>
              <a:tr h="475488">
                <a:tc>
                  <a:txBody>
                    <a:bodyPr wrap="square"/>
                    <a:lstStyle/>
                    <a:p>
                      <a:r>
                        <a:rPr sz="1600" b="1">
                          <a:solidFill>
                            <a:srgbClr val="F8FAFC"/>
                          </a:solidFill>
                          <a:latin typeface="Arial"/>
                        </a:rPr>
                        <a:t>Skills</a:t>
                      </a:r>
                    </a:p>
                  </a:txBody>
                  <a:tcPr marL="109728" marR="109728">
                    <a:solidFill>
                      <a:srgbClr val="1A283B"/>
                    </a:solidFill>
                  </a:tcPr>
                </a:tc>
                <a:tc>
                  <a:txBody>
                    <a:bodyPr wrap="square"/>
                    <a:lstStyle/>
                    <a:p>
                      <a:r>
                        <a:rPr sz="1600" b="0">
                          <a:solidFill>
                            <a:srgbClr val="ADBBCD"/>
                          </a:solidFill>
                          <a:latin typeface="Arial"/>
                        </a:rPr>
                        <a:t>.claude/skills/&lt;name&gt;/SKILL.md</a:t>
                      </a:r>
                    </a:p>
                  </a:txBody>
                  <a:tcPr marL="109728" marR="109728">
                    <a:solidFill>
                      <a:srgbClr val="1A283B"/>
                    </a:solidFill>
                  </a:tcPr>
                </a:tc>
                <a:tc>
                  <a:txBody>
                    <a:bodyPr wrap="square"/>
                    <a:lstStyle/>
                    <a:p>
                      <a:r>
                        <a:rPr sz="1600" b="0">
                          <a:solidFill>
                            <a:srgbClr val="ADBBCD"/>
                          </a:solidFill>
                          <a:latin typeface="Arial"/>
                        </a:rPr>
                        <a:t>the team</a:t>
                      </a:r>
                    </a:p>
                  </a:txBody>
                  <a:tcPr marL="109728" marR="109728">
                    <a:solidFill>
                      <a:srgbClr val="1A283B"/>
                    </a:solidFill>
                  </a:tcPr>
                </a:tc>
              </a:tr>
              <a:tr h="475488">
                <a:tc>
                  <a:txBody>
                    <a:bodyPr wrap="square"/>
                    <a:lstStyle/>
                    <a:p>
                      <a:r>
                        <a:rPr sz="1600" b="1">
                          <a:solidFill>
                            <a:srgbClr val="F8FAFC"/>
                          </a:solidFill>
                          <a:latin typeface="Arial"/>
                        </a:rPr>
                        <a:t>Auto memory</a:t>
                      </a:r>
                    </a:p>
                  </a:txBody>
                  <a:tcPr marL="109728" marR="109728">
                    <a:solidFill>
                      <a:srgbClr val="15233A"/>
                    </a:solidFill>
                  </a:tcPr>
                </a:tc>
                <a:tc>
                  <a:txBody>
                    <a:bodyPr wrap="square"/>
                    <a:lstStyle/>
                    <a:p>
                      <a:r>
                        <a:rPr sz="1600" b="0">
                          <a:solidFill>
                            <a:srgbClr val="ADBBCD"/>
                          </a:solidFill>
                          <a:latin typeface="Arial"/>
                        </a:rPr>
                        <a:t>~/.claude/projects/&lt;project&gt;/memory/</a:t>
                      </a:r>
                    </a:p>
                  </a:txBody>
                  <a:tcPr marL="109728" marR="109728">
                    <a:solidFill>
                      <a:srgbClr val="15233A"/>
                    </a:solidFill>
                  </a:tcPr>
                </a:tc>
                <a:tc>
                  <a:txBody>
                    <a:bodyPr wrap="square"/>
                    <a:lstStyle/>
                    <a:p>
                      <a:r>
                        <a:rPr sz="1600" b="0">
                          <a:solidFill>
                            <a:srgbClr val="ADBBCD"/>
                          </a:solidFill>
                          <a:latin typeface="Arial"/>
                        </a:rPr>
                        <a:t>you, with /memory</a:t>
                      </a:r>
                    </a:p>
                  </a:txBody>
                  <a:tcPr marL="109728" marR="109728">
                    <a:solidFill>
                      <a:srgbClr val="15233A"/>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040 / 198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1645920"/>
            <a:ext cx="10058400" cy="365760"/>
          </a:xfrm>
          <a:prstGeom prst="rect">
            <a:avLst/>
          </a:prstGeom>
          <a:noFill/>
        </p:spPr>
        <p:txBody>
          <a:bodyPr wrap="square" lIns="0" rIns="0" tIns="0" bIns="0">
            <a:spAutoFit/>
          </a:bodyPr>
          <a:lstStyle/>
          <a:p>
            <a:pPr algn="l"/>
            <a:r>
              <a:rPr sz="1400" b="1">
                <a:solidFill>
                  <a:srgbClr val="BAFF70"/>
                </a:solidFill>
                <a:latin typeface="Arial"/>
              </a:rPr>
              <a:t>HOW WE TEST THE BRAIN</a:t>
            </a:r>
          </a:p>
        </p:txBody>
      </p:sp>
      <p:sp>
        <p:nvSpPr>
          <p:cNvPr id="5" name="TextBox 4"/>
          <p:cNvSpPr txBox="1"/>
          <p:nvPr/>
        </p:nvSpPr>
        <p:spPr>
          <a:xfrm>
            <a:off x="640080" y="2194560"/>
            <a:ext cx="10789920" cy="2194560"/>
          </a:xfrm>
          <a:prstGeom prst="rect">
            <a:avLst/>
          </a:prstGeom>
          <a:noFill/>
        </p:spPr>
        <p:txBody>
          <a:bodyPr wrap="square" lIns="0" rIns="0" tIns="0" bIns="0">
            <a:spAutoFit/>
          </a:bodyPr>
          <a:lstStyle/>
          <a:p>
            <a:pPr algn="l"/>
            <a:r>
              <a:rPr sz="4000" b="1">
                <a:solidFill>
                  <a:srgbClr val="F8FAFC"/>
                </a:solidFill>
                <a:latin typeface="Arial"/>
              </a:rPr>
              <a:t>Make a change. Check the diff against the rules.</a:t>
            </a:r>
          </a:p>
        </p:txBody>
      </p:sp>
      <p:sp>
        <p:nvSpPr>
          <p:cNvPr id="6" name="TextBox 5"/>
          <p:cNvSpPr txBox="1"/>
          <p:nvPr/>
        </p:nvSpPr>
        <p:spPr>
          <a:xfrm>
            <a:off x="640080" y="4572000"/>
            <a:ext cx="10789920" cy="1097280"/>
          </a:xfrm>
          <a:prstGeom prst="rect">
            <a:avLst/>
          </a:prstGeom>
          <a:noFill/>
        </p:spPr>
        <p:txBody>
          <a:bodyPr wrap="square" lIns="0" rIns="0" tIns="0" bIns="0">
            <a:spAutoFit/>
          </a:bodyPr>
          <a:lstStyle/>
          <a:p>
            <a:pPr algn="l"/>
            <a:r>
              <a:rPr sz="2000" b="0">
                <a:solidFill>
                  <a:srgbClr val="ADBBCD"/>
                </a:solidFill>
                <a:latin typeface="Arial"/>
              </a:rPr>
              <a:t>shipctl stats: cmd_ naming · README table updated · test class conventions · exit codes intact</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041 / 198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03 · PROMPT 1 OF 2</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Write the project brain</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Create a concise CLAUDE.md for this repository (under 60 lines):</a:t>
            </a:r>
          </a:p>
          <a:p>
            <a:pPr algn="l">
              <a:spcAft>
                <a:spcPts val="400"/>
              </a:spcAft>
            </a:pPr>
            <a:r>
              <a:rPr sz="2000">
                <a:solidFill>
                  <a:srgbClr val="BAFF70"/>
                </a:solidFill>
                <a:latin typeface="Consolas"/>
              </a:rPr>
              <a:t>stack, exact build and test commands, conventions you can infer from</a:t>
            </a:r>
          </a:p>
          <a:p>
            <a:pPr algn="l">
              <a:spcAft>
                <a:spcPts val="400"/>
              </a:spcAft>
            </a:pPr>
            <a:r>
              <a:rPr sz="2000">
                <a:solidFill>
                  <a:srgbClr val="BAFF70"/>
                </a:solidFill>
                <a:latin typeface="Consolas"/>
              </a:rPr>
              <a:t>shipctl.py and tests/, the exit-code contract, protected files</a:t>
            </a:r>
          </a:p>
          <a:p>
            <a:pPr algn="l">
              <a:spcAft>
                <a:spcPts val="400"/>
              </a:spcAft>
            </a:pPr>
            <a:r>
              <a:rPr sz="2000">
                <a:solidFill>
                  <a:srgbClr val="BAFF70"/>
                </a:solidFill>
                <a:latin typeface="Consolas"/>
              </a:rPr>
              <a:t>(SAFETY.md, .claude/settings.json, briefs/), and do-not rules. Then</a:t>
            </a:r>
          </a:p>
          <a:p>
            <a:pPr algn="l">
              <a:spcAft>
                <a:spcPts val="400"/>
              </a:spcAft>
            </a:pPr>
            <a:r>
              <a:rPr sz="2000">
                <a:solidFill>
                  <a:srgbClr val="BAFF70"/>
                </a:solidFill>
                <a:latin typeface="Consolas"/>
              </a:rPr>
              <a:t>create two path-scoped rules with `paths:` frontmatter:</a:t>
            </a:r>
          </a:p>
          <a:p>
            <a:pPr algn="l">
              <a:spcAft>
                <a:spcPts val="400"/>
              </a:spcAft>
            </a:pPr>
            <a:r>
              <a:rPr sz="2000">
                <a:solidFill>
                  <a:srgbClr val="BAFF70"/>
                </a:solidFill>
                <a:latin typeface="Consolas"/>
              </a:rPr>
              <a:t>.claude/rules/tests.md for tests/**/*.py and .claude/rules/cli.md</a:t>
            </a:r>
          </a:p>
          <a:p>
            <a:pPr algn="l">
              <a:spcAft>
                <a:spcPts val="400"/>
              </a:spcAft>
            </a:pPr>
            <a:r>
              <a:rPr sz="2000">
                <a:solidFill>
                  <a:srgbClr val="BAFF70"/>
                </a:solidFill>
                <a:latin typeface="Consolas"/>
              </a:rPr>
              <a:t>for shipctl.py. Keep anything occasional out of CLAUDE.md. Do not</a:t>
            </a:r>
          </a:p>
          <a:p>
            <a:pPr algn="l">
              <a:spcAft>
                <a:spcPts val="400"/>
              </a:spcAft>
            </a:pPr>
            <a:r>
              <a:rPr sz="2000">
                <a:solidFill>
                  <a:srgbClr val="BAFF70"/>
                </a:solidFill>
                <a:latin typeface="Consolas"/>
              </a:rPr>
              <a:t>commit.</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parts/03-project-brain/PROMPTS.md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042 / 198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03 · PROMPT 2 OF 2</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Prove the context is applied</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Add a `shipctl stats` command that prints pending, done and overdue</a:t>
            </a:r>
          </a:p>
          <a:p>
            <a:pPr algn="l">
              <a:spcAft>
                <a:spcPts val="400"/>
              </a:spcAft>
            </a:pPr>
            <a:r>
              <a:rPr sz="2000">
                <a:solidFill>
                  <a:srgbClr val="BAFF70"/>
                </a:solidFill>
                <a:latin typeface="Consolas"/>
              </a:rPr>
              <a:t>counts per owner. Follow CLAUDE.md and the rules in .claude/rules.</a:t>
            </a:r>
          </a:p>
          <a:p>
            <a:pPr algn="l">
              <a:spcAft>
                <a:spcPts val="400"/>
              </a:spcAft>
            </a:pPr>
            <a:r>
              <a:rPr sz="2000">
                <a:solidFill>
                  <a:srgbClr val="BAFF70"/>
                </a:solidFill>
                <a:latin typeface="Consolas"/>
              </a:rPr>
              <a:t>When done, list which specific rules you applied and where, run the</a:t>
            </a:r>
          </a:p>
          <a:p>
            <a:pPr algn="l">
              <a:spcAft>
                <a:spcPts val="400"/>
              </a:spcAft>
            </a:pPr>
            <a:r>
              <a:rPr sz="2000">
                <a:solidFill>
                  <a:srgbClr val="BAFF70"/>
                </a:solidFill>
                <a:latin typeface="Consolas"/>
              </a:rPr>
              <a:t>full test suite and show the raw output. Do not commit.</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parts/03-project-brain/PROMPTS.md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043 / 198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pic>
        <p:nvPicPr>
          <p:cNvPr id="2" name="03-project-brain.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03 · EVIDENCE, NOT CLAIMS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the run proved</a:t>
            </a:r>
          </a:p>
        </p:txBody>
      </p:sp>
      <p:sp>
        <p:nvSpPr>
          <p:cNvPr id="6" name="TextBox 5"/>
          <p:cNvSpPr txBox="1"/>
          <p:nvPr/>
        </p:nvSpPr>
        <p:spPr>
          <a:xfrm>
            <a:off x="640080" y="1984248"/>
            <a:ext cx="5349240" cy="365760"/>
          </a:xfrm>
          <a:prstGeom prst="rect">
            <a:avLst/>
          </a:prstGeom>
          <a:noFill/>
        </p:spPr>
        <p:txBody>
          <a:bodyPr wrap="square" lIns="0" rIns="0" tIns="0" bIns="0">
            <a:spAutoFit/>
          </a:bodyPr>
          <a:lstStyle/>
          <a:p>
            <a:pPr algn="l"/>
            <a:r>
              <a:rPr sz="1500" b="1">
                <a:solidFill>
                  <a:srgbClr val="FBBF24"/>
                </a:solidFill>
                <a:latin typeface="Arial"/>
              </a:rPr>
              <a:t>WHAT TO LOOK FOR</a:t>
            </a:r>
          </a:p>
        </p:txBody>
      </p:sp>
      <p:sp>
        <p:nvSpPr>
          <p:cNvPr id="7" name="Rounded Rectangle 6"/>
          <p:cNvSpPr/>
          <p:nvPr/>
        </p:nvSpPr>
        <p:spPr>
          <a:xfrm>
            <a:off x="64008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/memory shows CLAUDE.md, rules and auto memory</a:t>
            </a:r>
          </a:p>
          <a:p>
            <a:pPr algn="l">
              <a:spcAft>
                <a:spcPts val="800"/>
              </a:spcAft>
            </a:pPr>
            <a:r>
              <a:rPr sz="1900">
                <a:solidFill>
                  <a:srgbClr val="F8FAFC"/>
                </a:solidFill>
                <a:latin typeface="Arial"/>
              </a:rPr>
              <a:t>•  /context shows what loaded</a:t>
            </a:r>
          </a:p>
          <a:p>
            <a:pPr algn="l">
              <a:spcAft>
                <a:spcPts val="800"/>
              </a:spcAft>
            </a:pPr>
            <a:r>
              <a:rPr sz="1900">
                <a:solidFill>
                  <a:srgbClr val="F8FAFC"/>
                </a:solidFill>
                <a:latin typeface="Arial"/>
              </a:rPr>
              <a:t>•  Diff of stats follows cmd_ naming, README table, test class conventions</a:t>
            </a:r>
          </a:p>
          <a:p>
            <a:pPr algn="l">
              <a:spcAft>
                <a:spcPts val="800"/>
              </a:spcAft>
            </a:pPr>
            <a:r>
              <a:rPr sz="1900">
                <a:solidFill>
                  <a:srgbClr val="F8FAFC"/>
                </a:solidFill>
                <a:latin typeface="Arial"/>
              </a:rPr>
              <a:t>•  Reviewed memory entries in docs/memory-review.md</a:t>
            </a:r>
          </a:p>
        </p:txBody>
      </p:sp>
      <p:sp>
        <p:nvSpPr>
          <p:cNvPr id="8" name="TextBox 7"/>
          <p:cNvSpPr txBox="1"/>
          <p:nvPr/>
        </p:nvSpPr>
        <p:spPr>
          <a:xfrm>
            <a:off x="6172200" y="1984248"/>
            <a:ext cx="5349240" cy="365760"/>
          </a:xfrm>
          <a:prstGeom prst="rect">
            <a:avLst/>
          </a:prstGeom>
          <a:noFill/>
        </p:spPr>
        <p:txBody>
          <a:bodyPr wrap="square" lIns="0" rIns="0" tIns="0" bIns="0">
            <a:spAutoFit/>
          </a:bodyPr>
          <a:lstStyle/>
          <a:p>
            <a:pPr algn="l"/>
            <a:r>
              <a:rPr sz="1500" b="1">
                <a:solidFill>
                  <a:srgbClr val="BAFF70"/>
                </a:solidFill>
                <a:latin typeface="Arial"/>
              </a:rPr>
              <a:t>WHAT THE RECORDED RUN PRODUCED</a:t>
            </a:r>
          </a:p>
        </p:txBody>
      </p:sp>
      <p:sp>
        <p:nvSpPr>
          <p:cNvPr id="9" name="Rounded Rectangle 8"/>
          <p:cNvSpPr/>
          <p:nvPr/>
        </p:nvSpPr>
        <p:spPr>
          <a:xfrm>
            <a:off x="617220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2 prompt(s) · 3 min 04 s · $0.40 · 15 tool calls</a:t>
            </a:r>
          </a:p>
          <a:p>
            <a:pPr algn="l">
              <a:spcAft>
                <a:spcPts val="800"/>
              </a:spcAft>
            </a:pPr>
            <a:r>
              <a:rPr sz="1900">
                <a:solidFill>
                  <a:srgbClr val="F8FAFC"/>
                </a:solidFill>
                <a:latin typeface="Arial"/>
              </a:rPr>
              <a:t>•  Tests seen in the run: Ran 18 tests in 2.705s</a:t>
            </a:r>
          </a:p>
          <a:p>
            <a:pPr algn="l">
              <a:spcAft>
                <a:spcPts val="800"/>
              </a:spcAft>
            </a:pPr>
            <a:r>
              <a:rPr sz="1900">
                <a:solidFill>
                  <a:srgbClr val="F8FAFC"/>
                </a:solidFill>
                <a:latin typeface="Arial"/>
              </a:rPr>
              <a:t>•  bin/bootcamp verify: 5 PASS · 0 FAIL</a:t>
            </a:r>
          </a:p>
          <a:p>
            <a:pPr algn="l">
              <a:spcAft>
                <a:spcPts val="800"/>
              </a:spcAft>
            </a:pPr>
            <a:r>
              <a:rPr sz="1900">
                <a:solidFill>
                  <a:srgbClr val="F8FAFC"/>
                </a:solidFill>
                <a:latin typeface="Arial"/>
              </a:rPr>
              <a:t>•  Changed: M README.md, M shipctl.py, M tests/test_shipctl.py, ?? .claude/rules/ … (+1)</a:t>
            </a:r>
          </a:p>
        </p:txBody>
      </p:sp>
      <p:sp>
        <p:nvSpPr>
          <p:cNvPr id="10" name="TextBox 9"/>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045 / 198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03 · DISCUSS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Your turn to think</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What did you delete from your first CLAUDE.md draft, and why?</a:t>
            </a:r>
          </a:p>
          <a:p>
            <a:pPr algn="l">
              <a:spcAft>
                <a:spcPts val="800"/>
              </a:spcAft>
            </a:pPr>
            <a:r>
              <a:rPr sz="2200">
                <a:solidFill>
                  <a:srgbClr val="F8FAFC"/>
                </a:solidFill>
                <a:latin typeface="Arial"/>
              </a:rPr>
              <a:t>•  When is a path-scoped rule better than a line in CLAUDE.md?</a:t>
            </a:r>
          </a:p>
          <a:p>
            <a:pPr algn="l">
              <a:spcAft>
                <a:spcPts val="800"/>
              </a:spcAft>
            </a:pPr>
            <a:r>
              <a:rPr sz="2200">
                <a:solidFill>
                  <a:srgbClr val="F8FAFC"/>
                </a:solidFill>
                <a:latin typeface="Arial"/>
              </a:rPr>
              <a:t>•  Which auto-memory entries would you never keep?</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046 / 198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03 · LAB</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Hands-on</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Write CLAUDE.md and the rules (Claude Code asks you to approve edits under .claude/: read them, then approve), start a fresh session, request the stats change, and check the diff against the rules. Open /memory and remove one stale entry.</a:t>
            </a:r>
          </a:p>
          <a:p>
            <a:pPr algn="l">
              <a:spcAft>
                <a:spcPts val="800"/>
              </a:spcAft>
            </a:pPr>
            <a:r>
              <a:rPr sz="2200">
                <a:solidFill>
                  <a:srgbClr val="F8FAFC"/>
                </a:solidFill>
                <a:latin typeface="Arial"/>
              </a:rPr>
              <a:t>•  Start: bin/bootcamp stage 03</a:t>
            </a:r>
          </a:p>
          <a:p>
            <a:pPr algn="l">
              <a:spcAft>
                <a:spcPts val="800"/>
              </a:spcAft>
            </a:pPr>
            <a:r>
              <a:rPr sz="2200">
                <a:solidFill>
                  <a:srgbClr val="F8FAFC"/>
                </a:solidFill>
                <a:latin typeface="Arial"/>
              </a:rPr>
              <a:t>•  Prompts: parts/03-project-brain/PROMPTS.md</a:t>
            </a:r>
          </a:p>
          <a:p>
            <a:pPr algn="l">
              <a:spcAft>
                <a:spcPts val="800"/>
              </a:spcAft>
            </a:pPr>
            <a:r>
              <a:rPr sz="2200">
                <a:solidFill>
                  <a:srgbClr val="F8FAFC"/>
                </a:solidFill>
                <a:latin typeface="Arial"/>
              </a:rPr>
              <a:t>•  Check: bin/bootcamp verify</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047 / 198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03 · CHECKPOINT</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 now have</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Reusable CLAUDE.md (under 60 lines)</a:t>
            </a:r>
          </a:p>
          <a:p>
            <a:pPr algn="l">
              <a:spcAft>
                <a:spcPts val="800"/>
              </a:spcAft>
            </a:pPr>
            <a:r>
              <a:rPr sz="2200">
                <a:solidFill>
                  <a:srgbClr val="F8FAFC"/>
                </a:solidFill>
                <a:latin typeface="Arial"/>
              </a:rPr>
              <a:t>✓  Path-scoped rules (tests/**, shipctl.py)</a:t>
            </a:r>
          </a:p>
          <a:p>
            <a:pPr algn="l">
              <a:spcAft>
                <a:spcPts val="800"/>
              </a:spcAft>
            </a:pPr>
            <a:r>
              <a:rPr sz="2200">
                <a:solidFill>
                  <a:srgbClr val="F8FAFC"/>
                </a:solidFill>
                <a:latin typeface="Arial"/>
              </a:rPr>
              <a:t>✓  Documented conventions</a:t>
            </a:r>
          </a:p>
          <a:p>
            <a:pPr algn="l">
              <a:spcAft>
                <a:spcPts val="800"/>
              </a:spcAft>
            </a:pPr>
            <a:r>
              <a:rPr sz="2200">
                <a:solidFill>
                  <a:srgbClr val="F8FAFC"/>
                </a:solidFill>
                <a:latin typeface="Arial"/>
              </a:rPr>
              <a:t>✓  Reviewed auto-memory entry</a:t>
            </a:r>
          </a:p>
          <a:p>
            <a:pPr algn="l">
              <a:spcAft>
                <a:spcPts val="800"/>
              </a:spcAft>
            </a:pPr>
            <a:r>
              <a:rPr sz="2200">
                <a:solidFill>
                  <a:srgbClr val="F8FAFC"/>
                </a:solidFill>
                <a:latin typeface="Arial"/>
              </a:rPr>
              <a:t>✓  Evidence that Claude followed the context (shipctl stats)</a:t>
            </a:r>
          </a:p>
          <a:p>
            <a:pPr algn="l">
              <a:spcAft>
                <a:spcPts val="800"/>
              </a:spcAft>
            </a:pPr>
            <a:r>
              <a:rPr sz="2200">
                <a:solidFill>
                  <a:srgbClr val="F8FAFC"/>
                </a:solidFill>
                <a:latin typeface="Arial"/>
              </a:rPr>
              <a:t>•  Behind? bin/bootcamp checkpoint 03 --force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048 / 198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2194560"/>
            <a:ext cx="10058400" cy="365760"/>
          </a:xfrm>
          <a:prstGeom prst="rect">
            <a:avLst/>
          </a:prstGeom>
          <a:noFill/>
        </p:spPr>
        <p:txBody>
          <a:bodyPr wrap="square" lIns="0" rIns="0" tIns="0" bIns="0">
            <a:spAutoFit/>
          </a:bodyPr>
          <a:lstStyle/>
          <a:p>
            <a:pPr algn="l"/>
            <a:r>
              <a:rPr sz="1600" b="1">
                <a:solidFill>
                  <a:srgbClr val="BAFF70"/>
                </a:solidFill>
                <a:latin typeface="Arial"/>
              </a:rPr>
              <a:t>10:10–10:20</a:t>
            </a:r>
          </a:p>
        </p:txBody>
      </p:sp>
      <p:sp>
        <p:nvSpPr>
          <p:cNvPr id="5" name="TextBox 4"/>
          <p:cNvSpPr txBox="1"/>
          <p:nvPr/>
        </p:nvSpPr>
        <p:spPr>
          <a:xfrm>
            <a:off x="640080" y="2697480"/>
            <a:ext cx="10789920" cy="1463040"/>
          </a:xfrm>
          <a:prstGeom prst="rect">
            <a:avLst/>
          </a:prstGeom>
          <a:noFill/>
        </p:spPr>
        <p:txBody>
          <a:bodyPr wrap="square" lIns="0" rIns="0" tIns="0" bIns="0">
            <a:spAutoFit/>
          </a:bodyPr>
          <a:lstStyle/>
          <a:p>
            <a:pPr algn="l"/>
            <a:r>
              <a:rPr sz="4600" b="1">
                <a:solidFill>
                  <a:srgbClr val="F8FAFC"/>
                </a:solidFill>
                <a:latin typeface="Arial"/>
              </a:rPr>
              <a:t>Break · 10 minutes</a:t>
            </a:r>
          </a:p>
        </p:txBody>
      </p:sp>
      <p:sp>
        <p:nvSpPr>
          <p:cNvPr id="6" name="TextBox 5"/>
          <p:cNvSpPr txBox="1"/>
          <p:nvPr/>
        </p:nvSpPr>
        <p:spPr>
          <a:xfrm>
            <a:off x="640080" y="4297680"/>
            <a:ext cx="10789920" cy="914400"/>
          </a:xfrm>
          <a:prstGeom prst="rect">
            <a:avLst/>
          </a:prstGeom>
          <a:noFill/>
        </p:spPr>
        <p:txBody>
          <a:bodyPr wrap="square" lIns="0" rIns="0" tIns="0" bIns="0">
            <a:spAutoFit/>
          </a:bodyPr>
          <a:lstStyle/>
          <a:p>
            <a:pPr algn="l"/>
            <a:r>
              <a:rPr sz="2000" b="0">
                <a:solidFill>
                  <a:srgbClr val="ADBBCD"/>
                </a:solidFill>
                <a:latin typeface="Arial"/>
              </a:rPr>
              <a:t>Behind? bin/bootcamp checkpoint 03 --force  ·  next: Part 04</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049 / 198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2194560"/>
            <a:ext cx="10058400" cy="365760"/>
          </a:xfrm>
          <a:prstGeom prst="rect">
            <a:avLst/>
          </a:prstGeom>
          <a:noFill/>
        </p:spPr>
        <p:txBody>
          <a:bodyPr wrap="square" lIns="0" rIns="0" tIns="0" bIns="0">
            <a:spAutoFit/>
          </a:bodyPr>
          <a:lstStyle/>
          <a:p>
            <a:pPr algn="l"/>
            <a:r>
              <a:rPr sz="1600" b="1">
                <a:solidFill>
                  <a:srgbClr val="BAFF70"/>
                </a:solidFill>
                <a:latin typeface="Arial"/>
              </a:rPr>
              <a:t>PART 04 · 10:20–10:50 · 30 MIN</a:t>
            </a:r>
          </a:p>
        </p:txBody>
      </p:sp>
      <p:sp>
        <p:nvSpPr>
          <p:cNvPr id="5" name="TextBox 4"/>
          <p:cNvSpPr txBox="1"/>
          <p:nvPr/>
        </p:nvSpPr>
        <p:spPr>
          <a:xfrm>
            <a:off x="640080" y="2697480"/>
            <a:ext cx="10789920" cy="1463040"/>
          </a:xfrm>
          <a:prstGeom prst="rect">
            <a:avLst/>
          </a:prstGeom>
          <a:noFill/>
        </p:spPr>
        <p:txBody>
          <a:bodyPr wrap="square" lIns="0" rIns="0" tIns="0" bIns="0">
            <a:spAutoFit/>
          </a:bodyPr>
          <a:lstStyle/>
          <a:p>
            <a:pPr algn="l"/>
            <a:r>
              <a:rPr sz="4600" b="1">
                <a:solidFill>
                  <a:srgbClr val="F8FAFC"/>
                </a:solidFill>
                <a:latin typeface="Arial"/>
              </a:rPr>
              <a:t>Best-of-N and better engineering decisions</a:t>
            </a:r>
          </a:p>
        </p:txBody>
      </p:sp>
      <p:sp>
        <p:nvSpPr>
          <p:cNvPr id="6" name="TextBox 5"/>
          <p:cNvSpPr txBox="1"/>
          <p:nvPr/>
        </p:nvSpPr>
        <p:spPr>
          <a:xfrm>
            <a:off x="640080" y="4297680"/>
            <a:ext cx="10789920" cy="914400"/>
          </a:xfrm>
          <a:prstGeom prst="rect">
            <a:avLst/>
          </a:prstGeom>
          <a:noFill/>
        </p:spPr>
        <p:txBody>
          <a:bodyPr wrap="square" lIns="0" rIns="0" tIns="0" bIns="0">
            <a:spAutoFit/>
          </a:bodyPr>
          <a:lstStyle/>
          <a:p>
            <a:pPr algn="l"/>
            <a:r>
              <a:rPr sz="2000" b="0">
                <a:solidFill>
                  <a:srgbClr val="ADBBCD"/>
                </a:solidFill>
                <a:latin typeface="Arial"/>
              </a:rPr>
              <a:t>Project 4: Notes API Design Tournament</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050 / 198</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04 · GOALS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you will be able to do</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Ask for genuinely different approaches, not cosmetic variants</a:t>
            </a:r>
          </a:p>
          <a:p>
            <a:pPr algn="l">
              <a:spcAft>
                <a:spcPts val="800"/>
              </a:spcAft>
            </a:pPr>
            <a:r>
              <a:rPr sz="2200">
                <a:solidFill>
                  <a:srgbClr val="F8FAFC"/>
                </a:solidFill>
                <a:latin typeface="Arial"/>
              </a:rPr>
              <a:t>•  Score them on a fixed matrix: simplicity, testability, security, scalability, maintenance</a:t>
            </a:r>
          </a:p>
          <a:p>
            <a:pPr algn="l">
              <a:spcAft>
                <a:spcPts val="800"/>
              </a:spcAft>
            </a:pPr>
            <a:r>
              <a:rPr sz="2200">
                <a:solidFill>
                  <a:srgbClr val="F8FAFC"/>
                </a:solidFill>
                <a:latin typeface="Arial"/>
              </a:rPr>
              <a:t>•  Avoid the first-answer-wins trap and incoherent hybrids</a:t>
            </a:r>
          </a:p>
          <a:p>
            <a:pPr algn="l">
              <a:spcAft>
                <a:spcPts val="800"/>
              </a:spcAft>
            </a:pPr>
            <a:r>
              <a:rPr sz="2200">
                <a:solidFill>
                  <a:srgbClr val="F8FAFC"/>
                </a:solidFill>
                <a:latin typeface="Arial"/>
              </a:rPr>
              <a:t>•  Record the chosen and rejected approaches</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051 / 198</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BEST-OF-N</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Don't let the first answer win</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Ask for N genuinely different shapes of the system</a:t>
            </a:r>
          </a:p>
          <a:p>
            <a:pPr algn="l">
              <a:spcAft>
                <a:spcPts val="800"/>
              </a:spcAft>
            </a:pPr>
            <a:r>
              <a:rPr sz="2200">
                <a:solidFill>
                  <a:srgbClr val="F8FAFC"/>
                </a:solidFill>
                <a:latin typeface="Arial"/>
              </a:rPr>
              <a:t>•  Cosmetic variants (renamed files, same design) don't count</a:t>
            </a:r>
          </a:p>
          <a:p>
            <a:pPr algn="l">
              <a:spcAft>
                <a:spcPts val="800"/>
              </a:spcAft>
            </a:pPr>
            <a:r>
              <a:rPr sz="2200">
                <a:solidFill>
                  <a:srgbClr val="F8FAFC"/>
                </a:solidFill>
                <a:latin typeface="Arial"/>
              </a:rPr>
              <a:t>•  Score on a fixed matrix before anyone gets attached</a:t>
            </a:r>
          </a:p>
          <a:p>
            <a:pPr algn="l">
              <a:spcAft>
                <a:spcPts val="800"/>
              </a:spcAft>
            </a:pPr>
            <a:r>
              <a:rPr sz="2200">
                <a:solidFill>
                  <a:srgbClr val="F8FAFC"/>
                </a:solidFill>
                <a:latin typeface="Arial"/>
              </a:rPr>
              <a:t>•  Pick one; hybrid only if it is coherent and explained</a:t>
            </a:r>
          </a:p>
          <a:p>
            <a:pPr algn="l">
              <a:spcAft>
                <a:spcPts val="800"/>
              </a:spcAft>
            </a:pPr>
            <a:r>
              <a:rPr sz="2200">
                <a:solidFill>
                  <a:srgbClr val="F8FAFC"/>
                </a:solidFill>
                <a:latin typeface="Arial"/>
              </a:rPr>
              <a:t>•  Record what you rejected and when it would win</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052 / 198</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THE THREE OPTIONS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Notes API: three shapes</a:t>
            </a:r>
          </a:p>
        </p:txBody>
      </p:sp>
      <p:graphicFrame>
        <p:nvGraphicFramePr>
          <p:cNvPr id="6" name="Table 5"/>
          <p:cNvGraphicFramePr>
            <a:graphicFrameLocks noGrp="1"/>
          </p:cNvGraphicFramePr>
          <p:nvPr/>
        </p:nvGraphicFramePr>
        <p:xfrm>
          <a:off x="640080" y="1984248"/>
          <a:ext cx="10881359" cy="1901952"/>
        </p:xfrm>
        <a:graphic>
          <a:graphicData uri="http://schemas.openxmlformats.org/drawingml/2006/table">
            <a:tbl>
              <a:tblPr>
                <a:tableStyleId>{5C22544A-7EE6-4342-B048-85BDC9FD1C3A}</a:tableStyleId>
              </a:tblPr>
              <a:tblGrid>
                <a:gridCol w="1299050"/>
                <a:gridCol w="4661664"/>
                <a:gridCol w="4920645"/>
              </a:tblGrid>
              <a:tr h="475488">
                <a:tc>
                  <a:txBody>
                    <a:bodyPr wrap="square"/>
                    <a:lstStyle/>
                    <a:p>
                      <a:r>
                        <a:rPr sz="1600" b="1">
                          <a:solidFill>
                            <a:srgbClr val="BAFF70"/>
                          </a:solidFill>
                          <a:latin typeface="Arial"/>
                        </a:rPr>
                        <a:t>Option</a:t>
                      </a:r>
                    </a:p>
                  </a:txBody>
                  <a:tcPr marL="109728" marR="109728">
                    <a:solidFill>
                      <a:srgbClr val="22324A"/>
                    </a:solidFill>
                  </a:tcPr>
                </a:tc>
                <a:tc>
                  <a:txBody>
                    <a:bodyPr wrap="square"/>
                    <a:lstStyle/>
                    <a:p>
                      <a:r>
                        <a:rPr sz="1600" b="1">
                          <a:solidFill>
                            <a:srgbClr val="BAFF70"/>
                          </a:solidFill>
                          <a:latin typeface="Arial"/>
                        </a:rPr>
                        <a:t>Shape</a:t>
                      </a:r>
                    </a:p>
                  </a:txBody>
                  <a:tcPr marL="109728" marR="109728">
                    <a:solidFill>
                      <a:srgbClr val="22324A"/>
                    </a:solidFill>
                  </a:tcPr>
                </a:tc>
                <a:tc>
                  <a:txBody>
                    <a:bodyPr wrap="square"/>
                    <a:lstStyle/>
                    <a:p>
                      <a:r>
                        <a:rPr sz="1600" b="1">
                          <a:solidFill>
                            <a:srgbClr val="BAFF70"/>
                          </a:solidFill>
                          <a:latin typeface="Arial"/>
                        </a:rPr>
                        <a:t>Key risk</a:t>
                      </a:r>
                    </a:p>
                  </a:txBody>
                  <a:tcPr marL="109728" marR="109728">
                    <a:solidFill>
                      <a:srgbClr val="22324A"/>
                    </a:solidFill>
                  </a:tcPr>
                </a:tc>
              </a:tr>
              <a:tr h="475488">
                <a:tc>
                  <a:txBody>
                    <a:bodyPr wrap="square"/>
                    <a:lstStyle/>
                    <a:p>
                      <a:r>
                        <a:rPr sz="1600" b="1">
                          <a:solidFill>
                            <a:srgbClr val="F8FAFC"/>
                          </a:solidFill>
                          <a:latin typeface="Arial"/>
                        </a:rPr>
                        <a:t>A</a:t>
                      </a:r>
                    </a:p>
                  </a:txBody>
                  <a:tcPr marL="109728" marR="109728">
                    <a:solidFill>
                      <a:srgbClr val="1A283B"/>
                    </a:solidFill>
                  </a:tcPr>
                </a:tc>
                <a:tc>
                  <a:txBody>
                    <a:bodyPr wrap="square"/>
                    <a:lstStyle/>
                    <a:p>
                      <a:r>
                        <a:rPr sz="1600" b="0">
                          <a:solidFill>
                            <a:srgbClr val="ADBBCD"/>
                          </a:solidFill>
                          <a:latin typeface="Arial"/>
                        </a:rPr>
                        <a:t>Single module + JSON file</a:t>
                      </a:r>
                    </a:p>
                  </a:txBody>
                  <a:tcPr marL="109728" marR="109728">
                    <a:solidFill>
                      <a:srgbClr val="1A283B"/>
                    </a:solidFill>
                  </a:tcPr>
                </a:tc>
                <a:tc>
                  <a:txBody>
                    <a:bodyPr wrap="square"/>
                    <a:lstStyle/>
                    <a:p>
                      <a:r>
                        <a:rPr sz="1600" b="0">
                          <a:solidFill>
                            <a:srgbClr val="ADBBCD"/>
                          </a:solidFill>
                          <a:latin typeface="Arial"/>
                        </a:rPr>
                        <a:t>Rules tangled with HTTP; full rewrites</a:t>
                      </a:r>
                    </a:p>
                  </a:txBody>
                  <a:tcPr marL="109728" marR="109728">
                    <a:solidFill>
                      <a:srgbClr val="1A283B"/>
                    </a:solidFill>
                  </a:tcPr>
                </a:tc>
              </a:tr>
              <a:tr h="475488">
                <a:tc>
                  <a:txBody>
                    <a:bodyPr wrap="square"/>
                    <a:lstStyle/>
                    <a:p>
                      <a:r>
                        <a:rPr sz="1600" b="1">
                          <a:solidFill>
                            <a:srgbClr val="F8FAFC"/>
                          </a:solidFill>
                          <a:latin typeface="Arial"/>
                        </a:rPr>
                        <a:t>B</a:t>
                      </a:r>
                    </a:p>
                  </a:txBody>
                  <a:tcPr marL="109728" marR="109728">
                    <a:solidFill>
                      <a:srgbClr val="15233A"/>
                    </a:solidFill>
                  </a:tcPr>
                </a:tc>
                <a:tc>
                  <a:txBody>
                    <a:bodyPr wrap="square"/>
                    <a:lstStyle/>
                    <a:p>
                      <a:r>
                        <a:rPr sz="1600" b="0">
                          <a:solidFill>
                            <a:srgbClr val="ADBBCD"/>
                          </a:solidFill>
                          <a:latin typeface="Arial"/>
                        </a:rPr>
                        <a:t>Router / service / SQLite repository</a:t>
                      </a:r>
                    </a:p>
                  </a:txBody>
                  <a:tcPr marL="109728" marR="109728">
                    <a:solidFill>
                      <a:srgbClr val="15233A"/>
                    </a:solidFill>
                  </a:tcPr>
                </a:tc>
                <a:tc>
                  <a:txBody>
                    <a:bodyPr wrap="square"/>
                    <a:lstStyle/>
                    <a:p>
                      <a:r>
                        <a:rPr sz="1600" b="0">
                          <a:solidFill>
                            <a:srgbClr val="ADBBCD"/>
                          </a:solidFill>
                          <a:latin typeface="Arial"/>
                        </a:rPr>
                        <a:t>Three files; SQLite write locking</a:t>
                      </a:r>
                    </a:p>
                  </a:txBody>
                  <a:tcPr marL="109728" marR="109728">
                    <a:solidFill>
                      <a:srgbClr val="15233A"/>
                    </a:solidFill>
                  </a:tcPr>
                </a:tc>
              </a:tr>
              <a:tr h="475488">
                <a:tc>
                  <a:txBody>
                    <a:bodyPr wrap="square"/>
                    <a:lstStyle/>
                    <a:p>
                      <a:r>
                        <a:rPr sz="1600" b="1">
                          <a:solidFill>
                            <a:srgbClr val="F8FAFC"/>
                          </a:solidFill>
                          <a:latin typeface="Arial"/>
                        </a:rPr>
                        <a:t>C</a:t>
                      </a:r>
                    </a:p>
                  </a:txBody>
                  <a:tcPr marL="109728" marR="109728">
                    <a:solidFill>
                      <a:srgbClr val="1A283B"/>
                    </a:solidFill>
                  </a:tcPr>
                </a:tc>
                <a:tc>
                  <a:txBody>
                    <a:bodyPr wrap="square"/>
                    <a:lstStyle/>
                    <a:p>
                      <a:r>
                        <a:rPr sz="1600" b="0">
                          <a:solidFill>
                            <a:srgbClr val="ADBBCD"/>
                          </a:solidFill>
                          <a:latin typeface="Arial"/>
                        </a:rPr>
                        <a:t>Event-sourced append-only log</a:t>
                      </a:r>
                    </a:p>
                  </a:txBody>
                  <a:tcPr marL="109728" marR="109728">
                    <a:solidFill>
                      <a:srgbClr val="1A283B"/>
                    </a:solidFill>
                  </a:tcPr>
                </a:tc>
                <a:tc>
                  <a:txBody>
                    <a:bodyPr wrap="square"/>
                    <a:lstStyle/>
                    <a:p>
                      <a:r>
                        <a:rPr sz="1600" b="0">
                          <a:solidFill>
                            <a:srgbClr val="ADBBCD"/>
                          </a:solidFill>
                          <a:latin typeface="Arial"/>
                        </a:rPr>
                        <a:t>Most moving parts; replay cost</a:t>
                      </a:r>
                    </a:p>
                  </a:txBody>
                  <a:tcPr marL="109728" marR="109728">
                    <a:solidFill>
                      <a:srgbClr val="1A283B"/>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053 / 198</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FIXED, WEIGHTED CRITERIA</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Decision matrix</a:t>
            </a:r>
          </a:p>
        </p:txBody>
      </p:sp>
      <p:sp>
        <p:nvSpPr>
          <p:cNvPr id="6" name="TextBox 5"/>
          <p:cNvSpPr txBox="1"/>
          <p:nvPr/>
        </p:nvSpPr>
        <p:spPr>
          <a:xfrm>
            <a:off x="640080" y="6080760"/>
            <a:ext cx="10881360" cy="365760"/>
          </a:xfrm>
          <a:prstGeom prst="rect">
            <a:avLst/>
          </a:prstGeom>
          <a:noFill/>
        </p:spPr>
        <p:txBody>
          <a:bodyPr wrap="square" lIns="0" rIns="0" tIns="0" bIns="0">
            <a:spAutoFit/>
          </a:bodyPr>
          <a:lstStyle/>
          <a:p>
            <a:pPr algn="l"/>
            <a:r>
              <a:rPr sz="1400" b="0">
                <a:solidFill>
                  <a:srgbClr val="ADBBCD"/>
                </a:solidFill>
                <a:latin typeface="Arial"/>
              </a:rPr>
              <a:t>Reference tournament. In the recorded run Claude labelled the options differently (A = layered) and scored them 40 / 35 / 34: same winner.</a:t>
            </a:r>
          </a:p>
        </p:txBody>
      </p:sp>
      <p:graphicFrame>
        <p:nvGraphicFramePr>
          <p:cNvPr id="7" name="Table 6"/>
          <p:cNvGraphicFramePr>
            <a:graphicFrameLocks noGrp="1"/>
          </p:cNvGraphicFramePr>
          <p:nvPr/>
        </p:nvGraphicFramePr>
        <p:xfrm>
          <a:off x="640080" y="1984248"/>
          <a:ext cx="10881360" cy="3328416"/>
        </p:xfrm>
        <a:graphic>
          <a:graphicData uri="http://schemas.openxmlformats.org/drawingml/2006/table">
            <a:tbl>
              <a:tblPr>
                <a:tableStyleId>{5C22544A-7EE6-4342-B048-85BDC9FD1C3A}</a:tableStyleId>
              </a:tblPr>
              <a:tblGrid>
                <a:gridCol w="4663440"/>
                <a:gridCol w="2072640"/>
                <a:gridCol w="2072640"/>
                <a:gridCol w="2072640"/>
              </a:tblGrid>
              <a:tr h="475488">
                <a:tc>
                  <a:txBody>
                    <a:bodyPr wrap="square"/>
                    <a:lstStyle/>
                    <a:p>
                      <a:r>
                        <a:rPr sz="1600" b="1">
                          <a:solidFill>
                            <a:srgbClr val="BAFF70"/>
                          </a:solidFill>
                          <a:latin typeface="Arial"/>
                        </a:rPr>
                        <a:t>Criterion (weight)</a:t>
                      </a:r>
                    </a:p>
                  </a:txBody>
                  <a:tcPr marL="109728" marR="109728">
                    <a:solidFill>
                      <a:srgbClr val="22324A"/>
                    </a:solidFill>
                  </a:tcPr>
                </a:tc>
                <a:tc>
                  <a:txBody>
                    <a:bodyPr wrap="square"/>
                    <a:lstStyle/>
                    <a:p>
                      <a:r>
                        <a:rPr sz="1600" b="1">
                          <a:solidFill>
                            <a:srgbClr val="BAFF70"/>
                          </a:solidFill>
                          <a:latin typeface="Arial"/>
                        </a:rPr>
                        <a:t>A</a:t>
                      </a:r>
                    </a:p>
                  </a:txBody>
                  <a:tcPr marL="109728" marR="109728">
                    <a:solidFill>
                      <a:srgbClr val="22324A"/>
                    </a:solidFill>
                  </a:tcPr>
                </a:tc>
                <a:tc>
                  <a:txBody>
                    <a:bodyPr wrap="square"/>
                    <a:lstStyle/>
                    <a:p>
                      <a:r>
                        <a:rPr sz="1600" b="1">
                          <a:solidFill>
                            <a:srgbClr val="BAFF70"/>
                          </a:solidFill>
                          <a:latin typeface="Arial"/>
                        </a:rPr>
                        <a:t>B</a:t>
                      </a:r>
                    </a:p>
                  </a:txBody>
                  <a:tcPr marL="109728" marR="109728">
                    <a:solidFill>
                      <a:srgbClr val="22324A"/>
                    </a:solidFill>
                  </a:tcPr>
                </a:tc>
                <a:tc>
                  <a:txBody>
                    <a:bodyPr wrap="square"/>
                    <a:lstStyle/>
                    <a:p>
                      <a:r>
                        <a:rPr sz="1600" b="1">
                          <a:solidFill>
                            <a:srgbClr val="BAFF70"/>
                          </a:solidFill>
                          <a:latin typeface="Arial"/>
                        </a:rPr>
                        <a:t>C</a:t>
                      </a:r>
                    </a:p>
                  </a:txBody>
                  <a:tcPr marL="109728" marR="109728">
                    <a:solidFill>
                      <a:srgbClr val="22324A"/>
                    </a:solidFill>
                  </a:tcPr>
                </a:tc>
              </a:tr>
              <a:tr h="475488">
                <a:tc>
                  <a:txBody>
                    <a:bodyPr wrap="square"/>
                    <a:lstStyle/>
                    <a:p>
                      <a:r>
                        <a:rPr sz="1600" b="1">
                          <a:solidFill>
                            <a:srgbClr val="F8FAFC"/>
                          </a:solidFill>
                          <a:latin typeface="Arial"/>
                        </a:rPr>
                        <a:t>Simplicity (×2)</a:t>
                      </a:r>
                    </a:p>
                  </a:txBody>
                  <a:tcPr marL="109728" marR="109728">
                    <a:solidFill>
                      <a:srgbClr val="1A283B"/>
                    </a:solidFill>
                  </a:tcPr>
                </a:tc>
                <a:tc>
                  <a:txBody>
                    <a:bodyPr wrap="square"/>
                    <a:lstStyle/>
                    <a:p>
                      <a:r>
                        <a:rPr sz="1600" b="0">
                          <a:solidFill>
                            <a:srgbClr val="ADBBCD"/>
                          </a:solidFill>
                          <a:latin typeface="Arial"/>
                        </a:rPr>
                        <a:t>10</a:t>
                      </a:r>
                    </a:p>
                  </a:txBody>
                  <a:tcPr marL="109728" marR="109728">
                    <a:solidFill>
                      <a:srgbClr val="1A283B"/>
                    </a:solidFill>
                  </a:tcPr>
                </a:tc>
                <a:tc>
                  <a:txBody>
                    <a:bodyPr wrap="square"/>
                    <a:lstStyle/>
                    <a:p>
                      <a:r>
                        <a:rPr sz="1600" b="0">
                          <a:solidFill>
                            <a:srgbClr val="ADBBCD"/>
                          </a:solidFill>
                          <a:latin typeface="Arial"/>
                        </a:rPr>
                        <a:t>8</a:t>
                      </a:r>
                    </a:p>
                  </a:txBody>
                  <a:tcPr marL="109728" marR="109728">
                    <a:solidFill>
                      <a:srgbClr val="1A283B"/>
                    </a:solidFill>
                  </a:tcPr>
                </a:tc>
                <a:tc>
                  <a:txBody>
                    <a:bodyPr wrap="square"/>
                    <a:lstStyle/>
                    <a:p>
                      <a:r>
                        <a:rPr sz="1600" b="0">
                          <a:solidFill>
                            <a:srgbClr val="ADBBCD"/>
                          </a:solidFill>
                          <a:latin typeface="Arial"/>
                        </a:rPr>
                        <a:t>4</a:t>
                      </a:r>
                    </a:p>
                  </a:txBody>
                  <a:tcPr marL="109728" marR="109728">
                    <a:solidFill>
                      <a:srgbClr val="1A283B"/>
                    </a:solidFill>
                  </a:tcPr>
                </a:tc>
              </a:tr>
              <a:tr h="475488">
                <a:tc>
                  <a:txBody>
                    <a:bodyPr wrap="square"/>
                    <a:lstStyle/>
                    <a:p>
                      <a:r>
                        <a:rPr sz="1600" b="1">
                          <a:solidFill>
                            <a:srgbClr val="F8FAFC"/>
                          </a:solidFill>
                          <a:latin typeface="Arial"/>
                        </a:rPr>
                        <a:t>Testability (×3)</a:t>
                      </a:r>
                    </a:p>
                  </a:txBody>
                  <a:tcPr marL="109728" marR="109728">
                    <a:solidFill>
                      <a:srgbClr val="15233A"/>
                    </a:solidFill>
                  </a:tcPr>
                </a:tc>
                <a:tc>
                  <a:txBody>
                    <a:bodyPr wrap="square"/>
                    <a:lstStyle/>
                    <a:p>
                      <a:r>
                        <a:rPr sz="1600" b="0">
                          <a:solidFill>
                            <a:srgbClr val="ADBBCD"/>
                          </a:solidFill>
                          <a:latin typeface="Arial"/>
                        </a:rPr>
                        <a:t>6</a:t>
                      </a:r>
                    </a:p>
                  </a:txBody>
                  <a:tcPr marL="109728" marR="109728">
                    <a:solidFill>
                      <a:srgbClr val="15233A"/>
                    </a:solidFill>
                  </a:tcPr>
                </a:tc>
                <a:tc>
                  <a:txBody>
                    <a:bodyPr wrap="square"/>
                    <a:lstStyle/>
                    <a:p>
                      <a:r>
                        <a:rPr sz="1600" b="0">
                          <a:solidFill>
                            <a:srgbClr val="ADBBCD"/>
                          </a:solidFill>
                          <a:latin typeface="Arial"/>
                        </a:rPr>
                        <a:t>15</a:t>
                      </a:r>
                    </a:p>
                  </a:txBody>
                  <a:tcPr marL="109728" marR="109728">
                    <a:solidFill>
                      <a:srgbClr val="15233A"/>
                    </a:solidFill>
                  </a:tcPr>
                </a:tc>
                <a:tc>
                  <a:txBody>
                    <a:bodyPr wrap="square"/>
                    <a:lstStyle/>
                    <a:p>
                      <a:r>
                        <a:rPr sz="1600" b="0">
                          <a:solidFill>
                            <a:srgbClr val="ADBBCD"/>
                          </a:solidFill>
                          <a:latin typeface="Arial"/>
                        </a:rPr>
                        <a:t>12</a:t>
                      </a:r>
                    </a:p>
                  </a:txBody>
                  <a:tcPr marL="109728" marR="109728">
                    <a:solidFill>
                      <a:srgbClr val="15233A"/>
                    </a:solidFill>
                  </a:tcPr>
                </a:tc>
              </a:tr>
              <a:tr h="475488">
                <a:tc>
                  <a:txBody>
                    <a:bodyPr wrap="square"/>
                    <a:lstStyle/>
                    <a:p>
                      <a:r>
                        <a:rPr sz="1600" b="1">
                          <a:solidFill>
                            <a:srgbClr val="F8FAFC"/>
                          </a:solidFill>
                          <a:latin typeface="Arial"/>
                        </a:rPr>
                        <a:t>Security (×2)</a:t>
                      </a:r>
                    </a:p>
                  </a:txBody>
                  <a:tcPr marL="109728" marR="109728">
                    <a:solidFill>
                      <a:srgbClr val="1A283B"/>
                    </a:solidFill>
                  </a:tcPr>
                </a:tc>
                <a:tc>
                  <a:txBody>
                    <a:bodyPr wrap="square"/>
                    <a:lstStyle/>
                    <a:p>
                      <a:r>
                        <a:rPr sz="1600" b="0">
                          <a:solidFill>
                            <a:srgbClr val="ADBBCD"/>
                          </a:solidFill>
                          <a:latin typeface="Arial"/>
                        </a:rPr>
                        <a:t>6</a:t>
                      </a:r>
                    </a:p>
                  </a:txBody>
                  <a:tcPr marL="109728" marR="109728">
                    <a:solidFill>
                      <a:srgbClr val="1A283B"/>
                    </a:solidFill>
                  </a:tcPr>
                </a:tc>
                <a:tc>
                  <a:txBody>
                    <a:bodyPr wrap="square"/>
                    <a:lstStyle/>
                    <a:p>
                      <a:r>
                        <a:rPr sz="1600" b="0">
                          <a:solidFill>
                            <a:srgbClr val="ADBBCD"/>
                          </a:solidFill>
                          <a:latin typeface="Arial"/>
                        </a:rPr>
                        <a:t>8</a:t>
                      </a:r>
                    </a:p>
                  </a:txBody>
                  <a:tcPr marL="109728" marR="109728">
                    <a:solidFill>
                      <a:srgbClr val="1A283B"/>
                    </a:solidFill>
                  </a:tcPr>
                </a:tc>
                <a:tc>
                  <a:txBody>
                    <a:bodyPr wrap="square"/>
                    <a:lstStyle/>
                    <a:p>
                      <a:r>
                        <a:rPr sz="1600" b="0">
                          <a:solidFill>
                            <a:srgbClr val="ADBBCD"/>
                          </a:solidFill>
                          <a:latin typeface="Arial"/>
                        </a:rPr>
                        <a:t>6</a:t>
                      </a:r>
                    </a:p>
                  </a:txBody>
                  <a:tcPr marL="109728" marR="109728">
                    <a:solidFill>
                      <a:srgbClr val="1A283B"/>
                    </a:solidFill>
                  </a:tcPr>
                </a:tc>
              </a:tr>
              <a:tr h="475488">
                <a:tc>
                  <a:txBody>
                    <a:bodyPr wrap="square"/>
                    <a:lstStyle/>
                    <a:p>
                      <a:r>
                        <a:rPr sz="1600" b="1">
                          <a:solidFill>
                            <a:srgbClr val="F8FAFC"/>
                          </a:solidFill>
                          <a:latin typeface="Arial"/>
                        </a:rPr>
                        <a:t>Scalability (×1)</a:t>
                      </a:r>
                    </a:p>
                  </a:txBody>
                  <a:tcPr marL="109728" marR="109728">
                    <a:solidFill>
                      <a:srgbClr val="15233A"/>
                    </a:solidFill>
                  </a:tcPr>
                </a:tc>
                <a:tc>
                  <a:txBody>
                    <a:bodyPr wrap="square"/>
                    <a:lstStyle/>
                    <a:p>
                      <a:r>
                        <a:rPr sz="1600" b="0">
                          <a:solidFill>
                            <a:srgbClr val="ADBBCD"/>
                          </a:solidFill>
                          <a:latin typeface="Arial"/>
                        </a:rPr>
                        <a:t>1</a:t>
                      </a:r>
                    </a:p>
                  </a:txBody>
                  <a:tcPr marL="109728" marR="109728">
                    <a:solidFill>
                      <a:srgbClr val="15233A"/>
                    </a:solidFill>
                  </a:tcPr>
                </a:tc>
                <a:tc>
                  <a:txBody>
                    <a:bodyPr wrap="square"/>
                    <a:lstStyle/>
                    <a:p>
                      <a:r>
                        <a:rPr sz="1600" b="0">
                          <a:solidFill>
                            <a:srgbClr val="ADBBCD"/>
                          </a:solidFill>
                          <a:latin typeface="Arial"/>
                        </a:rPr>
                        <a:t>3</a:t>
                      </a:r>
                    </a:p>
                  </a:txBody>
                  <a:tcPr marL="109728" marR="109728">
                    <a:solidFill>
                      <a:srgbClr val="15233A"/>
                    </a:solidFill>
                  </a:tcPr>
                </a:tc>
                <a:tc>
                  <a:txBody>
                    <a:bodyPr wrap="square"/>
                    <a:lstStyle/>
                    <a:p>
                      <a:r>
                        <a:rPr sz="1600" b="0">
                          <a:solidFill>
                            <a:srgbClr val="ADBBCD"/>
                          </a:solidFill>
                          <a:latin typeface="Arial"/>
                        </a:rPr>
                        <a:t>3</a:t>
                      </a:r>
                    </a:p>
                  </a:txBody>
                  <a:tcPr marL="109728" marR="109728">
                    <a:solidFill>
                      <a:srgbClr val="15233A"/>
                    </a:solidFill>
                  </a:tcPr>
                </a:tc>
              </a:tr>
              <a:tr h="475488">
                <a:tc>
                  <a:txBody>
                    <a:bodyPr wrap="square"/>
                    <a:lstStyle/>
                    <a:p>
                      <a:r>
                        <a:rPr sz="1600" b="1">
                          <a:solidFill>
                            <a:srgbClr val="F8FAFC"/>
                          </a:solidFill>
                          <a:latin typeface="Arial"/>
                        </a:rPr>
                        <a:t>Maintenance (×2)</a:t>
                      </a:r>
                    </a:p>
                  </a:txBody>
                  <a:tcPr marL="109728" marR="109728">
                    <a:solidFill>
                      <a:srgbClr val="1A283B"/>
                    </a:solidFill>
                  </a:tcPr>
                </a:tc>
                <a:tc>
                  <a:txBody>
                    <a:bodyPr wrap="square"/>
                    <a:lstStyle/>
                    <a:p>
                      <a:r>
                        <a:rPr sz="1600" b="0">
                          <a:solidFill>
                            <a:srgbClr val="ADBBCD"/>
                          </a:solidFill>
                          <a:latin typeface="Arial"/>
                        </a:rPr>
                        <a:t>4</a:t>
                      </a:r>
                    </a:p>
                  </a:txBody>
                  <a:tcPr marL="109728" marR="109728">
                    <a:solidFill>
                      <a:srgbClr val="1A283B"/>
                    </a:solidFill>
                  </a:tcPr>
                </a:tc>
                <a:tc>
                  <a:txBody>
                    <a:bodyPr wrap="square"/>
                    <a:lstStyle/>
                    <a:p>
                      <a:r>
                        <a:rPr sz="1600" b="0">
                          <a:solidFill>
                            <a:srgbClr val="ADBBCD"/>
                          </a:solidFill>
                          <a:latin typeface="Arial"/>
                        </a:rPr>
                        <a:t>10</a:t>
                      </a:r>
                    </a:p>
                  </a:txBody>
                  <a:tcPr marL="109728" marR="109728">
                    <a:solidFill>
                      <a:srgbClr val="1A283B"/>
                    </a:solidFill>
                  </a:tcPr>
                </a:tc>
                <a:tc>
                  <a:txBody>
                    <a:bodyPr wrap="square"/>
                    <a:lstStyle/>
                    <a:p>
                      <a:r>
                        <a:rPr sz="1600" b="0">
                          <a:solidFill>
                            <a:srgbClr val="ADBBCD"/>
                          </a:solidFill>
                          <a:latin typeface="Arial"/>
                        </a:rPr>
                        <a:t>4</a:t>
                      </a:r>
                    </a:p>
                  </a:txBody>
                  <a:tcPr marL="109728" marR="109728">
                    <a:solidFill>
                      <a:srgbClr val="1A283B"/>
                    </a:solidFill>
                  </a:tcPr>
                </a:tc>
              </a:tr>
              <a:tr h="475488">
                <a:tc>
                  <a:txBody>
                    <a:bodyPr wrap="square"/>
                    <a:lstStyle/>
                    <a:p>
                      <a:r>
                        <a:rPr sz="1600" b="1">
                          <a:solidFill>
                            <a:srgbClr val="F8FAFC"/>
                          </a:solidFill>
                          <a:latin typeface="Arial"/>
                        </a:rPr>
                        <a:t>Total / 50</a:t>
                      </a:r>
                    </a:p>
                  </a:txBody>
                  <a:tcPr marL="109728" marR="109728">
                    <a:solidFill>
                      <a:srgbClr val="15233A"/>
                    </a:solidFill>
                  </a:tcPr>
                </a:tc>
                <a:tc>
                  <a:txBody>
                    <a:bodyPr wrap="square"/>
                    <a:lstStyle/>
                    <a:p>
                      <a:r>
                        <a:rPr sz="1600" b="0">
                          <a:solidFill>
                            <a:srgbClr val="ADBBCD"/>
                          </a:solidFill>
                          <a:latin typeface="Arial"/>
                        </a:rPr>
                        <a:t>27</a:t>
                      </a:r>
                    </a:p>
                  </a:txBody>
                  <a:tcPr marL="109728" marR="109728">
                    <a:solidFill>
                      <a:srgbClr val="15233A"/>
                    </a:solidFill>
                  </a:tcPr>
                </a:tc>
                <a:tc>
                  <a:txBody>
                    <a:bodyPr wrap="square"/>
                    <a:lstStyle/>
                    <a:p>
                      <a:r>
                        <a:rPr sz="1600" b="0">
                          <a:solidFill>
                            <a:srgbClr val="ADBBCD"/>
                          </a:solidFill>
                          <a:latin typeface="Arial"/>
                        </a:rPr>
                        <a:t>44</a:t>
                      </a:r>
                    </a:p>
                  </a:txBody>
                  <a:tcPr marL="109728" marR="109728">
                    <a:solidFill>
                      <a:srgbClr val="15233A"/>
                    </a:solidFill>
                  </a:tcPr>
                </a:tc>
                <a:tc>
                  <a:txBody>
                    <a:bodyPr wrap="square"/>
                    <a:lstStyle/>
                    <a:p>
                      <a:r>
                        <a:rPr sz="1600" b="0">
                          <a:solidFill>
                            <a:srgbClr val="ADBBCD"/>
                          </a:solidFill>
                          <a:latin typeface="Arial"/>
                        </a:rPr>
                        <a:t>29</a:t>
                      </a:r>
                    </a:p>
                  </a:txBody>
                  <a:tcPr marL="109728" marR="109728">
                    <a:solidFill>
                      <a:srgbClr val="15233A"/>
                    </a:solidFill>
                  </a:tcPr>
                </a:tc>
              </a:tr>
            </a:tbl>
          </a:graphicData>
        </a:graphic>
      </p:graphicFrame>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054 / 198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REJECTED OPTIONS LOG</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Why C lost, and when it would win</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 Option C: event-sourced append-only log</a:t>
            </a:r>
          </a:p>
          <a:p>
            <a:pPr algn="l">
              <a:spcAft>
                <a:spcPts val="400"/>
              </a:spcAft>
            </a:pPr>
            <a:r>
              <a:rPr sz="2000">
                <a:solidFill>
                  <a:srgbClr val="BAFF70"/>
                </a:solidFill>
                <a:latin typeface="Consolas"/>
              </a:rPr>
              <a:t>- Main advantages: full audit trail, time travel</a:t>
            </a:r>
          </a:p>
          <a:p>
            <a:pPr algn="l">
              <a:spcAft>
                <a:spcPts val="400"/>
              </a:spcAft>
            </a:pPr>
            <a:r>
              <a:rPr sz="2000">
                <a:solidFill>
                  <a:srgbClr val="BAFF70"/>
                </a:solidFill>
                <a:latin typeface="Consolas"/>
              </a:rPr>
              <a:t>- Main disadvantages: most moving parts, replay cost, privacy deletion</a:t>
            </a:r>
          </a:p>
          <a:p>
            <a:pPr algn="l">
              <a:spcAft>
                <a:spcPts val="400"/>
              </a:spcAft>
            </a:pPr>
            <a:r>
              <a:rPr sz="2000">
                <a:solidFill>
                  <a:srgbClr val="BAFF70"/>
                </a:solidFill>
                <a:latin typeface="Consolas"/>
              </a:rPr>
              <a:t>- Primary reason for rejection: complexity without a requirement</a:t>
            </a:r>
          </a:p>
          <a:p>
            <a:pPr algn="l">
              <a:spcAft>
                <a:spcPts val="400"/>
              </a:spcAft>
            </a:pPr>
            <a:r>
              <a:rPr sz="2000">
                <a:solidFill>
                  <a:srgbClr val="BAFF70"/>
                </a:solidFill>
                <a:latin typeface="Consolas"/>
              </a:rPr>
              <a:t>- Could become appropriate if: compliance needs an immutable</a:t>
            </a:r>
          </a:p>
          <a:p>
            <a:pPr algn="l">
              <a:spcAft>
                <a:spcPts val="400"/>
              </a:spcAft>
            </a:pPr>
            <a:r>
              <a:rPr sz="2000">
                <a:solidFill>
                  <a:srgbClr val="BAFF70"/>
                </a:solidFill>
                <a:latin typeface="Consolas"/>
              </a:rPr>
              <a:t>  history, or the dashboard needs a 'what changed' feed</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decision/rejected-options-log.md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055 / 198</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04 · PROMPT 1 OF 2</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Tournament (no code)</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Read briefs/notes-api.md. Follow the tournament rules exactly: write</a:t>
            </a:r>
          </a:p>
          <a:p>
            <a:pPr algn="l">
              <a:spcAft>
                <a:spcPts val="400"/>
              </a:spcAft>
            </a:pPr>
            <a:r>
              <a:rPr sz="2000">
                <a:solidFill>
                  <a:srgbClr val="BAFF70"/>
                </a:solidFill>
                <a:latin typeface="Consolas"/>
              </a:rPr>
              <a:t>three genuinely different designs to designs/option-a-*.md,</a:t>
            </a:r>
          </a:p>
          <a:p>
            <a:pPr algn="l">
              <a:spcAft>
                <a:spcPts val="400"/>
              </a:spcAft>
            </a:pPr>
            <a:r>
              <a:rPr sz="2000">
                <a:solidFill>
                  <a:srgbClr val="BAFF70"/>
                </a:solidFill>
                <a:latin typeface="Consolas"/>
              </a:rPr>
              <a:t>option-b-*.md and option-c-*.md, score them in decision/decision-</a:t>
            </a:r>
          </a:p>
          <a:p>
            <a:pPr algn="l">
              <a:spcAft>
                <a:spcPts val="400"/>
              </a:spcAft>
            </a:pPr>
            <a:r>
              <a:rPr sz="2000">
                <a:solidFill>
                  <a:srgbClr val="BAFF70"/>
                </a:solidFill>
                <a:latin typeface="Consolas"/>
              </a:rPr>
              <a:t>matrix.md with the fixed weighted criteria, recommend a winner, and</a:t>
            </a:r>
          </a:p>
          <a:p>
            <a:pPr algn="l">
              <a:spcAft>
                <a:spcPts val="400"/>
              </a:spcAft>
            </a:pPr>
            <a:r>
              <a:rPr sz="2000">
                <a:solidFill>
                  <a:srgbClr val="BAFF70"/>
                </a:solidFill>
                <a:latin typeface="Consolas"/>
              </a:rPr>
              <a:t>write decision/rejected-options-log.md with every required field. Do</a:t>
            </a:r>
          </a:p>
          <a:p>
            <a:pPr algn="l">
              <a:spcAft>
                <a:spcPts val="400"/>
              </a:spcAft>
            </a:pPr>
            <a:r>
              <a:rPr sz="2000">
                <a:solidFill>
                  <a:srgbClr val="BAFF70"/>
                </a:solidFill>
                <a:latin typeface="Consolas"/>
              </a:rPr>
              <a:t>not write any implementation code. Stop and wait for my approval.</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parts/04-notes-tournament/PROMPTS.md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056 / 198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04 · PROMPT 2 OF 2</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Implement the approved design</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I approve your recommended design. Implement it in notes_api/ with</a:t>
            </a:r>
          </a:p>
          <a:p>
            <a:pPr algn="l">
              <a:spcAft>
                <a:spcPts val="400"/>
              </a:spcAft>
            </a:pPr>
            <a:r>
              <a:rPr sz="2000">
                <a:solidFill>
                  <a:srgbClr val="BAFF70"/>
                </a:solidFill>
                <a:latin typeface="Consolas"/>
              </a:rPr>
              <a:t>end-to-end tests in tests/test_notes_api.py that run a real server</a:t>
            </a:r>
          </a:p>
          <a:p>
            <a:pPr algn="l">
              <a:spcAft>
                <a:spcPts val="400"/>
              </a:spcAft>
            </a:pPr>
            <a:r>
              <a:rPr sz="2000">
                <a:solidFill>
                  <a:srgbClr val="BAFF70"/>
                </a:solidFill>
                <a:latin typeface="Consolas"/>
              </a:rPr>
              <a:t>on an ephemeral port. Run the full test suite and show the raw</a:t>
            </a:r>
          </a:p>
          <a:p>
            <a:pPr algn="l">
              <a:spcAft>
                <a:spcPts val="400"/>
              </a:spcAft>
            </a:pPr>
            <a:r>
              <a:rPr sz="2000">
                <a:solidFill>
                  <a:srgbClr val="BAFF70"/>
                </a:solidFill>
                <a:latin typeface="Consolas"/>
              </a:rPr>
              <a:t>output. Do not commit.</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parts/04-notes-tournament/PROMPTS.md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057 / 198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pic>
        <p:nvPicPr>
          <p:cNvPr id="2" name="04-notes-tournament.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04 · EVIDENCE, NOT CLAIMS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the run proved</a:t>
            </a:r>
          </a:p>
        </p:txBody>
      </p:sp>
      <p:sp>
        <p:nvSpPr>
          <p:cNvPr id="6" name="TextBox 5"/>
          <p:cNvSpPr txBox="1"/>
          <p:nvPr/>
        </p:nvSpPr>
        <p:spPr>
          <a:xfrm>
            <a:off x="640080" y="1984248"/>
            <a:ext cx="5349240" cy="365760"/>
          </a:xfrm>
          <a:prstGeom prst="rect">
            <a:avLst/>
          </a:prstGeom>
          <a:noFill/>
        </p:spPr>
        <p:txBody>
          <a:bodyPr wrap="square" lIns="0" rIns="0" tIns="0" bIns="0">
            <a:spAutoFit/>
          </a:bodyPr>
          <a:lstStyle/>
          <a:p>
            <a:pPr algn="l"/>
            <a:r>
              <a:rPr sz="1500" b="1">
                <a:solidFill>
                  <a:srgbClr val="FBBF24"/>
                </a:solidFill>
                <a:latin typeface="Arial"/>
              </a:rPr>
              <a:t>WHAT TO LOOK FOR</a:t>
            </a:r>
          </a:p>
        </p:txBody>
      </p:sp>
      <p:sp>
        <p:nvSpPr>
          <p:cNvPr id="7" name="Rounded Rectangle 6"/>
          <p:cNvSpPr/>
          <p:nvPr/>
        </p:nvSpPr>
        <p:spPr>
          <a:xfrm>
            <a:off x="64008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Three design files that differ in shape</a:t>
            </a:r>
          </a:p>
          <a:p>
            <a:pPr algn="l">
              <a:spcAft>
                <a:spcPts val="800"/>
              </a:spcAft>
            </a:pPr>
            <a:r>
              <a:rPr sz="1900">
                <a:solidFill>
                  <a:srgbClr val="F8FAFC"/>
                </a:solidFill>
                <a:latin typeface="Arial"/>
              </a:rPr>
              <a:t>•  Filled matrix with totals</a:t>
            </a:r>
          </a:p>
          <a:p>
            <a:pPr algn="l">
              <a:spcAft>
                <a:spcPts val="800"/>
              </a:spcAft>
            </a:pPr>
            <a:r>
              <a:rPr sz="1900">
                <a:solidFill>
                  <a:srgbClr val="F8FAFC"/>
                </a:solidFill>
                <a:latin typeface="Arial"/>
              </a:rPr>
              <a:t>•  Rejected Options Log with 'could become appropriate if'</a:t>
            </a:r>
          </a:p>
          <a:p>
            <a:pPr algn="l">
              <a:spcAft>
                <a:spcPts val="800"/>
              </a:spcAft>
            </a:pPr>
            <a:r>
              <a:rPr sz="1900">
                <a:solidFill>
                  <a:srgbClr val="F8FAFC"/>
                </a:solidFill>
                <a:latin typeface="Arial"/>
              </a:rPr>
              <a:t>•  Raw test output</a:t>
            </a:r>
          </a:p>
        </p:txBody>
      </p:sp>
      <p:sp>
        <p:nvSpPr>
          <p:cNvPr id="8" name="TextBox 7"/>
          <p:cNvSpPr txBox="1"/>
          <p:nvPr/>
        </p:nvSpPr>
        <p:spPr>
          <a:xfrm>
            <a:off x="6172200" y="1984248"/>
            <a:ext cx="5349240" cy="365760"/>
          </a:xfrm>
          <a:prstGeom prst="rect">
            <a:avLst/>
          </a:prstGeom>
          <a:noFill/>
        </p:spPr>
        <p:txBody>
          <a:bodyPr wrap="square" lIns="0" rIns="0" tIns="0" bIns="0">
            <a:spAutoFit/>
          </a:bodyPr>
          <a:lstStyle/>
          <a:p>
            <a:pPr algn="l"/>
            <a:r>
              <a:rPr sz="1500" b="1">
                <a:solidFill>
                  <a:srgbClr val="BAFF70"/>
                </a:solidFill>
                <a:latin typeface="Arial"/>
              </a:rPr>
              <a:t>WHAT THE RECORDED RUN PRODUCED</a:t>
            </a:r>
          </a:p>
        </p:txBody>
      </p:sp>
      <p:sp>
        <p:nvSpPr>
          <p:cNvPr id="9" name="Rounded Rectangle 8"/>
          <p:cNvSpPr/>
          <p:nvPr/>
        </p:nvSpPr>
        <p:spPr>
          <a:xfrm>
            <a:off x="617220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2 prompt(s) · 10 min 38 s · $0.58 · 24 tool calls</a:t>
            </a:r>
          </a:p>
          <a:p>
            <a:pPr algn="l">
              <a:spcAft>
                <a:spcPts val="800"/>
              </a:spcAft>
            </a:pPr>
            <a:r>
              <a:rPr sz="1900">
                <a:solidFill>
                  <a:srgbClr val="F8FAFC"/>
                </a:solidFill>
                <a:latin typeface="Arial"/>
              </a:rPr>
              <a:t>•  Tests seen in the run: Ran 42 tests in 1.806s</a:t>
            </a:r>
          </a:p>
          <a:p>
            <a:pPr algn="l">
              <a:spcAft>
                <a:spcPts val="800"/>
              </a:spcAft>
            </a:pPr>
            <a:r>
              <a:rPr sz="1900">
                <a:solidFill>
                  <a:srgbClr val="F8FAFC"/>
                </a:solidFill>
                <a:latin typeface="Arial"/>
              </a:rPr>
              <a:t>•  bin/bootcamp verify: 7 PASS · 0 FAIL</a:t>
            </a:r>
          </a:p>
          <a:p>
            <a:pPr algn="l">
              <a:spcAft>
                <a:spcPts val="800"/>
              </a:spcAft>
            </a:pPr>
            <a:r>
              <a:rPr sz="1900">
                <a:solidFill>
                  <a:srgbClr val="F8FAFC"/>
                </a:solidFill>
                <a:latin typeface="Arial"/>
              </a:rPr>
              <a:t>•  Changed: ?? decision/, ?? designs/, ?? notes_api/, ?? tests/test_notes_api.py</a:t>
            </a:r>
          </a:p>
        </p:txBody>
      </p:sp>
      <p:sp>
        <p:nvSpPr>
          <p:cNvPr id="10" name="TextBox 9"/>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059 / 198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04 · DISCUSS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Your turn to think</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Were the three designs genuinely different? How can you tell?</a:t>
            </a:r>
          </a:p>
          <a:p>
            <a:pPr algn="l">
              <a:spcAft>
                <a:spcPts val="800"/>
              </a:spcAft>
            </a:pPr>
            <a:r>
              <a:rPr sz="2200">
                <a:solidFill>
                  <a:srgbClr val="F8FAFC"/>
                </a:solidFill>
                <a:latin typeface="Arial"/>
              </a:rPr>
              <a:t>•  Which criterion weight would you change for your team?</a:t>
            </a:r>
          </a:p>
          <a:p>
            <a:pPr algn="l">
              <a:spcAft>
                <a:spcPts val="800"/>
              </a:spcAft>
            </a:pPr>
            <a:r>
              <a:rPr sz="2200">
                <a:solidFill>
                  <a:srgbClr val="F8FAFC"/>
                </a:solidFill>
                <a:latin typeface="Arial"/>
              </a:rPr>
              <a:t>•  Under what conditions would the rejected option win?</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060 / 198</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04 · LAB</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Hands-on</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Run the tournament prompt. Before approving, push back once: ask Claude to defend the scores of the loser it ranked second.</a:t>
            </a:r>
          </a:p>
          <a:p>
            <a:pPr algn="l">
              <a:spcAft>
                <a:spcPts val="800"/>
              </a:spcAft>
            </a:pPr>
            <a:r>
              <a:rPr sz="2200">
                <a:solidFill>
                  <a:srgbClr val="F8FAFC"/>
                </a:solidFill>
                <a:latin typeface="Arial"/>
              </a:rPr>
              <a:t>•  Start: bin/bootcamp stage 04</a:t>
            </a:r>
          </a:p>
          <a:p>
            <a:pPr algn="l">
              <a:spcAft>
                <a:spcPts val="800"/>
              </a:spcAft>
            </a:pPr>
            <a:r>
              <a:rPr sz="2200">
                <a:solidFill>
                  <a:srgbClr val="F8FAFC"/>
                </a:solidFill>
                <a:latin typeface="Arial"/>
              </a:rPr>
              <a:t>•  Prompts: parts/04-notes-tournament/PROMPTS.md</a:t>
            </a:r>
          </a:p>
          <a:p>
            <a:pPr algn="l">
              <a:spcAft>
                <a:spcPts val="800"/>
              </a:spcAft>
            </a:pPr>
            <a:r>
              <a:rPr sz="2200">
                <a:solidFill>
                  <a:srgbClr val="F8FAFC"/>
                </a:solidFill>
                <a:latin typeface="Arial"/>
              </a:rPr>
              <a:t>•  Check: bin/bootcamp verify</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061 / 198</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04 · CHECKPOINT</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 now have</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Working Notes API</a:t>
            </a:r>
          </a:p>
          <a:p>
            <a:pPr algn="l">
              <a:spcAft>
                <a:spcPts val="800"/>
              </a:spcAft>
            </a:pPr>
            <a:r>
              <a:rPr sz="2200">
                <a:solidFill>
                  <a:srgbClr val="F8FAFC"/>
                </a:solidFill>
                <a:latin typeface="Arial"/>
              </a:rPr>
              <a:t>✓  Three-option decision matrix</a:t>
            </a:r>
          </a:p>
          <a:p>
            <a:pPr algn="l">
              <a:spcAft>
                <a:spcPts val="800"/>
              </a:spcAft>
            </a:pPr>
            <a:r>
              <a:rPr sz="2200">
                <a:solidFill>
                  <a:srgbClr val="F8FAFC"/>
                </a:solidFill>
                <a:latin typeface="Arial"/>
              </a:rPr>
              <a:t>✓  Selected architecture with reasoning</a:t>
            </a:r>
          </a:p>
          <a:p>
            <a:pPr algn="l">
              <a:spcAft>
                <a:spcPts val="800"/>
              </a:spcAft>
            </a:pPr>
            <a:r>
              <a:rPr sz="2200">
                <a:solidFill>
                  <a:srgbClr val="F8FAFC"/>
                </a:solidFill>
                <a:latin typeface="Arial"/>
              </a:rPr>
              <a:t>✓  Rejected Options Log</a:t>
            </a:r>
          </a:p>
          <a:p>
            <a:pPr algn="l">
              <a:spcAft>
                <a:spcPts val="800"/>
              </a:spcAft>
            </a:pPr>
            <a:r>
              <a:rPr sz="2200">
                <a:solidFill>
                  <a:srgbClr val="F8FAFC"/>
                </a:solidFill>
                <a:latin typeface="Arial"/>
              </a:rPr>
              <a:t>•  Behind? bin/bootcamp checkpoint 04 --force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062 / 198</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2194560"/>
            <a:ext cx="10058400" cy="365760"/>
          </a:xfrm>
          <a:prstGeom prst="rect">
            <a:avLst/>
          </a:prstGeom>
          <a:noFill/>
        </p:spPr>
        <p:txBody>
          <a:bodyPr wrap="square" lIns="0" rIns="0" tIns="0" bIns="0">
            <a:spAutoFit/>
          </a:bodyPr>
          <a:lstStyle/>
          <a:p>
            <a:pPr algn="l"/>
            <a:r>
              <a:rPr sz="1600" b="1">
                <a:solidFill>
                  <a:srgbClr val="BAFF70"/>
                </a:solidFill>
                <a:latin typeface="Arial"/>
              </a:rPr>
              <a:t>PART 05 · 10:50–11:20 · 30 MIN</a:t>
            </a:r>
          </a:p>
        </p:txBody>
      </p:sp>
      <p:sp>
        <p:nvSpPr>
          <p:cNvPr id="5" name="TextBox 4"/>
          <p:cNvSpPr txBox="1"/>
          <p:nvPr/>
        </p:nvSpPr>
        <p:spPr>
          <a:xfrm>
            <a:off x="640080" y="2697480"/>
            <a:ext cx="10789920" cy="1463040"/>
          </a:xfrm>
          <a:prstGeom prst="rect">
            <a:avLst/>
          </a:prstGeom>
          <a:noFill/>
        </p:spPr>
        <p:txBody>
          <a:bodyPr wrap="square" lIns="0" rIns="0" tIns="0" bIns="0">
            <a:spAutoFit/>
          </a:bodyPr>
          <a:lstStyle/>
          <a:p>
            <a:pPr algn="l"/>
            <a:r>
              <a:rPr sz="4600" b="1">
                <a:solidFill>
                  <a:srgbClr val="F8FAFC"/>
                </a:solidFill>
                <a:latin typeface="Arial"/>
              </a:rPr>
              <a:t>Testing, debugging, checkpoints and /goal</a:t>
            </a:r>
          </a:p>
        </p:txBody>
      </p:sp>
      <p:sp>
        <p:nvSpPr>
          <p:cNvPr id="6" name="TextBox 5"/>
          <p:cNvSpPr txBox="1"/>
          <p:nvPr/>
        </p:nvSpPr>
        <p:spPr>
          <a:xfrm>
            <a:off x="640080" y="4297680"/>
            <a:ext cx="10789920" cy="914400"/>
          </a:xfrm>
          <a:prstGeom prst="rect">
            <a:avLst/>
          </a:prstGeom>
          <a:noFill/>
        </p:spPr>
        <p:txBody>
          <a:bodyPr wrap="square" lIns="0" rIns="0" tIns="0" bIns="0">
            <a:spAutoFit/>
          </a:bodyPr>
          <a:lstStyle/>
          <a:p>
            <a:pPr algn="l"/>
            <a:r>
              <a:rPr sz="2000" b="0">
                <a:solidFill>
                  <a:srgbClr val="ADBBCD"/>
                </a:solidFill>
                <a:latin typeface="Arial"/>
              </a:rPr>
              <a:t>Project 5: Resilient Notes API</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063 / 198</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05 · GOALS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you will be able to do</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Generate meaningful tests and find missing edge cases</a:t>
            </a:r>
          </a:p>
          <a:p>
            <a:pPr algn="l">
              <a:spcAft>
                <a:spcPts val="800"/>
              </a:spcAft>
            </a:pPr>
            <a:r>
              <a:rPr sz="2200">
                <a:solidFill>
                  <a:srgbClr val="F8FAFC"/>
                </a:solidFill>
                <a:latin typeface="Arial"/>
              </a:rPr>
              <a:t>•  Use a failing test as the debugging contract; investigate before editing</a:t>
            </a:r>
          </a:p>
          <a:p>
            <a:pPr algn="l">
              <a:spcAft>
                <a:spcPts val="800"/>
              </a:spcAft>
            </a:pPr>
            <a:r>
              <a:rPr sz="2200">
                <a:solidFill>
                  <a:srgbClr val="F8FAFC"/>
                </a:solidFill>
                <a:latin typeface="Arial"/>
              </a:rPr>
              <a:t>•  Use checkpoints: /rewind → restore code without losing the conversation</a:t>
            </a:r>
          </a:p>
          <a:p>
            <a:pPr algn="l">
              <a:spcAft>
                <a:spcPts val="800"/>
              </a:spcAft>
            </a:pPr>
            <a:r>
              <a:rPr sz="2200">
                <a:solidFill>
                  <a:srgbClr val="F8FAFC"/>
                </a:solidFill>
                <a:latin typeface="Arial"/>
              </a:rPr>
              <a:t>•  Use /goal for a measurable completion condition</a:t>
            </a:r>
          </a:p>
          <a:p>
            <a:pPr algn="l">
              <a:spcAft>
                <a:spcPts val="800"/>
              </a:spcAft>
            </a:pPr>
            <a:r>
              <a:rPr sz="2200">
                <a:solidFill>
                  <a:srgbClr val="F8FAFC"/>
                </a:solidFill>
                <a:latin typeface="Arial"/>
              </a:rPr>
              <a:t>•  Separate test evidence from Claude's own completion claim</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064 / 198</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THE DEBUGGING CONTRACT</a:t>
            </a:r>
          </a:p>
        </p:txBody>
      </p:sp>
      <p:sp>
        <p:nvSpPr>
          <p:cNvPr id="5" name="TextBox 4"/>
          <p:cNvSpPr txBox="1"/>
          <p:nvPr/>
        </p:nvSpPr>
        <p:spPr>
          <a:xfrm>
            <a:off x="640080" y="1280160"/>
            <a:ext cx="10881360" cy="1097280"/>
          </a:xfrm>
          <a:prstGeom prst="rect">
            <a:avLst/>
          </a:prstGeom>
          <a:noFill/>
        </p:spPr>
        <p:txBody>
          <a:bodyPr wrap="square" lIns="0" rIns="0" tIns="0" bIns="0">
            <a:spAutoFit/>
          </a:bodyPr>
          <a:lstStyle/>
          <a:p>
            <a:pPr algn="l"/>
            <a:r>
              <a:rPr sz="3000" b="1">
                <a:solidFill>
                  <a:srgbClr val="F8FAFC"/>
                </a:solidFill>
                <a:latin typeface="Arial"/>
              </a:rPr>
              <a:t>Reproduce → explain → failing test → bounded fix → evidence</a:t>
            </a:r>
          </a:p>
        </p:txBody>
      </p:sp>
      <p:sp>
        <p:nvSpPr>
          <p:cNvPr id="6" name="Pentagon 5"/>
          <p:cNvSpPr/>
          <p:nvPr/>
        </p:nvSpPr>
        <p:spPr>
          <a:xfrm>
            <a:off x="640080" y="2825496"/>
            <a:ext cx="1993392" cy="1188720"/>
          </a:xfrm>
          <a:prstGeom prst="homePlate">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BAFF70"/>
                </a:solidFill>
                <a:latin typeface="Arial"/>
              </a:rPr>
              <a:t>Reproduce</a:t>
            </a:r>
          </a:p>
        </p:txBody>
      </p:sp>
      <p:sp>
        <p:nvSpPr>
          <p:cNvPr id="7" name="Chevron 6"/>
          <p:cNvSpPr/>
          <p:nvPr/>
        </p:nvSpPr>
        <p:spPr>
          <a:xfrm>
            <a:off x="2862072" y="2825496"/>
            <a:ext cx="1993392" cy="1188720"/>
          </a:xfrm>
          <a:prstGeom prst="chevron">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BAFF70"/>
                </a:solidFill>
                <a:latin typeface="Arial"/>
              </a:rPr>
              <a:t>Explain</a:t>
            </a:r>
          </a:p>
        </p:txBody>
      </p:sp>
      <p:sp>
        <p:nvSpPr>
          <p:cNvPr id="8" name="Chevron 7"/>
          <p:cNvSpPr/>
          <p:nvPr/>
        </p:nvSpPr>
        <p:spPr>
          <a:xfrm>
            <a:off x="5084064" y="2825496"/>
            <a:ext cx="1993392" cy="1188720"/>
          </a:xfrm>
          <a:prstGeom prst="chevron">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BAFF70"/>
                </a:solidFill>
                <a:latin typeface="Arial"/>
              </a:rPr>
              <a:t>Failing test</a:t>
            </a:r>
          </a:p>
        </p:txBody>
      </p:sp>
      <p:sp>
        <p:nvSpPr>
          <p:cNvPr id="9" name="Chevron 8"/>
          <p:cNvSpPr/>
          <p:nvPr/>
        </p:nvSpPr>
        <p:spPr>
          <a:xfrm>
            <a:off x="7306056" y="2825496"/>
            <a:ext cx="1993392" cy="1188720"/>
          </a:xfrm>
          <a:prstGeom prst="chevron">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BAFF70"/>
                </a:solidFill>
                <a:latin typeface="Arial"/>
              </a:rPr>
              <a:t>Bounded fix</a:t>
            </a:r>
          </a:p>
        </p:txBody>
      </p:sp>
      <p:sp>
        <p:nvSpPr>
          <p:cNvPr id="10" name="Chevron 9"/>
          <p:cNvSpPr/>
          <p:nvPr/>
        </p:nvSpPr>
        <p:spPr>
          <a:xfrm>
            <a:off x="9528048" y="2825496"/>
            <a:ext cx="1993392" cy="1188720"/>
          </a:xfrm>
          <a:prstGeom prst="chevron">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BAFF70"/>
                </a:solidFill>
                <a:latin typeface="Arial"/>
              </a:rPr>
              <a:t>Evidence</a:t>
            </a:r>
          </a:p>
        </p:txBody>
      </p:sp>
      <p:sp>
        <p:nvSpPr>
          <p:cNvPr id="11" name="TextBox 10"/>
          <p:cNvSpPr txBox="1"/>
          <p:nvPr/>
        </p:nvSpPr>
        <p:spPr>
          <a:xfrm>
            <a:off x="640080" y="4471416"/>
            <a:ext cx="10881360" cy="1280160"/>
          </a:xfrm>
          <a:prstGeom prst="rect">
            <a:avLst/>
          </a:prstGeom>
          <a:noFill/>
        </p:spPr>
        <p:txBody>
          <a:bodyPr wrap="square" lIns="0" rIns="0" tIns="0" bIns="0">
            <a:spAutoFit/>
          </a:bodyPr>
          <a:lstStyle/>
          <a:p>
            <a:pPr algn="l"/>
            <a:r>
              <a:rPr sz="2200" b="0">
                <a:solidFill>
                  <a:srgbClr val="ADBBCD"/>
                </a:solidFill>
                <a:latin typeface="Arial"/>
              </a:rPr>
              <a:t>Investigate before editing. The failing test is the contract the fix must satisfy.</a:t>
            </a:r>
          </a:p>
        </p:txBody>
      </p:sp>
      <p:sp>
        <p:nvSpPr>
          <p:cNvPr id="12" name="TextBox 11"/>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065 / 198</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THE SEEDED DEFECT</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BUG-101: renaming a note erases its content</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1700">
                <a:solidFill>
                  <a:srgbClr val="BAFF70"/>
                </a:solidFill>
                <a:latin typeface="Consolas"/>
              </a:rPr>
              <a:t>def update(self, note_id, data):</a:t>
            </a:r>
          </a:p>
          <a:p>
            <a:pPr algn="l">
              <a:spcAft>
                <a:spcPts val="400"/>
              </a:spcAft>
            </a:pPr>
            <a:r>
              <a:rPr sz="1700">
                <a:solidFill>
                  <a:srgbClr val="BAFF70"/>
                </a:solidFill>
                <a:latin typeface="Consolas"/>
              </a:rPr>
              <a:t>    current = self.get(note_id)</a:t>
            </a:r>
          </a:p>
          <a:p>
            <a:pPr algn="l">
              <a:spcAft>
                <a:spcPts val="400"/>
              </a:spcAft>
            </a:pPr>
            <a:r>
              <a:rPr sz="1700">
                <a:solidFill>
                  <a:srgbClr val="BAFF70"/>
                </a:solidFill>
                <a:latin typeface="Consolas"/>
              </a:rPr>
              <a:t>    title = _title(data["title"]) if "title" in data else current["title"]</a:t>
            </a:r>
          </a:p>
          <a:p>
            <a:pPr algn="l">
              <a:spcAft>
                <a:spcPts val="400"/>
              </a:spcAft>
            </a:pPr>
            <a:r>
              <a:rPr sz="1700">
                <a:solidFill>
                  <a:srgbClr val="BAFF70"/>
                </a:solidFill>
                <a:latin typeface="Consolas"/>
              </a:rPr>
              <a:t>-   body = _body(data.get("body"))          # missing key → None → ""</a:t>
            </a:r>
          </a:p>
          <a:p>
            <a:pPr algn="l">
              <a:spcAft>
                <a:spcPts val="400"/>
              </a:spcAft>
            </a:pPr>
            <a:r>
              <a:rPr sz="1700">
                <a:solidFill>
                  <a:srgbClr val="BAFF70"/>
                </a:solidFill>
                <a:latin typeface="Consolas"/>
              </a:rPr>
              <a:t>+   body = _body(data["body"]) if "body" in data else current["body"]</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One line. Green suite before and after — until the regression test exists.</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066 / 198</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CHECKPOINTS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/rewind: what comes back</a:t>
            </a:r>
          </a:p>
        </p:txBody>
      </p:sp>
      <p:graphicFrame>
        <p:nvGraphicFramePr>
          <p:cNvPr id="6" name="Table 5"/>
          <p:cNvGraphicFramePr>
            <a:graphicFrameLocks noGrp="1"/>
          </p:cNvGraphicFramePr>
          <p:nvPr/>
        </p:nvGraphicFramePr>
        <p:xfrm>
          <a:off x="640080" y="1984248"/>
          <a:ext cx="10881359" cy="2377440"/>
        </p:xfrm>
        <a:graphic>
          <a:graphicData uri="http://schemas.openxmlformats.org/drawingml/2006/table">
            <a:tbl>
              <a:tblPr>
                <a:tableStyleId>{5C22544A-7EE6-4342-B048-85BDC9FD1C3A}</a:tableStyleId>
              </a:tblPr>
              <a:tblGrid>
                <a:gridCol w="3467686"/>
                <a:gridCol w="7413673"/>
              </a:tblGrid>
              <a:tr h="475488">
                <a:tc>
                  <a:txBody>
                    <a:bodyPr wrap="square"/>
                    <a:lstStyle/>
                    <a:p>
                      <a:r>
                        <a:rPr sz="1600" b="1">
                          <a:solidFill>
                            <a:srgbClr val="BAFF70"/>
                          </a:solidFill>
                          <a:latin typeface="Arial"/>
                        </a:rPr>
                        <a:t>Option</a:t>
                      </a:r>
                    </a:p>
                  </a:txBody>
                  <a:tcPr marL="109728" marR="109728">
                    <a:solidFill>
                      <a:srgbClr val="22324A"/>
                    </a:solidFill>
                  </a:tcPr>
                </a:tc>
                <a:tc>
                  <a:txBody>
                    <a:bodyPr wrap="square"/>
                    <a:lstStyle/>
                    <a:p>
                      <a:r>
                        <a:rPr sz="1600" b="1">
                          <a:solidFill>
                            <a:srgbClr val="BAFF70"/>
                          </a:solidFill>
                          <a:latin typeface="Arial"/>
                        </a:rPr>
                        <a:t>Restores</a:t>
                      </a:r>
                    </a:p>
                  </a:txBody>
                  <a:tcPr marL="109728" marR="109728">
                    <a:solidFill>
                      <a:srgbClr val="22324A"/>
                    </a:solidFill>
                  </a:tcPr>
                </a:tc>
              </a:tr>
              <a:tr h="475488">
                <a:tc>
                  <a:txBody>
                    <a:bodyPr wrap="square"/>
                    <a:lstStyle/>
                    <a:p>
                      <a:r>
                        <a:rPr sz="1600" b="1">
                          <a:solidFill>
                            <a:srgbClr val="F8FAFC"/>
                          </a:solidFill>
                          <a:latin typeface="Arial"/>
                        </a:rPr>
                        <a:t>Restore code and conversation</a:t>
                      </a:r>
                    </a:p>
                  </a:txBody>
                  <a:tcPr marL="109728" marR="109728">
                    <a:solidFill>
                      <a:srgbClr val="1A283B"/>
                    </a:solidFill>
                  </a:tcPr>
                </a:tc>
                <a:tc>
                  <a:txBody>
                    <a:bodyPr wrap="square"/>
                    <a:lstStyle/>
                    <a:p>
                      <a:r>
                        <a:rPr sz="1600" b="0">
                          <a:solidFill>
                            <a:srgbClr val="ADBBCD"/>
                          </a:solidFill>
                          <a:latin typeface="Arial"/>
                        </a:rPr>
                        <a:t>Files + chat to that prompt</a:t>
                      </a:r>
                    </a:p>
                  </a:txBody>
                  <a:tcPr marL="109728" marR="109728">
                    <a:solidFill>
                      <a:srgbClr val="1A283B"/>
                    </a:solidFill>
                  </a:tcPr>
                </a:tc>
              </a:tr>
              <a:tr h="475488">
                <a:tc>
                  <a:txBody>
                    <a:bodyPr wrap="square"/>
                    <a:lstStyle/>
                    <a:p>
                      <a:r>
                        <a:rPr sz="1600" b="1">
                          <a:solidFill>
                            <a:srgbClr val="F8FAFC"/>
                          </a:solidFill>
                          <a:latin typeface="Arial"/>
                        </a:rPr>
                        <a:t>Restore code</a:t>
                      </a:r>
                    </a:p>
                  </a:txBody>
                  <a:tcPr marL="109728" marR="109728">
                    <a:solidFill>
                      <a:srgbClr val="15233A"/>
                    </a:solidFill>
                  </a:tcPr>
                </a:tc>
                <a:tc>
                  <a:txBody>
                    <a:bodyPr wrap="square"/>
                    <a:lstStyle/>
                    <a:p>
                      <a:r>
                        <a:rPr sz="1600" b="0">
                          <a:solidFill>
                            <a:srgbClr val="ADBBCD"/>
                          </a:solidFill>
                          <a:latin typeface="Arial"/>
                        </a:rPr>
                        <a:t>Files only; keep the conversation and what you learned</a:t>
                      </a:r>
                    </a:p>
                  </a:txBody>
                  <a:tcPr marL="109728" marR="109728">
                    <a:solidFill>
                      <a:srgbClr val="15233A"/>
                    </a:solidFill>
                  </a:tcPr>
                </a:tc>
              </a:tr>
              <a:tr h="475488">
                <a:tc>
                  <a:txBody>
                    <a:bodyPr wrap="square"/>
                    <a:lstStyle/>
                    <a:p>
                      <a:r>
                        <a:rPr sz="1600" b="1">
                          <a:solidFill>
                            <a:srgbClr val="F8FAFC"/>
                          </a:solidFill>
                          <a:latin typeface="Arial"/>
                        </a:rPr>
                        <a:t>Restore conversation</a:t>
                      </a:r>
                    </a:p>
                  </a:txBody>
                  <a:tcPr marL="109728" marR="109728">
                    <a:solidFill>
                      <a:srgbClr val="1A283B"/>
                    </a:solidFill>
                  </a:tcPr>
                </a:tc>
                <a:tc>
                  <a:txBody>
                    <a:bodyPr wrap="square"/>
                    <a:lstStyle/>
                    <a:p>
                      <a:r>
                        <a:rPr sz="1600" b="0">
                          <a:solidFill>
                            <a:srgbClr val="ADBBCD"/>
                          </a:solidFill>
                          <a:latin typeface="Arial"/>
                        </a:rPr>
                        <a:t>Chat only</a:t>
                      </a:r>
                    </a:p>
                  </a:txBody>
                  <a:tcPr marL="109728" marR="109728">
                    <a:solidFill>
                      <a:srgbClr val="1A283B"/>
                    </a:solidFill>
                  </a:tcPr>
                </a:tc>
              </a:tr>
              <a:tr h="475488">
                <a:tc>
                  <a:txBody>
                    <a:bodyPr wrap="square"/>
                    <a:lstStyle/>
                    <a:p>
                      <a:r>
                        <a:rPr sz="1600" b="1">
                          <a:solidFill>
                            <a:srgbClr val="F8FAFC"/>
                          </a:solidFill>
                          <a:latin typeface="Arial"/>
                        </a:rPr>
                        <a:t>Not restored</a:t>
                      </a:r>
                    </a:p>
                  </a:txBody>
                  <a:tcPr marL="109728" marR="109728">
                    <a:solidFill>
                      <a:srgbClr val="15233A"/>
                    </a:solidFill>
                  </a:tcPr>
                </a:tc>
                <a:tc>
                  <a:txBody>
                    <a:bodyPr wrap="square"/>
                    <a:lstStyle/>
                    <a:p>
                      <a:r>
                        <a:rPr sz="1600" b="0">
                          <a:solidFill>
                            <a:srgbClr val="ADBBCD"/>
                          </a:solidFill>
                          <a:latin typeface="Arial"/>
                        </a:rPr>
                        <a:t>Bash changes (rm, mv, cp), external edits, most subagent edits</a:t>
                      </a:r>
                    </a:p>
                  </a:txBody>
                  <a:tcPr marL="109728" marR="109728">
                    <a:solidFill>
                      <a:srgbClr val="15233A"/>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067 / 198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MEASURABLE COMPLETION</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/goal turns 'done' into a condition</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1700">
                <a:solidFill>
                  <a:srgbClr val="BAFF70"/>
                </a:solidFill>
                <a:latin typeface="Consolas"/>
              </a:rPr>
              <a:t>/goal BUG-101 is fixed with the smallest change in notes_api/service.py,</a:t>
            </a:r>
          </a:p>
          <a:p>
            <a:pPr algn="l">
              <a:spcAft>
                <a:spcPts val="400"/>
              </a:spcAft>
            </a:pPr>
            <a:r>
              <a:rPr sz="1700">
                <a:solidFill>
                  <a:srgbClr val="BAFF70"/>
                </a:solidFill>
                <a:latin typeface="Consolas"/>
              </a:rPr>
              <a:t>  python3 -m unittest discover -s tests -q exits 0 with the raw output shown,</a:t>
            </a:r>
          </a:p>
          <a:p>
            <a:pPr algn="l">
              <a:spcAft>
                <a:spcPts val="400"/>
              </a:spcAft>
            </a:pPr>
            <a:r>
              <a:rPr sz="1700">
                <a:solidFill>
                  <a:srgbClr val="BAFF70"/>
                </a:solidFill>
                <a:latin typeface="Consolas"/>
              </a:rPr>
              <a:t>  docs/diagnosis-bug-101.md records reproduce/cause/fix/evidence,</a:t>
            </a:r>
          </a:p>
          <a:p>
            <a:pPr algn="l">
              <a:spcAft>
                <a:spcPts val="400"/>
              </a:spcAft>
            </a:pPr>
            <a:r>
              <a:rPr sz="1700">
                <a:solidFill>
                  <a:srgbClr val="BAFF70"/>
                </a:solidFill>
                <a:latin typeface="Consolas"/>
              </a:rPr>
              <a:t>  and the Review Before Merge checklist is complete with evidence.</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Evaluated after each turn from the transcript: not yet met · met · impossible. Phrase it so Claude can demonstrate it.</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068 / 198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REVIEW BEFORE MERGE</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Seven points, each with evidence</a:t>
            </a:r>
          </a:p>
        </p:txBody>
      </p:sp>
      <p:graphicFrame>
        <p:nvGraphicFramePr>
          <p:cNvPr id="6" name="Table 5"/>
          <p:cNvGraphicFramePr>
            <a:graphicFrameLocks noGrp="1"/>
          </p:cNvGraphicFramePr>
          <p:nvPr/>
        </p:nvGraphicFramePr>
        <p:xfrm>
          <a:off x="640080" y="1984248"/>
          <a:ext cx="10881359" cy="3803904"/>
        </p:xfrm>
        <a:graphic>
          <a:graphicData uri="http://schemas.openxmlformats.org/drawingml/2006/table">
            <a:tbl>
              <a:tblPr>
                <a:tableStyleId>{5C22544A-7EE6-4342-B048-85BDC9FD1C3A}</a:tableStyleId>
              </a:tblPr>
              <a:tblGrid>
                <a:gridCol w="1302698"/>
                <a:gridCol w="9578661"/>
              </a:tblGrid>
              <a:tr h="475488">
                <a:tc>
                  <a:txBody>
                    <a:bodyPr wrap="square"/>
                    <a:lstStyle/>
                    <a:p>
                      <a:r>
                        <a:rPr sz="1400" b="1">
                          <a:solidFill>
                            <a:srgbClr val="BAFF70"/>
                          </a:solidFill>
                          <a:latin typeface="Arial"/>
                        </a:rPr>
                        <a:t>#</a:t>
                      </a:r>
                    </a:p>
                  </a:txBody>
                  <a:tcPr marL="109728" marR="109728">
                    <a:solidFill>
                      <a:srgbClr val="22324A"/>
                    </a:solidFill>
                  </a:tcPr>
                </a:tc>
                <a:tc>
                  <a:txBody>
                    <a:bodyPr wrap="square"/>
                    <a:lstStyle/>
                    <a:p>
                      <a:r>
                        <a:rPr sz="1400" b="1">
                          <a:solidFill>
                            <a:srgbClr val="BAFF70"/>
                          </a:solidFill>
                          <a:latin typeface="Arial"/>
                        </a:rPr>
                        <a:t>Check</a:t>
                      </a:r>
                    </a:p>
                  </a:txBody>
                  <a:tcPr marL="109728" marR="109728">
                    <a:solidFill>
                      <a:srgbClr val="22324A"/>
                    </a:solidFill>
                  </a:tcPr>
                </a:tc>
              </a:tr>
              <a:tr h="475488">
                <a:tc>
                  <a:txBody>
                    <a:bodyPr wrap="square"/>
                    <a:lstStyle/>
                    <a:p>
                      <a:r>
                        <a:rPr sz="1400" b="1">
                          <a:solidFill>
                            <a:srgbClr val="F8FAFC"/>
                          </a:solidFill>
                          <a:latin typeface="Arial"/>
                        </a:rPr>
                        <a:t>1</a:t>
                      </a:r>
                    </a:p>
                  </a:txBody>
                  <a:tcPr marL="109728" marR="109728">
                    <a:solidFill>
                      <a:srgbClr val="1A283B"/>
                    </a:solidFill>
                  </a:tcPr>
                </a:tc>
                <a:tc>
                  <a:txBody>
                    <a:bodyPr wrap="square"/>
                    <a:lstStyle/>
                    <a:p>
                      <a:r>
                        <a:rPr sz="1400" b="0">
                          <a:solidFill>
                            <a:srgbClr val="ADBBCD"/>
                          </a:solidFill>
                          <a:latin typeface="Arial"/>
                        </a:rPr>
                        <a:t>Scope: stayed within approved files and criteria?</a:t>
                      </a:r>
                    </a:p>
                  </a:txBody>
                  <a:tcPr marL="109728" marR="109728">
                    <a:solidFill>
                      <a:srgbClr val="1A283B"/>
                    </a:solidFill>
                  </a:tcPr>
                </a:tc>
              </a:tr>
              <a:tr h="475488">
                <a:tc>
                  <a:txBody>
                    <a:bodyPr wrap="square"/>
                    <a:lstStyle/>
                    <a:p>
                      <a:r>
                        <a:rPr sz="1400" b="1">
                          <a:solidFill>
                            <a:srgbClr val="F8FAFC"/>
                          </a:solidFill>
                          <a:latin typeface="Arial"/>
                        </a:rPr>
                        <a:t>2</a:t>
                      </a:r>
                    </a:p>
                  </a:txBody>
                  <a:tcPr marL="109728" marR="109728">
                    <a:solidFill>
                      <a:srgbClr val="15233A"/>
                    </a:solidFill>
                  </a:tcPr>
                </a:tc>
                <a:tc>
                  <a:txBody>
                    <a:bodyPr wrap="square"/>
                    <a:lstStyle/>
                    <a:p>
                      <a:r>
                        <a:rPr sz="1400" b="0">
                          <a:solidFill>
                            <a:srgbClr val="ADBBCD"/>
                          </a:solidFill>
                          <a:latin typeface="Arial"/>
                        </a:rPr>
                        <a:t>Diff: can I explain every material line?</a:t>
                      </a:r>
                    </a:p>
                  </a:txBody>
                  <a:tcPr marL="109728" marR="109728">
                    <a:solidFill>
                      <a:srgbClr val="15233A"/>
                    </a:solidFill>
                  </a:tcPr>
                </a:tc>
              </a:tr>
              <a:tr h="475488">
                <a:tc>
                  <a:txBody>
                    <a:bodyPr wrap="square"/>
                    <a:lstStyle/>
                    <a:p>
                      <a:r>
                        <a:rPr sz="1400" b="1">
                          <a:solidFill>
                            <a:srgbClr val="F8FAFC"/>
                          </a:solidFill>
                          <a:latin typeface="Arial"/>
                        </a:rPr>
                        <a:t>3</a:t>
                      </a:r>
                    </a:p>
                  </a:txBody>
                  <a:tcPr marL="109728" marR="109728">
                    <a:solidFill>
                      <a:srgbClr val="1A283B"/>
                    </a:solidFill>
                  </a:tcPr>
                </a:tc>
                <a:tc>
                  <a:txBody>
                    <a:bodyPr wrap="square"/>
                    <a:lstStyle/>
                    <a:p>
                      <a:r>
                        <a:rPr sz="1400" b="0">
                          <a:solidFill>
                            <a:srgbClr val="ADBBCD"/>
                          </a:solidFill>
                          <a:latin typeface="Arial"/>
                        </a:rPr>
                        <a:t>Tests: relevant tests pass, including new edge cases?</a:t>
                      </a:r>
                    </a:p>
                  </a:txBody>
                  <a:tcPr marL="109728" marR="109728">
                    <a:solidFill>
                      <a:srgbClr val="1A283B"/>
                    </a:solidFill>
                  </a:tcPr>
                </a:tc>
              </a:tr>
              <a:tr h="475488">
                <a:tc>
                  <a:txBody>
                    <a:bodyPr wrap="square"/>
                    <a:lstStyle/>
                    <a:p>
                      <a:r>
                        <a:rPr sz="1400" b="1">
                          <a:solidFill>
                            <a:srgbClr val="F8FAFC"/>
                          </a:solidFill>
                          <a:latin typeface="Arial"/>
                        </a:rPr>
                        <a:t>4</a:t>
                      </a:r>
                    </a:p>
                  </a:txBody>
                  <a:tcPr marL="109728" marR="109728">
                    <a:solidFill>
                      <a:srgbClr val="15233A"/>
                    </a:solidFill>
                  </a:tcPr>
                </a:tc>
                <a:tc>
                  <a:txBody>
                    <a:bodyPr wrap="square"/>
                    <a:lstStyle/>
                    <a:p>
                      <a:r>
                        <a:rPr sz="1400" b="0">
                          <a:solidFill>
                            <a:srgbClr val="ADBBCD"/>
                          </a:solidFill>
                          <a:latin typeface="Arial"/>
                        </a:rPr>
                        <a:t>Security: secrets, dependencies, permissions, unsafe inputs?</a:t>
                      </a:r>
                    </a:p>
                  </a:txBody>
                  <a:tcPr marL="109728" marR="109728">
                    <a:solidFill>
                      <a:srgbClr val="15233A"/>
                    </a:solidFill>
                  </a:tcPr>
                </a:tc>
              </a:tr>
              <a:tr h="475488">
                <a:tc>
                  <a:txBody>
                    <a:bodyPr wrap="square"/>
                    <a:lstStyle/>
                    <a:p>
                      <a:r>
                        <a:rPr sz="1400" b="1">
                          <a:solidFill>
                            <a:srgbClr val="F8FAFC"/>
                          </a:solidFill>
                          <a:latin typeface="Arial"/>
                        </a:rPr>
                        <a:t>5</a:t>
                      </a:r>
                    </a:p>
                  </a:txBody>
                  <a:tcPr marL="109728" marR="109728">
                    <a:solidFill>
                      <a:srgbClr val="1A283B"/>
                    </a:solidFill>
                  </a:tcPr>
                </a:tc>
                <a:tc>
                  <a:txBody>
                    <a:bodyPr wrap="square"/>
                    <a:lstStyle/>
                    <a:p>
                      <a:r>
                        <a:rPr sz="1400" b="0">
                          <a:solidFill>
                            <a:srgbClr val="ADBBCD"/>
                          </a:solidFill>
                          <a:latin typeface="Arial"/>
                        </a:rPr>
                        <a:t>Runtime: verified in the real interface?</a:t>
                      </a:r>
                    </a:p>
                  </a:txBody>
                  <a:tcPr marL="109728" marR="109728">
                    <a:solidFill>
                      <a:srgbClr val="1A283B"/>
                    </a:solidFill>
                  </a:tcPr>
                </a:tc>
              </a:tr>
              <a:tr h="475488">
                <a:tc>
                  <a:txBody>
                    <a:bodyPr wrap="square"/>
                    <a:lstStyle/>
                    <a:p>
                      <a:r>
                        <a:rPr sz="1400" b="1">
                          <a:solidFill>
                            <a:srgbClr val="F8FAFC"/>
                          </a:solidFill>
                          <a:latin typeface="Arial"/>
                        </a:rPr>
                        <a:t>6</a:t>
                      </a:r>
                    </a:p>
                  </a:txBody>
                  <a:tcPr marL="109728" marR="109728">
                    <a:solidFill>
                      <a:srgbClr val="15233A"/>
                    </a:solidFill>
                  </a:tcPr>
                </a:tc>
                <a:tc>
                  <a:txBody>
                    <a:bodyPr wrap="square"/>
                    <a:lstStyle/>
                    <a:p>
                      <a:r>
                        <a:rPr sz="1400" b="0">
                          <a:solidFill>
                            <a:srgbClr val="ADBBCD"/>
                          </a:solidFill>
                          <a:latin typeface="Arial"/>
                        </a:rPr>
                        <a:t>Rollback: clean checkpoint, branch or commit?</a:t>
                      </a:r>
                    </a:p>
                  </a:txBody>
                  <a:tcPr marL="109728" marR="109728">
                    <a:solidFill>
                      <a:srgbClr val="15233A"/>
                    </a:solidFill>
                  </a:tcPr>
                </a:tc>
              </a:tr>
              <a:tr h="475488">
                <a:tc>
                  <a:txBody>
                    <a:bodyPr wrap="square"/>
                    <a:lstStyle/>
                    <a:p>
                      <a:r>
                        <a:rPr sz="1400" b="1">
                          <a:solidFill>
                            <a:srgbClr val="F8FAFC"/>
                          </a:solidFill>
                          <a:latin typeface="Arial"/>
                        </a:rPr>
                        <a:t>7</a:t>
                      </a:r>
                    </a:p>
                  </a:txBody>
                  <a:tcPr marL="109728" marR="109728">
                    <a:solidFill>
                      <a:srgbClr val="1A283B"/>
                    </a:solidFill>
                  </a:tcPr>
                </a:tc>
                <a:tc>
                  <a:txBody>
                    <a:bodyPr wrap="square"/>
                    <a:lstStyle/>
                    <a:p>
                      <a:r>
                        <a:rPr sz="1400" b="0">
                          <a:solidFill>
                            <a:srgbClr val="ADBBCD"/>
                          </a:solidFill>
                          <a:latin typeface="Arial"/>
                        </a:rPr>
                        <a:t>Handoff: risks, docs, ownership, next steps clear?</a:t>
                      </a:r>
                    </a:p>
                  </a:txBody>
                  <a:tcPr marL="109728" marR="109728">
                    <a:solidFill>
                      <a:srgbClr val="1A283B"/>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069 / 198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05 · PROMPT 1 OF 2</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Investigate before editing</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Read BUG-REPORT.md. Do not change any code yet. Reproduce BUG-101</a:t>
            </a:r>
          </a:p>
          <a:p>
            <a:pPr algn="l">
              <a:spcAft>
                <a:spcPts val="400"/>
              </a:spcAft>
            </a:pPr>
            <a:r>
              <a:rPr sz="2000">
                <a:solidFill>
                  <a:srgbClr val="BAFF70"/>
                </a:solidFill>
                <a:latin typeface="Consolas"/>
              </a:rPr>
              <a:t>with a failing regression test in tests/test_partial_update.py</a:t>
            </a:r>
          </a:p>
          <a:p>
            <a:pPr algn="l">
              <a:spcAft>
                <a:spcPts val="400"/>
              </a:spcAft>
            </a:pPr>
            <a:r>
              <a:rPr sz="2000">
                <a:solidFill>
                  <a:srgbClr val="BAFF70"/>
                </a:solidFill>
                <a:latin typeface="Consolas"/>
              </a:rPr>
              <a:t>(title-only PATCH must keep the body; also cover body-only, explicit</a:t>
            </a:r>
          </a:p>
          <a:p>
            <a:pPr algn="l">
              <a:spcAft>
                <a:spcPts val="400"/>
              </a:spcAft>
            </a:pPr>
            <a:r>
              <a:rPr sz="2000">
                <a:solidFill>
                  <a:srgbClr val="BAFF70"/>
                </a:solidFill>
                <a:latin typeface="Consolas"/>
              </a:rPr>
              <a:t>empty body and empty patch). Run it and show the failure. Then</a:t>
            </a:r>
          </a:p>
          <a:p>
            <a:pPr algn="l">
              <a:spcAft>
                <a:spcPts val="400"/>
              </a:spcAft>
            </a:pPr>
            <a:r>
              <a:rPr sz="2000">
                <a:solidFill>
                  <a:srgbClr val="BAFF70"/>
                </a:solidFill>
                <a:latin typeface="Consolas"/>
              </a:rPr>
              <a:t>explain the most likely cause with file and line.</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parts/05-resilient-notes/PROMPTS.md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070 / 198</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05 · PROMPT 2 OF 2</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Measurable completion with /goal</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/goal BUG-101 is fixed with the smallest change in</a:t>
            </a:r>
          </a:p>
          <a:p>
            <a:pPr algn="l">
              <a:spcAft>
                <a:spcPts val="400"/>
              </a:spcAft>
            </a:pPr>
            <a:r>
              <a:rPr sz="2000">
                <a:solidFill>
                  <a:srgbClr val="BAFF70"/>
                </a:solidFill>
                <a:latin typeface="Consolas"/>
              </a:rPr>
              <a:t>notes_api/service.py, python3 -m unittest discover -s tests -q exits</a:t>
            </a:r>
          </a:p>
          <a:p>
            <a:pPr algn="l">
              <a:spcAft>
                <a:spcPts val="400"/>
              </a:spcAft>
            </a:pPr>
            <a:r>
              <a:rPr sz="2000">
                <a:solidFill>
                  <a:srgbClr val="BAFF70"/>
                </a:solidFill>
                <a:latin typeface="Consolas"/>
              </a:rPr>
              <a:t>0 with the raw output shown, docs/diagnosis-bug-101.md records</a:t>
            </a:r>
          </a:p>
          <a:p>
            <a:pPr algn="l">
              <a:spcAft>
                <a:spcPts val="400"/>
              </a:spcAft>
            </a:pPr>
            <a:r>
              <a:rPr sz="2000">
                <a:solidFill>
                  <a:srgbClr val="BAFF70"/>
                </a:solidFill>
                <a:latin typeface="Consolas"/>
              </a:rPr>
              <a:t>reproduce/cause/fix/evidence, and reviews/review-before-merge-</a:t>
            </a:r>
          </a:p>
          <a:p>
            <a:pPr algn="l">
              <a:spcAft>
                <a:spcPts val="400"/>
              </a:spcAft>
            </a:pPr>
            <a:r>
              <a:rPr sz="2000">
                <a:solidFill>
                  <a:srgbClr val="BAFF70"/>
                </a:solidFill>
                <a:latin typeface="Consolas"/>
              </a:rPr>
              <a:t>bug-101.md completes all seven points of templates/review-before-</a:t>
            </a:r>
          </a:p>
          <a:p>
            <a:pPr algn="l">
              <a:spcAft>
                <a:spcPts val="400"/>
              </a:spcAft>
            </a:pPr>
            <a:r>
              <a:rPr sz="2000">
                <a:solidFill>
                  <a:srgbClr val="BAFF70"/>
                </a:solidFill>
                <a:latin typeface="Consolas"/>
              </a:rPr>
              <a:t>merge-checklist.md with evidence. Do not commit.</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parts/05-resilient-notes/PROMPTS.md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071 / 198</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pic>
        <p:nvPicPr>
          <p:cNvPr id="2" name="05-resilient-notes.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05 · EVIDENCE, NOT CLAIMS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the run proved</a:t>
            </a:r>
          </a:p>
        </p:txBody>
      </p:sp>
      <p:sp>
        <p:nvSpPr>
          <p:cNvPr id="6" name="TextBox 5"/>
          <p:cNvSpPr txBox="1"/>
          <p:nvPr/>
        </p:nvSpPr>
        <p:spPr>
          <a:xfrm>
            <a:off x="640080" y="1984248"/>
            <a:ext cx="5349240" cy="365760"/>
          </a:xfrm>
          <a:prstGeom prst="rect">
            <a:avLst/>
          </a:prstGeom>
          <a:noFill/>
        </p:spPr>
        <p:txBody>
          <a:bodyPr wrap="square" lIns="0" rIns="0" tIns="0" bIns="0">
            <a:spAutoFit/>
          </a:bodyPr>
          <a:lstStyle/>
          <a:p>
            <a:pPr algn="l"/>
            <a:r>
              <a:rPr sz="1500" b="1">
                <a:solidFill>
                  <a:srgbClr val="FBBF24"/>
                </a:solidFill>
                <a:latin typeface="Arial"/>
              </a:rPr>
              <a:t>WHAT TO LOOK FOR</a:t>
            </a:r>
          </a:p>
        </p:txBody>
      </p:sp>
      <p:sp>
        <p:nvSpPr>
          <p:cNvPr id="7" name="Rounded Rectangle 6"/>
          <p:cNvSpPr/>
          <p:nvPr/>
        </p:nvSpPr>
        <p:spPr>
          <a:xfrm>
            <a:off x="64008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Failing test output before the fix</a:t>
            </a:r>
          </a:p>
          <a:p>
            <a:pPr algn="l">
              <a:spcAft>
                <a:spcPts val="800"/>
              </a:spcAft>
            </a:pPr>
            <a:r>
              <a:rPr sz="1900">
                <a:solidFill>
                  <a:srgbClr val="F8FAFC"/>
                </a:solidFill>
                <a:latin typeface="Arial"/>
              </a:rPr>
              <a:t>•  One-line diff in service.py</a:t>
            </a:r>
          </a:p>
          <a:p>
            <a:pPr algn="l">
              <a:spcAft>
                <a:spcPts val="800"/>
              </a:spcAft>
            </a:pPr>
            <a:r>
              <a:rPr sz="1900">
                <a:solidFill>
                  <a:srgbClr val="F8FAFC"/>
                </a:solidFill>
                <a:latin typeface="Arial"/>
              </a:rPr>
              <a:t>•  Passing full suite</a:t>
            </a:r>
          </a:p>
          <a:p>
            <a:pPr algn="l">
              <a:spcAft>
                <a:spcPts val="800"/>
              </a:spcAft>
            </a:pPr>
            <a:r>
              <a:rPr sz="1900">
                <a:solidFill>
                  <a:srgbClr val="F8FAFC"/>
                </a:solidFill>
                <a:latin typeface="Arial"/>
              </a:rPr>
              <a:t>•  /rewind restore of the deliberately bad attempt</a:t>
            </a:r>
          </a:p>
          <a:p>
            <a:pPr algn="l">
              <a:spcAft>
                <a:spcPts val="800"/>
              </a:spcAft>
            </a:pPr>
            <a:r>
              <a:rPr sz="1900">
                <a:solidFill>
                  <a:srgbClr val="F8FAFC"/>
                </a:solidFill>
                <a:latin typeface="Arial"/>
              </a:rPr>
              <a:t>•  Seven-point checklist with evidence</a:t>
            </a:r>
          </a:p>
        </p:txBody>
      </p:sp>
      <p:sp>
        <p:nvSpPr>
          <p:cNvPr id="8" name="TextBox 7"/>
          <p:cNvSpPr txBox="1"/>
          <p:nvPr/>
        </p:nvSpPr>
        <p:spPr>
          <a:xfrm>
            <a:off x="6172200" y="1984248"/>
            <a:ext cx="5349240" cy="365760"/>
          </a:xfrm>
          <a:prstGeom prst="rect">
            <a:avLst/>
          </a:prstGeom>
          <a:noFill/>
        </p:spPr>
        <p:txBody>
          <a:bodyPr wrap="square" lIns="0" rIns="0" tIns="0" bIns="0">
            <a:spAutoFit/>
          </a:bodyPr>
          <a:lstStyle/>
          <a:p>
            <a:pPr algn="l"/>
            <a:r>
              <a:rPr sz="1500" b="1">
                <a:solidFill>
                  <a:srgbClr val="BAFF70"/>
                </a:solidFill>
                <a:latin typeface="Arial"/>
              </a:rPr>
              <a:t>WHAT THE RECORDED RUN PRODUCED</a:t>
            </a:r>
          </a:p>
        </p:txBody>
      </p:sp>
      <p:sp>
        <p:nvSpPr>
          <p:cNvPr id="9" name="Rounded Rectangle 8"/>
          <p:cNvSpPr/>
          <p:nvPr/>
        </p:nvSpPr>
        <p:spPr>
          <a:xfrm>
            <a:off x="617220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2 prompt(s) · 3 min 57 s · $0.41 · 22 tool calls</a:t>
            </a:r>
          </a:p>
          <a:p>
            <a:pPr algn="l">
              <a:spcAft>
                <a:spcPts val="800"/>
              </a:spcAft>
            </a:pPr>
            <a:r>
              <a:rPr sz="1900">
                <a:solidFill>
                  <a:srgbClr val="F8FAFC"/>
                </a:solidFill>
                <a:latin typeface="Arial"/>
              </a:rPr>
              <a:t>•  Tests seen in the run: Ran 31 tests in 1.644s</a:t>
            </a:r>
          </a:p>
          <a:p>
            <a:pPr algn="l">
              <a:spcAft>
                <a:spcPts val="800"/>
              </a:spcAft>
            </a:pPr>
            <a:r>
              <a:rPr sz="1900">
                <a:solidFill>
                  <a:srgbClr val="F8FAFC"/>
                </a:solidFill>
                <a:latin typeface="Arial"/>
              </a:rPr>
              <a:t>•  bin/bootcamp verify: 8 PASS · 0 FAIL</a:t>
            </a:r>
          </a:p>
          <a:p>
            <a:pPr algn="l">
              <a:spcAft>
                <a:spcPts val="800"/>
              </a:spcAft>
            </a:pPr>
            <a:r>
              <a:rPr sz="1900">
                <a:solidFill>
                  <a:srgbClr val="F8FAFC"/>
                </a:solidFill>
                <a:latin typeface="Arial"/>
              </a:rPr>
              <a:t>•  Changed: M notes_api/service.py, ?? docs/diagnosis-bug-101.md, ?? reviews/, ?? tests/test_partial_update.py</a:t>
            </a:r>
          </a:p>
        </p:txBody>
      </p:sp>
      <p:sp>
        <p:nvSpPr>
          <p:cNvPr id="10" name="TextBox 9"/>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073 / 198</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05 · DISCUSS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Your turn to think</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Why write the failing test before reading the code?</a:t>
            </a:r>
          </a:p>
          <a:p>
            <a:pPr algn="l">
              <a:spcAft>
                <a:spcPts val="800"/>
              </a:spcAft>
            </a:pPr>
            <a:r>
              <a:rPr sz="2200">
                <a:solidFill>
                  <a:srgbClr val="F8FAFC"/>
                </a:solidFill>
                <a:latin typeface="Arial"/>
              </a:rPr>
              <a:t>•  What does /rewind restore, and what does it not restore?</a:t>
            </a:r>
          </a:p>
          <a:p>
            <a:pPr algn="l">
              <a:spcAft>
                <a:spcPts val="800"/>
              </a:spcAft>
            </a:pPr>
            <a:r>
              <a:rPr sz="2200">
                <a:solidFill>
                  <a:srgbClr val="F8FAFC"/>
                </a:solidFill>
                <a:latin typeface="Arial"/>
              </a:rPr>
              <a:t>•  What makes a /goal condition checkable from the transcript?</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074 / 198</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05 · LAB</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Hands-on</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Try the deliberately heavy approach first (rewrite the repository update), then /rewind → Restore code, and apply the bounded fix.</a:t>
            </a:r>
          </a:p>
          <a:p>
            <a:pPr algn="l">
              <a:spcAft>
                <a:spcPts val="800"/>
              </a:spcAft>
            </a:pPr>
            <a:r>
              <a:rPr sz="2200">
                <a:solidFill>
                  <a:srgbClr val="F8FAFC"/>
                </a:solidFill>
                <a:latin typeface="Arial"/>
              </a:rPr>
              <a:t>•  Start: bin/bootcamp stage 05</a:t>
            </a:r>
          </a:p>
          <a:p>
            <a:pPr algn="l">
              <a:spcAft>
                <a:spcPts val="800"/>
              </a:spcAft>
            </a:pPr>
            <a:r>
              <a:rPr sz="2200">
                <a:solidFill>
                  <a:srgbClr val="F8FAFC"/>
                </a:solidFill>
                <a:latin typeface="Arial"/>
              </a:rPr>
              <a:t>•  Prompts: parts/05-resilient-notes/PROMPTS.md</a:t>
            </a:r>
          </a:p>
          <a:p>
            <a:pPr algn="l">
              <a:spcAft>
                <a:spcPts val="800"/>
              </a:spcAft>
            </a:pPr>
            <a:r>
              <a:rPr sz="2200">
                <a:solidFill>
                  <a:srgbClr val="F8FAFC"/>
                </a:solidFill>
                <a:latin typeface="Arial"/>
              </a:rPr>
              <a:t>•  Check: bin/bootcamp verify</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075 / 198</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05 · CHECKPOINT</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 now have</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Expanded test suite</a:t>
            </a:r>
          </a:p>
          <a:p>
            <a:pPr algn="l">
              <a:spcAft>
                <a:spcPts val="800"/>
              </a:spcAft>
            </a:pPr>
            <a:r>
              <a:rPr sz="2200">
                <a:solidFill>
                  <a:srgbClr val="F8FAFC"/>
                </a:solidFill>
                <a:latin typeface="Arial"/>
              </a:rPr>
              <a:t>✓  Documented diagnosis</a:t>
            </a:r>
          </a:p>
          <a:p>
            <a:pPr algn="l">
              <a:spcAft>
                <a:spcPts val="800"/>
              </a:spcAft>
            </a:pPr>
            <a:r>
              <a:rPr sz="2200">
                <a:solidFill>
                  <a:srgbClr val="F8FAFC"/>
                </a:solidFill>
                <a:latin typeface="Arial"/>
              </a:rPr>
              <a:t>✓  Verified bug fix</a:t>
            </a:r>
          </a:p>
          <a:p>
            <a:pPr algn="l">
              <a:spcAft>
                <a:spcPts val="800"/>
              </a:spcAft>
            </a:pPr>
            <a:r>
              <a:rPr sz="2200">
                <a:solidFill>
                  <a:srgbClr val="F8FAFC"/>
                </a:solidFill>
                <a:latin typeface="Arial"/>
              </a:rPr>
              <a:t>✓  Successful checkpoint restore</a:t>
            </a:r>
          </a:p>
          <a:p>
            <a:pPr algn="l">
              <a:spcAft>
                <a:spcPts val="800"/>
              </a:spcAft>
            </a:pPr>
            <a:r>
              <a:rPr sz="2200">
                <a:solidFill>
                  <a:srgbClr val="F8FAFC"/>
                </a:solidFill>
                <a:latin typeface="Arial"/>
              </a:rPr>
              <a:t>✓  Completed Review Before Merge checklist</a:t>
            </a:r>
          </a:p>
          <a:p>
            <a:pPr algn="l">
              <a:spcAft>
                <a:spcPts val="800"/>
              </a:spcAft>
            </a:pPr>
            <a:r>
              <a:rPr sz="2200">
                <a:solidFill>
                  <a:srgbClr val="F8FAFC"/>
                </a:solidFill>
                <a:latin typeface="Arial"/>
              </a:rPr>
              <a:t>•  Behind? bin/bootcamp checkpoint 05 --force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076 / 198</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2194560"/>
            <a:ext cx="10058400" cy="365760"/>
          </a:xfrm>
          <a:prstGeom prst="rect">
            <a:avLst/>
          </a:prstGeom>
          <a:noFill/>
        </p:spPr>
        <p:txBody>
          <a:bodyPr wrap="square" lIns="0" rIns="0" tIns="0" bIns="0">
            <a:spAutoFit/>
          </a:bodyPr>
          <a:lstStyle/>
          <a:p>
            <a:pPr algn="l"/>
            <a:r>
              <a:rPr sz="1600" b="1">
                <a:solidFill>
                  <a:srgbClr val="BAFF70"/>
                </a:solidFill>
                <a:latin typeface="Arial"/>
              </a:rPr>
              <a:t>PART 06 · 11:20–11:45 · 25 MIN</a:t>
            </a:r>
          </a:p>
        </p:txBody>
      </p:sp>
      <p:sp>
        <p:nvSpPr>
          <p:cNvPr id="5" name="TextBox 4"/>
          <p:cNvSpPr txBox="1"/>
          <p:nvPr/>
        </p:nvSpPr>
        <p:spPr>
          <a:xfrm>
            <a:off x="640080" y="2697480"/>
            <a:ext cx="10789920" cy="1463040"/>
          </a:xfrm>
          <a:prstGeom prst="rect">
            <a:avLst/>
          </a:prstGeom>
          <a:noFill/>
        </p:spPr>
        <p:txBody>
          <a:bodyPr wrap="square" lIns="0" rIns="0" tIns="0" bIns="0">
            <a:spAutoFit/>
          </a:bodyPr>
          <a:lstStyle/>
          <a:p>
            <a:pPr algn="l"/>
            <a:r>
              <a:rPr sz="4600" b="1">
                <a:solidFill>
                  <a:srgbClr val="F8FAFC"/>
                </a:solidFill>
                <a:latin typeface="Arial"/>
              </a:rPr>
              <a:t>Git workflows, worktrees, permissions and sandboxing</a:t>
            </a:r>
          </a:p>
        </p:txBody>
      </p:sp>
      <p:sp>
        <p:nvSpPr>
          <p:cNvPr id="6" name="TextBox 5"/>
          <p:cNvSpPr txBox="1"/>
          <p:nvPr/>
        </p:nvSpPr>
        <p:spPr>
          <a:xfrm>
            <a:off x="640080" y="4297680"/>
            <a:ext cx="10789920" cy="914400"/>
          </a:xfrm>
          <a:prstGeom prst="rect">
            <a:avLst/>
          </a:prstGeom>
          <a:noFill/>
        </p:spPr>
        <p:txBody>
          <a:bodyPr wrap="square" lIns="0" rIns="0" tIns="0" bIns="0">
            <a:spAutoFit/>
          </a:bodyPr>
          <a:lstStyle/>
          <a:p>
            <a:pPr algn="l"/>
            <a:r>
              <a:rPr sz="2000" b="0">
                <a:solidFill>
                  <a:srgbClr val="ADBBCD"/>
                </a:solidFill>
                <a:latin typeface="Arial"/>
              </a:rPr>
              <a:t>Project 6: Isolated Search Feature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077 / 198</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06 · GOALS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you will be able to do</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Use feature branches and focused commits; review Claude-generated diffs</a:t>
            </a:r>
          </a:p>
          <a:p>
            <a:pPr algn="l">
              <a:spcAft>
                <a:spcPts val="800"/>
              </a:spcAft>
            </a:pPr>
            <a:r>
              <a:rPr sz="2200">
                <a:solidFill>
                  <a:srgbClr val="F8FAFC"/>
                </a:solidFill>
                <a:latin typeface="Arial"/>
              </a:rPr>
              <a:t>•  Isolate experiments with claude --worktree</a:t>
            </a:r>
          </a:p>
          <a:p>
            <a:pPr algn="l">
              <a:spcAft>
                <a:spcPts val="800"/>
              </a:spcAft>
            </a:pPr>
            <a:r>
              <a:rPr sz="2200">
                <a:solidFill>
                  <a:srgbClr val="F8FAFC"/>
                </a:solidFill>
                <a:latin typeface="Arial"/>
              </a:rPr>
              <a:t>•  Run parallel sessions without contaminating the main checkout</a:t>
            </a:r>
          </a:p>
          <a:p>
            <a:pPr algn="l">
              <a:spcAft>
                <a:spcPts val="800"/>
              </a:spcAft>
            </a:pPr>
            <a:r>
              <a:rPr sz="2200">
                <a:solidFill>
                  <a:srgbClr val="F8FAFC"/>
                </a:solidFill>
                <a:latin typeface="Arial"/>
              </a:rPr>
              <a:t>•  Set filesystem and network boundaries with /sandbox</a:t>
            </a:r>
          </a:p>
          <a:p>
            <a:pPr algn="l">
              <a:spcAft>
                <a:spcPts val="800"/>
              </a:spcAft>
            </a:pPr>
            <a:r>
              <a:rPr sz="2200">
                <a:solidFill>
                  <a:srgbClr val="F8FAFC"/>
                </a:solidFill>
                <a:latin typeface="Arial"/>
              </a:rPr>
              <a:t>•  Match autonomy to consequence and reversibility</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078 / 198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WHY GIT MATTERS MORE NOW</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Agents make many changes, fast</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Feature branch per change; focused commits</a:t>
            </a:r>
          </a:p>
          <a:p>
            <a:pPr algn="l">
              <a:spcAft>
                <a:spcPts val="800"/>
              </a:spcAft>
            </a:pPr>
            <a:r>
              <a:rPr sz="2200">
                <a:solidFill>
                  <a:srgbClr val="F8FAFC"/>
                </a:solidFill>
                <a:latin typeface="Arial"/>
              </a:rPr>
              <a:t>•  Review every Claude-generated diff before merge</a:t>
            </a:r>
          </a:p>
          <a:p>
            <a:pPr algn="l">
              <a:spcAft>
                <a:spcPts val="800"/>
              </a:spcAft>
            </a:pPr>
            <a:r>
              <a:rPr sz="2200">
                <a:solidFill>
                  <a:srgbClr val="F8FAFC"/>
                </a:solidFill>
                <a:latin typeface="Arial"/>
              </a:rPr>
              <a:t>•  Rollback must be one command away</a:t>
            </a:r>
          </a:p>
          <a:p>
            <a:pPr algn="l">
              <a:spcAft>
                <a:spcPts val="800"/>
              </a:spcAft>
            </a:pPr>
            <a:r>
              <a:rPr sz="2200">
                <a:solidFill>
                  <a:srgbClr val="F8FAFC"/>
                </a:solidFill>
                <a:latin typeface="Arial"/>
              </a:rPr>
              <a:t>•  Parallel work needs isolation, not discipline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079 / 198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WORKTREES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claude --worktree search-tags</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1400">
                <a:solidFill>
                  <a:srgbClr val="BAFF70"/>
                </a:solidFill>
                <a:latin typeface="Consolas"/>
              </a:rPr>
              <a:t>claude --worktree search-tags      # .claude/worktrees/search-tags on branch worktree-search-tags</a:t>
            </a:r>
          </a:p>
          <a:p>
            <a:pPr algn="l">
              <a:spcAft>
                <a:spcPts val="400"/>
              </a:spcAft>
            </a:pPr>
            <a:r>
              <a:rPr sz="1400">
                <a:solidFill>
                  <a:srgbClr val="BAFF70"/>
                </a:solidFill>
                <a:latin typeface="Consolas"/>
              </a:rPr>
              <a:t># ... build the feature in isolation; main stays runnable ...</a:t>
            </a:r>
          </a:p>
          <a:p>
            <a:pPr algn="l">
              <a:spcAft>
                <a:spcPts val="400"/>
              </a:spcAft>
            </a:pPr>
            <a:r>
              <a:rPr sz="1400">
                <a:solidFill>
                  <a:srgbClr val="BAFF70"/>
                </a:solidFill>
                <a:latin typeface="Consolas"/>
              </a:rPr>
              <a:t>git -C .claude/worktrees/search-tags diff --stat main...HEAD</a:t>
            </a:r>
          </a:p>
          <a:p>
            <a:pPr algn="l">
              <a:spcAft>
                <a:spcPts val="400"/>
              </a:spcAft>
            </a:pPr>
            <a:r>
              <a:rPr sz="1400">
                <a:solidFill>
                  <a:srgbClr val="BAFF70"/>
                </a:solidFill>
                <a:latin typeface="Consolas"/>
              </a:rPr>
              <a:t>python3 -m unittest discover -s tests -q      # run in the worktree</a:t>
            </a:r>
          </a:p>
          <a:p>
            <a:pPr algn="l">
              <a:spcAft>
                <a:spcPts val="400"/>
              </a:spcAft>
            </a:pPr>
            <a:r>
              <a:rPr sz="1400">
                <a:solidFill>
                  <a:srgbClr val="BAFF70"/>
                </a:solidFill>
                <a:latin typeface="Consolas"/>
              </a:rPr>
              <a:t>git merge --no-ff worktree-search-tags</a:t>
            </a:r>
          </a:p>
          <a:p>
            <a:pPr algn="l">
              <a:spcAft>
                <a:spcPts val="400"/>
              </a:spcAft>
            </a:pPr>
            <a:r>
              <a:rPr sz="1400">
                <a:solidFill>
                  <a:srgbClr val="BAFF70"/>
                </a:solidFill>
                <a:latin typeface="Consolas"/>
              </a:rPr>
              <a:t>git worktree remove .claude/worktrees/search-tags</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Add .claude/worktrees/ to .gitignore. -p runs are never auto-cleaned.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080 / 198</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BOUNDARIES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Permissions vs sandbox</a:t>
            </a:r>
          </a:p>
        </p:txBody>
      </p:sp>
      <p:graphicFrame>
        <p:nvGraphicFramePr>
          <p:cNvPr id="6" name="Table 5"/>
          <p:cNvGraphicFramePr>
            <a:graphicFrameLocks noGrp="1"/>
          </p:cNvGraphicFramePr>
          <p:nvPr/>
        </p:nvGraphicFramePr>
        <p:xfrm>
          <a:off x="640080" y="1984248"/>
          <a:ext cx="10881359" cy="2377440"/>
        </p:xfrm>
        <a:graphic>
          <a:graphicData uri="http://schemas.openxmlformats.org/drawingml/2006/table">
            <a:tbl>
              <a:tblPr>
                <a:tableStyleId>{5C22544A-7EE6-4342-B048-85BDC9FD1C3A}</a:tableStyleId>
              </a:tblPr>
              <a:tblGrid>
                <a:gridCol w="1978429"/>
                <a:gridCol w="4176683"/>
                <a:gridCol w="4726247"/>
              </a:tblGrid>
              <a:tr h="475488">
                <a:tc>
                  <a:txBody>
                    <a:bodyPr wrap="square"/>
                    <a:lstStyle/>
                    <a:p>
                      <a:r>
                        <a:rPr sz="1600" b="1">
                          <a:solidFill>
                            <a:srgbClr val="BAFF70"/>
                          </a:solidFill>
                          <a:latin typeface="Arial"/>
                        </a:rPr>
                        <a:t>Layer</a:t>
                      </a:r>
                    </a:p>
                  </a:txBody>
                  <a:tcPr marL="109728" marR="109728">
                    <a:solidFill>
                      <a:srgbClr val="22324A"/>
                    </a:solidFill>
                  </a:tcPr>
                </a:tc>
                <a:tc>
                  <a:txBody>
                    <a:bodyPr wrap="square"/>
                    <a:lstStyle/>
                    <a:p>
                      <a:r>
                        <a:rPr sz="1600" b="1">
                          <a:solidFill>
                            <a:srgbClr val="BAFF70"/>
                          </a:solidFill>
                          <a:latin typeface="Arial"/>
                        </a:rPr>
                        <a:t>Controls</a:t>
                      </a:r>
                    </a:p>
                  </a:txBody>
                  <a:tcPr marL="109728" marR="109728">
                    <a:solidFill>
                      <a:srgbClr val="22324A"/>
                    </a:solidFill>
                  </a:tcPr>
                </a:tc>
                <a:tc>
                  <a:txBody>
                    <a:bodyPr wrap="square"/>
                    <a:lstStyle/>
                    <a:p>
                      <a:r>
                        <a:rPr sz="1600" b="1">
                          <a:solidFill>
                            <a:srgbClr val="BAFF70"/>
                          </a:solidFill>
                          <a:latin typeface="Arial"/>
                        </a:rPr>
                        <a:t>Example</a:t>
                      </a:r>
                    </a:p>
                  </a:txBody>
                  <a:tcPr marL="109728" marR="109728">
                    <a:solidFill>
                      <a:srgbClr val="22324A"/>
                    </a:solidFill>
                  </a:tcPr>
                </a:tc>
              </a:tr>
              <a:tr h="475488">
                <a:tc>
                  <a:txBody>
                    <a:bodyPr wrap="square"/>
                    <a:lstStyle/>
                    <a:p>
                      <a:r>
                        <a:rPr sz="1600" b="1">
                          <a:solidFill>
                            <a:srgbClr val="F8FAFC"/>
                          </a:solidFill>
                          <a:latin typeface="Arial"/>
                        </a:rPr>
                        <a:t>Permission rules</a:t>
                      </a:r>
                    </a:p>
                  </a:txBody>
                  <a:tcPr marL="109728" marR="109728">
                    <a:solidFill>
                      <a:srgbClr val="1A283B"/>
                    </a:solidFill>
                  </a:tcPr>
                </a:tc>
                <a:tc>
                  <a:txBody>
                    <a:bodyPr wrap="square"/>
                    <a:lstStyle/>
                    <a:p>
                      <a:r>
                        <a:rPr sz="1600" b="0">
                          <a:solidFill>
                            <a:srgbClr val="ADBBCD"/>
                          </a:solidFill>
                          <a:latin typeface="Arial"/>
                        </a:rPr>
                        <a:t>Which tools Claude may call</a:t>
                      </a:r>
                    </a:p>
                  </a:txBody>
                  <a:tcPr marL="109728" marR="109728">
                    <a:solidFill>
                      <a:srgbClr val="1A283B"/>
                    </a:solidFill>
                  </a:tcPr>
                </a:tc>
                <a:tc>
                  <a:txBody>
                    <a:bodyPr wrap="square"/>
                    <a:lstStyle/>
                    <a:p>
                      <a:r>
                        <a:rPr sz="1600" b="0">
                          <a:solidFill>
                            <a:srgbClr val="ADBBCD"/>
                          </a:solidFill>
                          <a:latin typeface="Arial"/>
                        </a:rPr>
                        <a:t>deny: Bash(git push *)</a:t>
                      </a:r>
                    </a:p>
                  </a:txBody>
                  <a:tcPr marL="109728" marR="109728">
                    <a:solidFill>
                      <a:srgbClr val="1A283B"/>
                    </a:solidFill>
                  </a:tcPr>
                </a:tc>
              </a:tr>
              <a:tr h="475488">
                <a:tc>
                  <a:txBody>
                    <a:bodyPr wrap="square"/>
                    <a:lstStyle/>
                    <a:p>
                      <a:r>
                        <a:rPr sz="1600" b="1">
                          <a:solidFill>
                            <a:srgbClr val="F8FAFC"/>
                          </a:solidFill>
                          <a:latin typeface="Arial"/>
                        </a:rPr>
                        <a:t>Hooks</a:t>
                      </a:r>
                    </a:p>
                  </a:txBody>
                  <a:tcPr marL="109728" marR="109728">
                    <a:solidFill>
                      <a:srgbClr val="15233A"/>
                    </a:solidFill>
                  </a:tcPr>
                </a:tc>
                <a:tc>
                  <a:txBody>
                    <a:bodyPr wrap="square"/>
                    <a:lstStyle/>
                    <a:p>
                      <a:r>
                        <a:rPr sz="1600" b="0">
                          <a:solidFill>
                            <a:srgbClr val="ADBBCD"/>
                          </a:solidFill>
                          <a:latin typeface="Arial"/>
                        </a:rPr>
                        <a:t>Deterministic checks on events</a:t>
                      </a:r>
                    </a:p>
                  </a:txBody>
                  <a:tcPr marL="109728" marR="109728">
                    <a:solidFill>
                      <a:srgbClr val="15233A"/>
                    </a:solidFill>
                  </a:tcPr>
                </a:tc>
                <a:tc>
                  <a:txBody>
                    <a:bodyPr wrap="square"/>
                    <a:lstStyle/>
                    <a:p>
                      <a:r>
                        <a:rPr sz="1600" b="0">
                          <a:solidFill>
                            <a:srgbClr val="ADBBCD"/>
                          </a:solidFill>
                          <a:latin typeface="Arial"/>
                        </a:rPr>
                        <a:t>Block force push (Part 9)</a:t>
                      </a:r>
                    </a:p>
                  </a:txBody>
                  <a:tcPr marL="109728" marR="109728">
                    <a:solidFill>
                      <a:srgbClr val="15233A"/>
                    </a:solidFill>
                  </a:tcPr>
                </a:tc>
              </a:tr>
              <a:tr h="475488">
                <a:tc>
                  <a:txBody>
                    <a:bodyPr wrap="square"/>
                    <a:lstStyle/>
                    <a:p>
                      <a:r>
                        <a:rPr sz="1600" b="1">
                          <a:solidFill>
                            <a:srgbClr val="F8FAFC"/>
                          </a:solidFill>
                          <a:latin typeface="Arial"/>
                        </a:rPr>
                        <a:t>Sandbox (/sandbox)</a:t>
                      </a:r>
                    </a:p>
                  </a:txBody>
                  <a:tcPr marL="109728" marR="109728">
                    <a:solidFill>
                      <a:srgbClr val="1A283B"/>
                    </a:solidFill>
                  </a:tcPr>
                </a:tc>
                <a:tc>
                  <a:txBody>
                    <a:bodyPr wrap="square"/>
                    <a:lstStyle/>
                    <a:p>
                      <a:r>
                        <a:rPr sz="1600" b="0">
                          <a:solidFill>
                            <a:srgbClr val="ADBBCD"/>
                          </a:solidFill>
                          <a:latin typeface="Arial"/>
                        </a:rPr>
                        <a:t>OS-level filesystem + network for Bash</a:t>
                      </a:r>
                    </a:p>
                  </a:txBody>
                  <a:tcPr marL="109728" marR="109728">
                    <a:solidFill>
                      <a:srgbClr val="1A283B"/>
                    </a:solidFill>
                  </a:tcPr>
                </a:tc>
                <a:tc>
                  <a:txBody>
                    <a:bodyPr wrap="square"/>
                    <a:lstStyle/>
                    <a:p>
                      <a:r>
                        <a:rPr sz="1600" b="0">
                          <a:solidFill>
                            <a:srgbClr val="ADBBCD"/>
                          </a:solidFill>
                          <a:latin typeface="Arial"/>
                        </a:rPr>
                        <a:t>allowWrite: repo · allowedDomains: pypi.org</a:t>
                      </a:r>
                    </a:p>
                  </a:txBody>
                  <a:tcPr marL="109728" marR="109728">
                    <a:solidFill>
                      <a:srgbClr val="1A283B"/>
                    </a:solidFill>
                  </a:tcPr>
                </a:tc>
              </a:tr>
              <a:tr h="475488">
                <a:tc>
                  <a:txBody>
                    <a:bodyPr wrap="square"/>
                    <a:lstStyle/>
                    <a:p>
                      <a:r>
                        <a:rPr sz="1600" b="1">
                          <a:solidFill>
                            <a:srgbClr val="F8FAFC"/>
                          </a:solidFill>
                          <a:latin typeface="Arial"/>
                        </a:rPr>
                        <a:t>Worktree</a:t>
                      </a:r>
                    </a:p>
                  </a:txBody>
                  <a:tcPr marL="109728" marR="109728">
                    <a:solidFill>
                      <a:srgbClr val="15233A"/>
                    </a:solidFill>
                  </a:tcPr>
                </a:tc>
                <a:tc>
                  <a:txBody>
                    <a:bodyPr wrap="square"/>
                    <a:lstStyle/>
                    <a:p>
                      <a:r>
                        <a:rPr sz="1600" b="0">
                          <a:solidFill>
                            <a:srgbClr val="ADBBCD"/>
                          </a:solidFill>
                          <a:latin typeface="Arial"/>
                        </a:rPr>
                        <a:t>Which files a session changes</a:t>
                      </a:r>
                    </a:p>
                  </a:txBody>
                  <a:tcPr marL="109728" marR="109728">
                    <a:solidFill>
                      <a:srgbClr val="15233A"/>
                    </a:solidFill>
                  </a:tcPr>
                </a:tc>
                <a:tc>
                  <a:txBody>
                    <a:bodyPr wrap="square"/>
                    <a:lstStyle/>
                    <a:p>
                      <a:r>
                        <a:rPr sz="1600" b="0">
                          <a:solidFill>
                            <a:srgbClr val="ADBBCD"/>
                          </a:solidFill>
                          <a:latin typeface="Arial"/>
                        </a:rPr>
                        <a:t>.claude/worktrees/&lt;name&gt;</a:t>
                      </a:r>
                    </a:p>
                  </a:txBody>
                  <a:tcPr marL="109728" marR="109728">
                    <a:solidFill>
                      <a:srgbClr val="15233A"/>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081 / 198</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1645920"/>
            <a:ext cx="10058400" cy="365760"/>
          </a:xfrm>
          <a:prstGeom prst="rect">
            <a:avLst/>
          </a:prstGeom>
          <a:noFill/>
        </p:spPr>
        <p:txBody>
          <a:bodyPr wrap="square" lIns="0" rIns="0" tIns="0" bIns="0">
            <a:spAutoFit/>
          </a:bodyPr>
          <a:lstStyle/>
          <a:p>
            <a:pPr algn="l"/>
            <a:r>
              <a:rPr sz="1400" b="1">
                <a:solidFill>
                  <a:srgbClr val="BAFF70"/>
                </a:solidFill>
                <a:latin typeface="Arial"/>
              </a:rPr>
              <a:t>MATCH AUTONOMY TO CONSEQUENCE</a:t>
            </a:r>
          </a:p>
        </p:txBody>
      </p:sp>
      <p:sp>
        <p:nvSpPr>
          <p:cNvPr id="5" name="TextBox 4"/>
          <p:cNvSpPr txBox="1"/>
          <p:nvPr/>
        </p:nvSpPr>
        <p:spPr>
          <a:xfrm>
            <a:off x="640080" y="2194560"/>
            <a:ext cx="10789920" cy="2194560"/>
          </a:xfrm>
          <a:prstGeom prst="rect">
            <a:avLst/>
          </a:prstGeom>
          <a:noFill/>
        </p:spPr>
        <p:txBody>
          <a:bodyPr wrap="square" lIns="0" rIns="0" tIns="0" bIns="0">
            <a:spAutoFit/>
          </a:bodyPr>
          <a:lstStyle/>
          <a:p>
            <a:pPr algn="l"/>
            <a:r>
              <a:rPr sz="4000" b="1">
                <a:solidFill>
                  <a:srgbClr val="F8FAFC"/>
                </a:solidFill>
                <a:latin typeface="Arial"/>
              </a:rPr>
              <a:t>Worktree + sandbox + tests = room to be autonomous.</a:t>
            </a:r>
          </a:p>
        </p:txBody>
      </p:sp>
      <p:sp>
        <p:nvSpPr>
          <p:cNvPr id="6" name="TextBox 5"/>
          <p:cNvSpPr txBox="1"/>
          <p:nvPr/>
        </p:nvSpPr>
        <p:spPr>
          <a:xfrm>
            <a:off x="640080" y="4572000"/>
            <a:ext cx="10789920" cy="1097280"/>
          </a:xfrm>
          <a:prstGeom prst="rect">
            <a:avLst/>
          </a:prstGeom>
          <a:noFill/>
        </p:spPr>
        <p:txBody>
          <a:bodyPr wrap="square" lIns="0" rIns="0" tIns="0" bIns="0">
            <a:spAutoFit/>
          </a:bodyPr>
          <a:lstStyle/>
          <a:p>
            <a:pPr algn="l"/>
            <a:r>
              <a:rPr sz="2000" b="0">
                <a:solidFill>
                  <a:srgbClr val="ADBBCD"/>
                </a:solidFill>
                <a:latin typeface="Arial"/>
              </a:rPr>
              <a:t>Main checkout + credentials + production = a human at every step.</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082 / 198</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06 · PROMPT 1 OF 1</a:t>
            </a:r>
          </a:p>
        </p:txBody>
      </p:sp>
      <p:sp>
        <p:nvSpPr>
          <p:cNvPr id="5" name="TextBox 4"/>
          <p:cNvSpPr txBox="1"/>
          <p:nvPr/>
        </p:nvSpPr>
        <p:spPr>
          <a:xfrm>
            <a:off x="640080" y="1280160"/>
            <a:ext cx="10881360" cy="1097280"/>
          </a:xfrm>
          <a:prstGeom prst="rect">
            <a:avLst/>
          </a:prstGeom>
          <a:noFill/>
        </p:spPr>
        <p:txBody>
          <a:bodyPr wrap="square" lIns="0" rIns="0" tIns="0" bIns="0">
            <a:spAutoFit/>
          </a:bodyPr>
          <a:lstStyle/>
          <a:p>
            <a:pPr algn="l"/>
            <a:r>
              <a:rPr sz="3000" b="1">
                <a:solidFill>
                  <a:srgbClr val="F8FAFC"/>
                </a:solidFill>
                <a:latin typeface="Arial"/>
              </a:rPr>
              <a:t>Build inside the worktree (claude --worktree search-tags)</a:t>
            </a:r>
          </a:p>
        </p:txBody>
      </p:sp>
      <p:sp>
        <p:nvSpPr>
          <p:cNvPr id="6" name="Rounded Rectangle 5"/>
          <p:cNvSpPr/>
          <p:nvPr/>
        </p:nvSpPr>
        <p:spPr>
          <a:xfrm>
            <a:off x="640080" y="2551176"/>
            <a:ext cx="10881360" cy="3300984"/>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Read briefs/search-and-tags.md. Implement search and tags exactly as</a:t>
            </a:r>
          </a:p>
          <a:p>
            <a:pPr algn="l">
              <a:spcAft>
                <a:spcPts val="400"/>
              </a:spcAft>
            </a:pPr>
            <a:r>
              <a:rPr sz="2000">
                <a:solidFill>
                  <a:srgbClr val="BAFF70"/>
                </a:solidFill>
                <a:latin typeface="Consolas"/>
              </a:rPr>
              <a:t>specified, keeping the layering (SQL only in repository.py, rules</a:t>
            </a:r>
          </a:p>
          <a:p>
            <a:pPr algn="l">
              <a:spcAft>
                <a:spcPts val="400"/>
              </a:spcAft>
            </a:pPr>
            <a:r>
              <a:rPr sz="2000">
                <a:solidFill>
                  <a:srgbClr val="BAFF70"/>
                </a:solidFill>
                <a:latin typeface="Consolas"/>
              </a:rPr>
              <a:t>only in service.py). Add tests in tests/test_search_tags.py,</a:t>
            </a:r>
          </a:p>
          <a:p>
            <a:pPr algn="l">
              <a:spcAft>
                <a:spcPts val="400"/>
              </a:spcAft>
            </a:pPr>
            <a:r>
              <a:rPr sz="2000">
                <a:solidFill>
                  <a:srgbClr val="BAFF70"/>
                </a:solidFill>
                <a:latin typeface="Consolas"/>
              </a:rPr>
              <a:t>including literal % and _ in search. Run the full suite and show the</a:t>
            </a:r>
          </a:p>
          <a:p>
            <a:pPr algn="l">
              <a:spcAft>
                <a:spcPts val="400"/>
              </a:spcAft>
            </a:pPr>
            <a:r>
              <a:rPr sz="2000">
                <a:solidFill>
                  <a:srgbClr val="BAFF70"/>
                </a:solidFill>
                <a:latin typeface="Consolas"/>
              </a:rPr>
              <a:t>raw output. Then show git diff --stat against main. Do not commit</a:t>
            </a:r>
          </a:p>
          <a:p>
            <a:pPr algn="l">
              <a:spcAft>
                <a:spcPts val="400"/>
              </a:spcAft>
            </a:pPr>
            <a:r>
              <a:rPr sz="2000">
                <a:solidFill>
                  <a:srgbClr val="BAFF70"/>
                </a:solidFill>
                <a:latin typeface="Consolas"/>
              </a:rPr>
              <a:t>and do not touch files outside notes_api/ and tests/.</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parts/06-isolated-search/PROMPTS.md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083 / 198</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pic>
        <p:nvPicPr>
          <p:cNvPr id="2" name="06-isolated-search.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06 · EVIDENCE, NOT CLAIMS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the run proved</a:t>
            </a:r>
          </a:p>
        </p:txBody>
      </p:sp>
      <p:sp>
        <p:nvSpPr>
          <p:cNvPr id="6" name="TextBox 5"/>
          <p:cNvSpPr txBox="1"/>
          <p:nvPr/>
        </p:nvSpPr>
        <p:spPr>
          <a:xfrm>
            <a:off x="640080" y="1984248"/>
            <a:ext cx="5349240" cy="365760"/>
          </a:xfrm>
          <a:prstGeom prst="rect">
            <a:avLst/>
          </a:prstGeom>
          <a:noFill/>
        </p:spPr>
        <p:txBody>
          <a:bodyPr wrap="square" lIns="0" rIns="0" tIns="0" bIns="0">
            <a:spAutoFit/>
          </a:bodyPr>
          <a:lstStyle/>
          <a:p>
            <a:pPr algn="l"/>
            <a:r>
              <a:rPr sz="1500" b="1">
                <a:solidFill>
                  <a:srgbClr val="FBBF24"/>
                </a:solidFill>
                <a:latin typeface="Arial"/>
              </a:rPr>
              <a:t>WHAT TO LOOK FOR</a:t>
            </a:r>
          </a:p>
        </p:txBody>
      </p:sp>
      <p:sp>
        <p:nvSpPr>
          <p:cNvPr id="7" name="Rounded Rectangle 6"/>
          <p:cNvSpPr/>
          <p:nvPr/>
        </p:nvSpPr>
        <p:spPr>
          <a:xfrm>
            <a:off x="64008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git worktree list shows .claude/worktrees/search-tags</a:t>
            </a:r>
          </a:p>
          <a:p>
            <a:pPr algn="l">
              <a:spcAft>
                <a:spcPts val="800"/>
              </a:spcAft>
            </a:pPr>
            <a:r>
              <a:rPr sz="1900">
                <a:solidFill>
                  <a:srgbClr val="F8FAFC"/>
                </a:solidFill>
                <a:latin typeface="Arial"/>
              </a:rPr>
              <a:t>•  git diff --stat main...</a:t>
            </a:r>
          </a:p>
          <a:p>
            <a:pPr algn="l">
              <a:spcAft>
                <a:spcPts val="800"/>
              </a:spcAft>
            </a:pPr>
            <a:r>
              <a:rPr sz="1900">
                <a:solidFill>
                  <a:srgbClr val="F8FAFC"/>
                </a:solidFill>
                <a:latin typeface="Arial"/>
              </a:rPr>
              <a:t>•  Full suite green inside the worktree</a:t>
            </a:r>
          </a:p>
          <a:p>
            <a:pPr algn="l">
              <a:spcAft>
                <a:spcPts val="800"/>
              </a:spcAft>
            </a:pPr>
            <a:r>
              <a:rPr sz="1900">
                <a:solidFill>
                  <a:srgbClr val="F8FAFC"/>
                </a:solidFill>
                <a:latin typeface="Arial"/>
              </a:rPr>
              <a:t>•  main untouched while the feature was built</a:t>
            </a:r>
          </a:p>
          <a:p>
            <a:pPr algn="l">
              <a:spcAft>
                <a:spcPts val="800"/>
              </a:spcAft>
            </a:pPr>
            <a:r>
              <a:rPr sz="1900">
                <a:solidFill>
                  <a:srgbClr val="F8FAFC"/>
                </a:solidFill>
                <a:latin typeface="Arial"/>
              </a:rPr>
              <a:t>•  Merge commit + worktree removed</a:t>
            </a:r>
          </a:p>
        </p:txBody>
      </p:sp>
      <p:sp>
        <p:nvSpPr>
          <p:cNvPr id="8" name="TextBox 7"/>
          <p:cNvSpPr txBox="1"/>
          <p:nvPr/>
        </p:nvSpPr>
        <p:spPr>
          <a:xfrm>
            <a:off x="6172200" y="1984248"/>
            <a:ext cx="5349240" cy="365760"/>
          </a:xfrm>
          <a:prstGeom prst="rect">
            <a:avLst/>
          </a:prstGeom>
          <a:noFill/>
        </p:spPr>
        <p:txBody>
          <a:bodyPr wrap="square" lIns="0" rIns="0" tIns="0" bIns="0">
            <a:spAutoFit/>
          </a:bodyPr>
          <a:lstStyle/>
          <a:p>
            <a:pPr algn="l"/>
            <a:r>
              <a:rPr sz="1500" b="1">
                <a:solidFill>
                  <a:srgbClr val="BAFF70"/>
                </a:solidFill>
                <a:latin typeface="Arial"/>
              </a:rPr>
              <a:t>WHAT THE RECORDED RUN PRODUCED</a:t>
            </a:r>
          </a:p>
        </p:txBody>
      </p:sp>
      <p:sp>
        <p:nvSpPr>
          <p:cNvPr id="9" name="Rounded Rectangle 8"/>
          <p:cNvSpPr/>
          <p:nvPr/>
        </p:nvSpPr>
        <p:spPr>
          <a:xfrm>
            <a:off x="617220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1 prompt(s) · 6 min 18 s · $0.25 · 9 tool calls</a:t>
            </a:r>
          </a:p>
          <a:p>
            <a:pPr algn="l">
              <a:spcAft>
                <a:spcPts val="800"/>
              </a:spcAft>
            </a:pPr>
            <a:r>
              <a:rPr sz="1900">
                <a:solidFill>
                  <a:srgbClr val="F8FAFC"/>
                </a:solidFill>
                <a:latin typeface="Arial"/>
              </a:rPr>
              <a:t>•  Tests seen in the run: Ran 51 tests in 9.674s</a:t>
            </a:r>
          </a:p>
          <a:p>
            <a:pPr algn="l">
              <a:spcAft>
                <a:spcPts val="800"/>
              </a:spcAft>
            </a:pPr>
            <a:r>
              <a:rPr sz="1900">
                <a:solidFill>
                  <a:srgbClr val="F8FAFC"/>
                </a:solidFill>
                <a:latin typeface="Arial"/>
              </a:rPr>
              <a:t>•  bin/bootcamp verify: 9 PASS · 0 FAIL</a:t>
            </a:r>
          </a:p>
          <a:p>
            <a:pPr algn="l">
              <a:spcAft>
                <a:spcPts val="800"/>
              </a:spcAft>
            </a:pPr>
            <a:r>
              <a:rPr sz="1900">
                <a:solidFill>
                  <a:srgbClr val="F8FAFC"/>
                </a:solidFill>
                <a:latin typeface="Arial"/>
              </a:rPr>
              <a:t>•  Changed: M notes_api/repository.py, M notes_api/server.py, M notes_api/service.py, ?? tests/test_search_tags.py</a:t>
            </a:r>
          </a:p>
        </p:txBody>
      </p:sp>
      <p:sp>
        <p:nvSpPr>
          <p:cNvPr id="10" name="TextBox 9"/>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085 / 198</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06 · DISCUSS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Your turn to think</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What would have happened without the worktree?</a:t>
            </a:r>
          </a:p>
          <a:p>
            <a:pPr algn="l">
              <a:spcAft>
                <a:spcPts val="800"/>
              </a:spcAft>
            </a:pPr>
            <a:r>
              <a:rPr sz="2200">
                <a:solidFill>
                  <a:srgbClr val="F8FAFC"/>
                </a:solidFill>
                <a:latin typeface="Arial"/>
              </a:rPr>
              <a:t>•  Which commands would you allow in a sandbox, and which network domains?</a:t>
            </a:r>
          </a:p>
          <a:p>
            <a:pPr algn="l">
              <a:spcAft>
                <a:spcPts val="800"/>
              </a:spcAft>
            </a:pPr>
            <a:r>
              <a:rPr sz="2200">
                <a:solidFill>
                  <a:srgbClr val="F8FAFC"/>
                </a:solidFill>
                <a:latin typeface="Arial"/>
              </a:rPr>
              <a:t>•  When is a branch enough, and when do you want a worktree?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086 / 198</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06 · LAB</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Hands-on</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Start claude --worktree search-tags, run the prompt, review the diff from main, run the tests yourself in the worktree, then merge and remove the worktree.</a:t>
            </a:r>
          </a:p>
          <a:p>
            <a:pPr algn="l">
              <a:spcAft>
                <a:spcPts val="800"/>
              </a:spcAft>
            </a:pPr>
            <a:r>
              <a:rPr sz="2200">
                <a:solidFill>
                  <a:srgbClr val="F8FAFC"/>
                </a:solidFill>
                <a:latin typeface="Arial"/>
              </a:rPr>
              <a:t>•  Start: bin/bootcamp stage 06</a:t>
            </a:r>
          </a:p>
          <a:p>
            <a:pPr algn="l">
              <a:spcAft>
                <a:spcPts val="800"/>
              </a:spcAft>
            </a:pPr>
            <a:r>
              <a:rPr sz="2200">
                <a:solidFill>
                  <a:srgbClr val="F8FAFC"/>
                </a:solidFill>
                <a:latin typeface="Arial"/>
              </a:rPr>
              <a:t>•  Prompts: parts/06-isolated-search/PROMPTS.md</a:t>
            </a:r>
          </a:p>
          <a:p>
            <a:pPr algn="l">
              <a:spcAft>
                <a:spcPts val="800"/>
              </a:spcAft>
            </a:pPr>
            <a:r>
              <a:rPr sz="2200">
                <a:solidFill>
                  <a:srgbClr val="F8FAFC"/>
                </a:solidFill>
                <a:latin typeface="Arial"/>
              </a:rPr>
              <a:t>•  Check: bin/bootcamp verify</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087 / 198</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06 · CHECKPOINT</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 now have</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Isolated worktree</a:t>
            </a:r>
          </a:p>
          <a:p>
            <a:pPr algn="l">
              <a:spcAft>
                <a:spcPts val="800"/>
              </a:spcAft>
            </a:pPr>
            <a:r>
              <a:rPr sz="2200">
                <a:solidFill>
                  <a:srgbClr val="F8FAFC"/>
                </a:solidFill>
                <a:latin typeface="Arial"/>
              </a:rPr>
              <a:t>✓  Feature branch</a:t>
            </a:r>
          </a:p>
          <a:p>
            <a:pPr algn="l">
              <a:spcAft>
                <a:spcPts val="800"/>
              </a:spcAft>
            </a:pPr>
            <a:r>
              <a:rPr sz="2200">
                <a:solidFill>
                  <a:srgbClr val="F8FAFC"/>
                </a:solidFill>
                <a:latin typeface="Arial"/>
              </a:rPr>
              <a:t>✓  Search and tagging functionality</a:t>
            </a:r>
          </a:p>
          <a:p>
            <a:pPr algn="l">
              <a:spcAft>
                <a:spcPts val="800"/>
              </a:spcAft>
            </a:pPr>
            <a:r>
              <a:rPr sz="2200">
                <a:solidFill>
                  <a:srgbClr val="F8FAFC"/>
                </a:solidFill>
                <a:latin typeface="Arial"/>
              </a:rPr>
              <a:t>✓  Reviewed diff</a:t>
            </a:r>
          </a:p>
          <a:p>
            <a:pPr algn="l">
              <a:spcAft>
                <a:spcPts val="800"/>
              </a:spcAft>
            </a:pPr>
            <a:r>
              <a:rPr sz="2200">
                <a:solidFill>
                  <a:srgbClr val="F8FAFC"/>
                </a:solidFill>
                <a:latin typeface="Arial"/>
              </a:rPr>
              <a:t>✓  Passing test suite</a:t>
            </a:r>
          </a:p>
          <a:p>
            <a:pPr algn="l">
              <a:spcAft>
                <a:spcPts val="800"/>
              </a:spcAft>
            </a:pPr>
            <a:r>
              <a:rPr sz="2200">
                <a:solidFill>
                  <a:srgbClr val="F8FAFC"/>
                </a:solidFill>
                <a:latin typeface="Arial"/>
              </a:rPr>
              <a:t>✓  Clean merge and commit history</a:t>
            </a:r>
          </a:p>
          <a:p>
            <a:pPr algn="l">
              <a:spcAft>
                <a:spcPts val="800"/>
              </a:spcAft>
            </a:pPr>
            <a:r>
              <a:rPr sz="2200">
                <a:solidFill>
                  <a:srgbClr val="F8FAFC"/>
                </a:solidFill>
                <a:latin typeface="Arial"/>
              </a:rPr>
              <a:t>•  Behind? bin/bootcamp checkpoint 06 --force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088 / 198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2194560"/>
            <a:ext cx="10058400" cy="365760"/>
          </a:xfrm>
          <a:prstGeom prst="rect">
            <a:avLst/>
          </a:prstGeom>
          <a:noFill/>
        </p:spPr>
        <p:txBody>
          <a:bodyPr wrap="square" lIns="0" rIns="0" tIns="0" bIns="0">
            <a:spAutoFit/>
          </a:bodyPr>
          <a:lstStyle/>
          <a:p>
            <a:pPr algn="l"/>
            <a:r>
              <a:rPr sz="1600" b="1">
                <a:solidFill>
                  <a:srgbClr val="BAFF70"/>
                </a:solidFill>
                <a:latin typeface="Arial"/>
              </a:rPr>
              <a:t>11:45–11:55</a:t>
            </a:r>
          </a:p>
        </p:txBody>
      </p:sp>
      <p:sp>
        <p:nvSpPr>
          <p:cNvPr id="5" name="TextBox 4"/>
          <p:cNvSpPr txBox="1"/>
          <p:nvPr/>
        </p:nvSpPr>
        <p:spPr>
          <a:xfrm>
            <a:off x="640080" y="2697480"/>
            <a:ext cx="10789920" cy="1463040"/>
          </a:xfrm>
          <a:prstGeom prst="rect">
            <a:avLst/>
          </a:prstGeom>
          <a:noFill/>
        </p:spPr>
        <p:txBody>
          <a:bodyPr wrap="square" lIns="0" rIns="0" tIns="0" bIns="0">
            <a:spAutoFit/>
          </a:bodyPr>
          <a:lstStyle/>
          <a:p>
            <a:pPr algn="l"/>
            <a:r>
              <a:rPr sz="4600" b="1">
                <a:solidFill>
                  <a:srgbClr val="F8FAFC"/>
                </a:solidFill>
                <a:latin typeface="Arial"/>
              </a:rPr>
              <a:t>Break · 10 minutes</a:t>
            </a:r>
          </a:p>
        </p:txBody>
      </p:sp>
      <p:sp>
        <p:nvSpPr>
          <p:cNvPr id="6" name="TextBox 5"/>
          <p:cNvSpPr txBox="1"/>
          <p:nvPr/>
        </p:nvSpPr>
        <p:spPr>
          <a:xfrm>
            <a:off x="640080" y="4297680"/>
            <a:ext cx="10789920" cy="914400"/>
          </a:xfrm>
          <a:prstGeom prst="rect">
            <a:avLst/>
          </a:prstGeom>
          <a:noFill/>
        </p:spPr>
        <p:txBody>
          <a:bodyPr wrap="square" lIns="0" rIns="0" tIns="0" bIns="0">
            <a:spAutoFit/>
          </a:bodyPr>
          <a:lstStyle/>
          <a:p>
            <a:pPr algn="l"/>
            <a:r>
              <a:rPr sz="2000" b="0">
                <a:solidFill>
                  <a:srgbClr val="ADBBCD"/>
                </a:solidFill>
                <a:latin typeface="Arial"/>
              </a:rPr>
              <a:t>Behind? bin/bootcamp checkpoint 06 --force  ·  next: Part 07</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089 / 198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2194560"/>
            <a:ext cx="10058400" cy="365760"/>
          </a:xfrm>
          <a:prstGeom prst="rect">
            <a:avLst/>
          </a:prstGeom>
          <a:noFill/>
        </p:spPr>
        <p:txBody>
          <a:bodyPr wrap="square" lIns="0" rIns="0" tIns="0" bIns="0">
            <a:spAutoFit/>
          </a:bodyPr>
          <a:lstStyle/>
          <a:p>
            <a:pPr algn="l"/>
            <a:r>
              <a:rPr sz="1600" b="1">
                <a:solidFill>
                  <a:srgbClr val="BAFF70"/>
                </a:solidFill>
                <a:latin typeface="Arial"/>
              </a:rPr>
              <a:t>PART 07 · 11:55–12:20 · 25 MIN</a:t>
            </a:r>
          </a:p>
        </p:txBody>
      </p:sp>
      <p:sp>
        <p:nvSpPr>
          <p:cNvPr id="5" name="TextBox 4"/>
          <p:cNvSpPr txBox="1"/>
          <p:nvPr/>
        </p:nvSpPr>
        <p:spPr>
          <a:xfrm>
            <a:off x="640080" y="2697480"/>
            <a:ext cx="10789920" cy="1463040"/>
          </a:xfrm>
          <a:prstGeom prst="rect">
            <a:avLst/>
          </a:prstGeom>
          <a:noFill/>
        </p:spPr>
        <p:txBody>
          <a:bodyPr wrap="square" lIns="0" rIns="0" tIns="0" bIns="0">
            <a:spAutoFit/>
          </a:bodyPr>
          <a:lstStyle/>
          <a:p>
            <a:pPr algn="l"/>
            <a:r>
              <a:rPr sz="4600" b="1">
                <a:solidFill>
                  <a:srgbClr val="F8FAFC"/>
                </a:solidFill>
                <a:latin typeface="Arial"/>
              </a:rPr>
              <a:t>Multimodal building and Chrome verification</a:t>
            </a:r>
          </a:p>
        </p:txBody>
      </p:sp>
      <p:sp>
        <p:nvSpPr>
          <p:cNvPr id="6" name="TextBox 5"/>
          <p:cNvSpPr txBox="1"/>
          <p:nvPr/>
        </p:nvSpPr>
        <p:spPr>
          <a:xfrm>
            <a:off x="640080" y="4297680"/>
            <a:ext cx="10789920" cy="914400"/>
          </a:xfrm>
          <a:prstGeom prst="rect">
            <a:avLst/>
          </a:prstGeom>
          <a:noFill/>
        </p:spPr>
        <p:txBody>
          <a:bodyPr wrap="square" lIns="0" rIns="0" tIns="0" bIns="0">
            <a:spAutoFit/>
          </a:bodyPr>
          <a:lstStyle/>
          <a:p>
            <a:pPr algn="l"/>
            <a:r>
              <a:rPr sz="2000" b="0">
                <a:solidFill>
                  <a:srgbClr val="ADBBCD"/>
                </a:solidFill>
                <a:latin typeface="Arial"/>
              </a:rPr>
              <a:t>Project 7: Dashboard from a Wireframe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090 / 198</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07 · GOALS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you will be able to do</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Turn a wireframe into components, states and interaction requirements</a:t>
            </a:r>
          </a:p>
          <a:p>
            <a:pPr algn="l">
              <a:spcAft>
                <a:spcPts val="800"/>
              </a:spcAft>
            </a:pPr>
            <a:r>
              <a:rPr sz="2200">
                <a:solidFill>
                  <a:srgbClr val="F8FAFC"/>
                </a:solidFill>
                <a:latin typeface="Arial"/>
              </a:rPr>
              <a:t>•  Improve the prompt before patching generated UI by hand</a:t>
            </a:r>
          </a:p>
          <a:p>
            <a:pPr algn="l">
              <a:spcAft>
                <a:spcPts val="800"/>
              </a:spcAft>
            </a:pPr>
            <a:r>
              <a:rPr sz="2200">
                <a:solidFill>
                  <a:srgbClr val="F8FAFC"/>
                </a:solidFill>
                <a:latin typeface="Arial"/>
              </a:rPr>
              <a:t>•  Connect Claude Code to Chrome (claude --chrome, /chrome)</a:t>
            </a:r>
          </a:p>
          <a:p>
            <a:pPr algn="l">
              <a:spcAft>
                <a:spcPts val="800"/>
              </a:spcAft>
            </a:pPr>
            <a:r>
              <a:rPr sz="2200">
                <a:solidFill>
                  <a:srgbClr val="F8FAFC"/>
                </a:solidFill>
                <a:latin typeface="Arial"/>
              </a:rPr>
              <a:t>•  Test navigation and forms, inspect the console, check responsive layouts, capture evidence</a:t>
            </a:r>
          </a:p>
          <a:p>
            <a:pPr algn="l">
              <a:spcAft>
                <a:spcPts val="800"/>
              </a:spcAft>
            </a:pPr>
            <a:r>
              <a:rPr sz="2200">
                <a:solidFill>
                  <a:srgbClr val="F8FAFC"/>
                </a:solidFill>
                <a:latin typeface="Arial"/>
              </a:rPr>
              <a:t>•  Convert findings into focused fixes</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091 / 198</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THE INPUT</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2800" b="1">
                <a:solidFill>
                  <a:srgbClr val="F8FAFC"/>
                </a:solidFill>
                <a:latin typeface="Arial"/>
              </a:rPr>
              <a:t>A hand-drawn wireframe with annotations</a:t>
            </a:r>
          </a:p>
        </p:txBody>
      </p:sp>
      <p:pic>
        <p:nvPicPr>
          <p:cNvPr id="6" name="Picture 5" descr="release-dashboard.png"/>
          <p:cNvPicPr>
            <a:picLocks noChangeAspect="1"/>
          </p:cNvPicPr>
          <p:nvPr/>
        </p:nvPicPr>
        <p:blipFill>
          <a:blip r:embed="rId3"/>
          <a:stretch>
            <a:fillRect/>
          </a:stretch>
        </p:blipFill>
        <p:spPr>
          <a:xfrm>
            <a:off x="3194222" y="1984248"/>
            <a:ext cx="5773076" cy="4005072"/>
          </a:xfrm>
          <a:prstGeom prst="rect">
            <a:avLst/>
          </a:prstGeom>
        </p:spPr>
      </p:pic>
      <p:sp>
        <p:nvSpPr>
          <p:cNvPr id="7" name="TextBox 6"/>
          <p:cNvSpPr txBox="1"/>
          <p:nvPr/>
        </p:nvSpPr>
        <p:spPr>
          <a:xfrm>
            <a:off x="640080" y="6172200"/>
            <a:ext cx="10881360" cy="365760"/>
          </a:xfrm>
          <a:prstGeom prst="rect">
            <a:avLst/>
          </a:prstGeom>
          <a:noFill/>
        </p:spPr>
        <p:txBody>
          <a:bodyPr wrap="square" lIns="0" rIns="0" tIns="0" bIns="0">
            <a:spAutoFit/>
          </a:bodyPr>
          <a:lstStyle/>
          <a:p>
            <a:pPr algn="l"/>
            <a:r>
              <a:rPr sz="1400" b="0">
                <a:solidFill>
                  <a:srgbClr val="ADBBCD"/>
                </a:solidFill>
                <a:latin typeface="Arial"/>
              </a:rPr>
              <a:t>Annotations are requirements: overdue in red, filters combine, 2×2 cards on phones, chip toggles.</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092 / 198</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FROM PIXELS TO REQUIREMENTS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Extract before you build</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Components: header, KPI cards, tasks table, notes panel, chips</a:t>
            </a:r>
          </a:p>
          <a:p>
            <a:pPr algn="l">
              <a:spcAft>
                <a:spcPts val="800"/>
              </a:spcAft>
            </a:pPr>
            <a:r>
              <a:rPr sz="2200">
                <a:solidFill>
                  <a:srgbClr val="F8FAFC"/>
                </a:solidFill>
                <a:latin typeface="Arial"/>
              </a:rPr>
              <a:t>•  States: loading, empty, overdue, active filter, active chip</a:t>
            </a:r>
          </a:p>
          <a:p>
            <a:pPr algn="l">
              <a:spcAft>
                <a:spcPts val="800"/>
              </a:spcAft>
            </a:pPr>
            <a:r>
              <a:rPr sz="2200">
                <a:solidFill>
                  <a:srgbClr val="F8FAFC"/>
                </a:solidFill>
                <a:latin typeface="Arial"/>
              </a:rPr>
              <a:t>•  Interactions: owner × status filters, debounced search, chip toggle</a:t>
            </a:r>
          </a:p>
          <a:p>
            <a:pPr algn="l">
              <a:spcAft>
                <a:spcPts val="800"/>
              </a:spcAft>
            </a:pPr>
            <a:r>
              <a:rPr sz="2200">
                <a:solidFill>
                  <a:srgbClr val="F8FAFC"/>
                </a:solidFill>
                <a:latin typeface="Arial"/>
              </a:rPr>
              <a:t>•  Responsive rules from the annotations</a:t>
            </a:r>
          </a:p>
          <a:p>
            <a:pPr algn="l">
              <a:spcAft>
                <a:spcPts val="800"/>
              </a:spcAft>
            </a:pPr>
            <a:r>
              <a:rPr sz="2200">
                <a:solidFill>
                  <a:srgbClr val="F8FAFC"/>
                </a:solidFill>
                <a:latin typeface="Arial"/>
              </a:rPr>
              <a:t>•  If the UI is wrong, improve the prompt before patching by hand</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093 / 198</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CLAUDE IN CHROME</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Real browser evidence</a:t>
            </a:r>
          </a:p>
        </p:txBody>
      </p:sp>
      <p:graphicFrame>
        <p:nvGraphicFramePr>
          <p:cNvPr id="6" name="Table 5"/>
          <p:cNvGraphicFramePr>
            <a:graphicFrameLocks noGrp="1"/>
          </p:cNvGraphicFramePr>
          <p:nvPr/>
        </p:nvGraphicFramePr>
        <p:xfrm>
          <a:off x="640080" y="1984248"/>
          <a:ext cx="10881360" cy="2852928"/>
        </p:xfrm>
        <a:graphic>
          <a:graphicData uri="http://schemas.openxmlformats.org/drawingml/2006/table">
            <a:tbl>
              <a:tblPr>
                <a:tableStyleId>{5C22544A-7EE6-4342-B048-85BDC9FD1C3A}</a:tableStyleId>
              </a:tblPr>
              <a:tblGrid>
                <a:gridCol w="2072640"/>
                <a:gridCol w="8808720"/>
              </a:tblGrid>
              <a:tr h="475488">
                <a:tc>
                  <a:txBody>
                    <a:bodyPr wrap="square"/>
                    <a:lstStyle/>
                    <a:p>
                      <a:r>
                        <a:rPr sz="1600" b="1">
                          <a:solidFill>
                            <a:srgbClr val="BAFF70"/>
                          </a:solidFill>
                          <a:latin typeface="Arial"/>
                        </a:rPr>
                        <a:t>Need</a:t>
                      </a:r>
                    </a:p>
                  </a:txBody>
                  <a:tcPr marL="109728" marR="109728">
                    <a:solidFill>
                      <a:srgbClr val="22324A"/>
                    </a:solidFill>
                  </a:tcPr>
                </a:tc>
                <a:tc>
                  <a:txBody>
                    <a:bodyPr wrap="square"/>
                    <a:lstStyle/>
                    <a:p>
                      <a:r>
                        <a:rPr sz="1600" b="1">
                          <a:solidFill>
                            <a:srgbClr val="BAFF70"/>
                          </a:solidFill>
                          <a:latin typeface="Arial"/>
                        </a:rPr>
                        <a:t>How</a:t>
                      </a:r>
                    </a:p>
                  </a:txBody>
                  <a:tcPr marL="109728" marR="109728">
                    <a:solidFill>
                      <a:srgbClr val="22324A"/>
                    </a:solidFill>
                  </a:tcPr>
                </a:tc>
              </a:tr>
              <a:tr h="475488">
                <a:tc>
                  <a:txBody>
                    <a:bodyPr wrap="square"/>
                    <a:lstStyle/>
                    <a:p>
                      <a:r>
                        <a:rPr sz="1600" b="1">
                          <a:solidFill>
                            <a:srgbClr val="F8FAFC"/>
                          </a:solidFill>
                          <a:latin typeface="Arial"/>
                        </a:rPr>
                        <a:t>Connect</a:t>
                      </a:r>
                    </a:p>
                  </a:txBody>
                  <a:tcPr marL="109728" marR="109728">
                    <a:solidFill>
                      <a:srgbClr val="1A283B"/>
                    </a:solidFill>
                  </a:tcPr>
                </a:tc>
                <a:tc>
                  <a:txBody>
                    <a:bodyPr wrap="square"/>
                    <a:lstStyle/>
                    <a:p>
                      <a:r>
                        <a:rPr sz="1600" b="0">
                          <a:solidFill>
                            <a:srgbClr val="ADBBCD"/>
                          </a:solidFill>
                          <a:latin typeface="Arial"/>
                        </a:rPr>
                        <a:t>claude --chrome or /chrome (extension ≥ 1.0.36, claude.ai login)</a:t>
                      </a:r>
                    </a:p>
                  </a:txBody>
                  <a:tcPr marL="109728" marR="109728">
                    <a:solidFill>
                      <a:srgbClr val="1A283B"/>
                    </a:solidFill>
                  </a:tcPr>
                </a:tc>
              </a:tr>
              <a:tr h="475488">
                <a:tc>
                  <a:txBody>
                    <a:bodyPr wrap="square"/>
                    <a:lstStyle/>
                    <a:p>
                      <a:r>
                        <a:rPr sz="1600" b="1">
                          <a:solidFill>
                            <a:srgbClr val="F8FAFC"/>
                          </a:solidFill>
                          <a:latin typeface="Arial"/>
                        </a:rPr>
                        <a:t>Exercise flows</a:t>
                      </a:r>
                    </a:p>
                  </a:txBody>
                  <a:tcPr marL="109728" marR="109728">
                    <a:solidFill>
                      <a:srgbClr val="15233A"/>
                    </a:solidFill>
                  </a:tcPr>
                </a:tc>
                <a:tc>
                  <a:txBody>
                    <a:bodyPr wrap="square"/>
                    <a:lstStyle/>
                    <a:p>
                      <a:r>
                        <a:rPr sz="1600" b="0">
                          <a:solidFill>
                            <a:srgbClr val="ADBBCD"/>
                          </a:solidFill>
                          <a:latin typeface="Arial"/>
                        </a:rPr>
                        <a:t>Navigate, click, type, fill forms</a:t>
                      </a:r>
                    </a:p>
                  </a:txBody>
                  <a:tcPr marL="109728" marR="109728">
                    <a:solidFill>
                      <a:srgbClr val="15233A"/>
                    </a:solidFill>
                  </a:tcPr>
                </a:tc>
              </a:tr>
              <a:tr h="475488">
                <a:tc>
                  <a:txBody>
                    <a:bodyPr wrap="square"/>
                    <a:lstStyle/>
                    <a:p>
                      <a:r>
                        <a:rPr sz="1600" b="1">
                          <a:solidFill>
                            <a:srgbClr val="F8FAFC"/>
                          </a:solidFill>
                          <a:latin typeface="Arial"/>
                        </a:rPr>
                        <a:t>Console</a:t>
                      </a:r>
                    </a:p>
                  </a:txBody>
                  <a:tcPr marL="109728" marR="109728">
                    <a:solidFill>
                      <a:srgbClr val="1A283B"/>
                    </a:solidFill>
                  </a:tcPr>
                </a:tc>
                <a:tc>
                  <a:txBody>
                    <a:bodyPr wrap="square"/>
                    <a:lstStyle/>
                    <a:p>
                      <a:r>
                        <a:rPr sz="1600" b="0">
                          <a:solidFill>
                            <a:srgbClr val="ADBBCD"/>
                          </a:solidFill>
                          <a:latin typeface="Arial"/>
                        </a:rPr>
                        <a:t>Read errors and logs</a:t>
                      </a:r>
                    </a:p>
                  </a:txBody>
                  <a:tcPr marL="109728" marR="109728">
                    <a:solidFill>
                      <a:srgbClr val="1A283B"/>
                    </a:solidFill>
                  </a:tcPr>
                </a:tc>
              </a:tr>
              <a:tr h="475488">
                <a:tc>
                  <a:txBody>
                    <a:bodyPr wrap="square"/>
                    <a:lstStyle/>
                    <a:p>
                      <a:r>
                        <a:rPr sz="1600" b="1">
                          <a:solidFill>
                            <a:srgbClr val="F8FAFC"/>
                          </a:solidFill>
                          <a:latin typeface="Arial"/>
                        </a:rPr>
                        <a:t>Responsive</a:t>
                      </a:r>
                    </a:p>
                  </a:txBody>
                  <a:tcPr marL="109728" marR="109728">
                    <a:solidFill>
                      <a:srgbClr val="15233A"/>
                    </a:solidFill>
                  </a:tcPr>
                </a:tc>
                <a:tc>
                  <a:txBody>
                    <a:bodyPr wrap="square"/>
                    <a:lstStyle/>
                    <a:p>
                      <a:r>
                        <a:rPr sz="1600" b="0">
                          <a:solidFill>
                            <a:srgbClr val="ADBBCD"/>
                          </a:solidFill>
                          <a:latin typeface="Arial"/>
                        </a:rPr>
                        <a:t>Resize to 390 px; screenshots</a:t>
                      </a:r>
                    </a:p>
                  </a:txBody>
                  <a:tcPr marL="109728" marR="109728">
                    <a:solidFill>
                      <a:srgbClr val="15233A"/>
                    </a:solidFill>
                  </a:tcPr>
                </a:tc>
              </a:tr>
              <a:tr h="475488">
                <a:tc>
                  <a:txBody>
                    <a:bodyPr wrap="square"/>
                    <a:lstStyle/>
                    <a:p>
                      <a:r>
                        <a:rPr sz="1600" b="1">
                          <a:solidFill>
                            <a:srgbClr val="F8FAFC"/>
                          </a:solidFill>
                          <a:latin typeface="Arial"/>
                        </a:rPr>
                        <a:t>Limits</a:t>
                      </a:r>
                    </a:p>
                  </a:txBody>
                  <a:tcPr marL="109728" marR="109728">
                    <a:solidFill>
                      <a:srgbClr val="1A283B"/>
                    </a:solidFill>
                  </a:tcPr>
                </a:tc>
                <a:tc>
                  <a:txBody>
                    <a:bodyPr wrap="square"/>
                    <a:lstStyle/>
                    <a:p>
                      <a:r>
                        <a:rPr sz="1600" b="0">
                          <a:solidFill>
                            <a:srgbClr val="ADBBCD"/>
                          </a:solidFill>
                          <a:latin typeface="Arial"/>
                        </a:rPr>
                        <a:t>Pauses on logins/CAPTCHAs; no WSL; JS dialogs block</a:t>
                      </a:r>
                    </a:p>
                  </a:txBody>
                  <a:tcPr marL="109728" marR="109728">
                    <a:solidFill>
                      <a:srgbClr val="1A283B"/>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094 / 198</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CAPTURED EVIDENCE</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2800" b="1">
                <a:solidFill>
                  <a:srgbClr val="F8FAFC"/>
                </a:solidFill>
                <a:latin typeface="Arial"/>
              </a:rPr>
              <a:t>1280 px and 390 px, console clean</a:t>
            </a:r>
          </a:p>
        </p:txBody>
      </p:sp>
      <p:pic>
        <p:nvPicPr>
          <p:cNvPr id="6" name="Picture 5" descr="dashboard-desktop-1280.png"/>
          <p:cNvPicPr>
            <a:picLocks noChangeAspect="1"/>
          </p:cNvPicPr>
          <p:nvPr/>
        </p:nvPicPr>
        <p:blipFill>
          <a:blip r:embed="rId3"/>
          <a:stretch>
            <a:fillRect/>
          </a:stretch>
        </p:blipFill>
        <p:spPr>
          <a:xfrm>
            <a:off x="1353060" y="1984248"/>
            <a:ext cx="3877559" cy="3959352"/>
          </a:xfrm>
          <a:prstGeom prst="rect">
            <a:avLst/>
          </a:prstGeom>
        </p:spPr>
      </p:pic>
      <p:pic>
        <p:nvPicPr>
          <p:cNvPr id="7" name="Picture 6" descr="crop-evidence-dashboard-mobile-390.png"/>
          <p:cNvPicPr>
            <a:picLocks noChangeAspect="1"/>
          </p:cNvPicPr>
          <p:nvPr/>
        </p:nvPicPr>
        <p:blipFill>
          <a:blip r:embed="rId4"/>
          <a:stretch>
            <a:fillRect/>
          </a:stretch>
        </p:blipFill>
        <p:spPr>
          <a:xfrm>
            <a:off x="7954901" y="1984248"/>
            <a:ext cx="1829558" cy="3959351"/>
          </a:xfrm>
          <a:prstGeom prst="rect">
            <a:avLst/>
          </a:prstGeom>
        </p:spPr>
      </p:pic>
      <p:sp>
        <p:nvSpPr>
          <p:cNvPr id="8" name="TextBox 7"/>
          <p:cNvSpPr txBox="1"/>
          <p:nvPr/>
        </p:nvSpPr>
        <p:spPr>
          <a:xfrm>
            <a:off x="640080" y="6172200"/>
            <a:ext cx="10881360" cy="365760"/>
          </a:xfrm>
          <a:prstGeom prst="rect">
            <a:avLst/>
          </a:prstGeom>
          <a:noFill/>
        </p:spPr>
        <p:txBody>
          <a:bodyPr wrap="square" lIns="0" rIns="0" tIns="0" bIns="0">
            <a:spAutoFit/>
          </a:bodyPr>
          <a:lstStyle/>
          <a:p>
            <a:pPr algn="l"/>
            <a:r>
              <a:rPr sz="1400" b="0">
                <a:solidFill>
                  <a:srgbClr val="ADBBCD"/>
                </a:solidFill>
                <a:latin typeface="Arial"/>
              </a:rPr>
              <a:t>Fallback path for learners without Chrome: these screenshots + the manual browser verification checklist.</a:t>
            </a:r>
          </a:p>
        </p:txBody>
      </p:sp>
      <p:sp>
        <p:nvSpPr>
          <p:cNvPr id="9" name="TextBox 8"/>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095 / 198</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07 · PROMPT 1 OF 2</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Build from the wireframe</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Look at wireframes/release-dashboard.png and read briefs/release-</a:t>
            </a:r>
          </a:p>
          <a:p>
            <a:pPr algn="l">
              <a:spcAft>
                <a:spcPts val="400"/>
              </a:spcAft>
            </a:pPr>
            <a:r>
              <a:rPr sz="2000">
                <a:solidFill>
                  <a:srgbClr val="BAFF70"/>
                </a:solidFill>
                <a:latin typeface="Consolas"/>
              </a:rPr>
              <a:t>dashboard.md. First list the components, states and interactions you</a:t>
            </a:r>
          </a:p>
          <a:p>
            <a:pPr algn="l">
              <a:spcAft>
                <a:spcPts val="400"/>
              </a:spcAft>
            </a:pPr>
            <a:r>
              <a:rPr sz="2000">
                <a:solidFill>
                  <a:srgbClr val="BAFF70"/>
                </a:solidFill>
                <a:latin typeface="Consolas"/>
              </a:rPr>
              <a:t>extracted from the image and its annotations. Then build the</a:t>
            </a:r>
          </a:p>
          <a:p>
            <a:pPr algn="l">
              <a:spcAft>
                <a:spcPts val="400"/>
              </a:spcAft>
            </a:pPr>
            <a:r>
              <a:rPr sz="2000">
                <a:solidFill>
                  <a:srgbClr val="BAFF70"/>
                </a:solidFill>
                <a:latin typeface="Consolas"/>
              </a:rPr>
              <a:t>dashboard in dashboard/ and add the read-only GET /api/tasks route</a:t>
            </a:r>
          </a:p>
          <a:p>
            <a:pPr algn="l">
              <a:spcAft>
                <a:spcPts val="400"/>
              </a:spcAft>
            </a:pPr>
            <a:r>
              <a:rPr sz="2000">
                <a:solidFill>
                  <a:srgbClr val="BAFF70"/>
                </a:solidFill>
                <a:latin typeface="Consolas"/>
              </a:rPr>
              <a:t>and static serving to the existing server, with node --test tests</a:t>
            </a:r>
          </a:p>
          <a:p>
            <a:pPr algn="l">
              <a:spcAft>
                <a:spcPts val="400"/>
              </a:spcAft>
            </a:pPr>
            <a:r>
              <a:rPr sz="2000">
                <a:solidFill>
                  <a:srgbClr val="BAFF70"/>
                </a:solidFill>
                <a:latin typeface="Consolas"/>
              </a:rPr>
              <a:t>for the pure logic. Run both test suites and show the raw output. Do</a:t>
            </a:r>
          </a:p>
          <a:p>
            <a:pPr algn="l">
              <a:spcAft>
                <a:spcPts val="400"/>
              </a:spcAft>
            </a:pPr>
            <a:r>
              <a:rPr sz="2000">
                <a:solidFill>
                  <a:srgbClr val="BAFF70"/>
                </a:solidFill>
                <a:latin typeface="Consolas"/>
              </a:rPr>
              <a:t>not commit.</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parts/07-dashboard-wireframe/PROMPTS.md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096 / 198</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07 · PROMPT 2 OF 2</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Verify in Chrome (claude --chrome)</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Start the server with seeded data (python3 seed.py &amp;&amp; python3 -m</a:t>
            </a:r>
          </a:p>
          <a:p>
            <a:pPr algn="l">
              <a:spcAft>
                <a:spcPts val="400"/>
              </a:spcAft>
            </a:pPr>
            <a:r>
              <a:rPr sz="2000">
                <a:solidFill>
                  <a:srgbClr val="BAFF70"/>
                </a:solidFill>
                <a:latin typeface="Consolas"/>
              </a:rPr>
              <a:t>notes_api.server). Open http://localhost:8000/ in Chrome. Exercise</a:t>
            </a:r>
          </a:p>
          <a:p>
            <a:pPr algn="l">
              <a:spcAft>
                <a:spcPts val="400"/>
              </a:spcAft>
            </a:pPr>
            <a:r>
              <a:rPr sz="2000">
                <a:solidFill>
                  <a:srgbClr val="BAFF70"/>
                </a:solidFill>
                <a:latin typeface="Consolas"/>
              </a:rPr>
              <a:t>the owner filter, status filter, both combined, search, and tag</a:t>
            </a:r>
          </a:p>
          <a:p>
            <a:pPr algn="l">
              <a:spcAft>
                <a:spcPts val="400"/>
              </a:spcAft>
            </a:pPr>
            <a:r>
              <a:rPr sz="2000">
                <a:solidFill>
                  <a:srgbClr val="BAFF70"/>
                </a:solidFill>
                <a:latin typeface="Consolas"/>
              </a:rPr>
              <a:t>toggle on/off. Read the console. Resize to 390px wide. Record every</a:t>
            </a:r>
          </a:p>
          <a:p>
            <a:pPr algn="l">
              <a:spcAft>
                <a:spcPts val="400"/>
              </a:spcAft>
            </a:pPr>
            <a:r>
              <a:rPr sz="2000">
                <a:solidFill>
                  <a:srgbClr val="BAFF70"/>
                </a:solidFill>
                <a:latin typeface="Consolas"/>
              </a:rPr>
              <a:t>issue in docs/browser-issue-log.md with evidence, fix them one by</a:t>
            </a:r>
          </a:p>
          <a:p>
            <a:pPr algn="l">
              <a:spcAft>
                <a:spcPts val="400"/>
              </a:spcAft>
            </a:pPr>
            <a:r>
              <a:rPr sz="2000">
                <a:solidFill>
                  <a:srgbClr val="BAFF70"/>
                </a:solidFill>
                <a:latin typeface="Consolas"/>
              </a:rPr>
              <a:t>one, and re-verify each fix.</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parts/07-dashboard-wireframe/PROMPTS.md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097 / 198</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pic>
        <p:nvPicPr>
          <p:cNvPr id="2" name="07-dashboard-wireframe.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07 · EVIDENCE, NOT CLAIMS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the run proved</a:t>
            </a:r>
          </a:p>
        </p:txBody>
      </p:sp>
      <p:sp>
        <p:nvSpPr>
          <p:cNvPr id="6" name="TextBox 5"/>
          <p:cNvSpPr txBox="1"/>
          <p:nvPr/>
        </p:nvSpPr>
        <p:spPr>
          <a:xfrm>
            <a:off x="640080" y="1984248"/>
            <a:ext cx="5349240" cy="365760"/>
          </a:xfrm>
          <a:prstGeom prst="rect">
            <a:avLst/>
          </a:prstGeom>
          <a:noFill/>
        </p:spPr>
        <p:txBody>
          <a:bodyPr wrap="square" lIns="0" rIns="0" tIns="0" bIns="0">
            <a:spAutoFit/>
          </a:bodyPr>
          <a:lstStyle/>
          <a:p>
            <a:pPr algn="l"/>
            <a:r>
              <a:rPr sz="1500" b="1">
                <a:solidFill>
                  <a:srgbClr val="FBBF24"/>
                </a:solidFill>
                <a:latin typeface="Arial"/>
              </a:rPr>
              <a:t>WHAT TO LOOK FOR</a:t>
            </a:r>
          </a:p>
        </p:txBody>
      </p:sp>
      <p:sp>
        <p:nvSpPr>
          <p:cNvPr id="7" name="Rounded Rectangle 6"/>
          <p:cNvSpPr/>
          <p:nvPr/>
        </p:nvSpPr>
        <p:spPr>
          <a:xfrm>
            <a:off x="64008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Component/state list extracted from the image</a:t>
            </a:r>
          </a:p>
          <a:p>
            <a:pPr algn="l">
              <a:spcAft>
                <a:spcPts val="800"/>
              </a:spcAft>
            </a:pPr>
            <a:r>
              <a:rPr sz="1900">
                <a:solidFill>
                  <a:srgbClr val="F8FAFC"/>
                </a:solidFill>
                <a:latin typeface="Arial"/>
              </a:rPr>
              <a:t>•  Desktop and 390 px screenshots</a:t>
            </a:r>
          </a:p>
          <a:p>
            <a:pPr algn="l">
              <a:spcAft>
                <a:spcPts val="800"/>
              </a:spcAft>
            </a:pPr>
            <a:r>
              <a:rPr sz="1900">
                <a:solidFill>
                  <a:srgbClr val="F8FAFC"/>
                </a:solidFill>
                <a:latin typeface="Arial"/>
              </a:rPr>
              <a:t>•  Console: no errors</a:t>
            </a:r>
          </a:p>
          <a:p>
            <a:pPr algn="l">
              <a:spcAft>
                <a:spcPts val="800"/>
              </a:spcAft>
            </a:pPr>
            <a:r>
              <a:rPr sz="1900">
                <a:solidFill>
                  <a:srgbClr val="F8FAFC"/>
                </a:solidFill>
                <a:latin typeface="Arial"/>
              </a:rPr>
              <a:t>•  Issue log with before/after</a:t>
            </a:r>
          </a:p>
        </p:txBody>
      </p:sp>
      <p:sp>
        <p:nvSpPr>
          <p:cNvPr id="8" name="TextBox 7"/>
          <p:cNvSpPr txBox="1"/>
          <p:nvPr/>
        </p:nvSpPr>
        <p:spPr>
          <a:xfrm>
            <a:off x="6172200" y="1984248"/>
            <a:ext cx="5349240" cy="365760"/>
          </a:xfrm>
          <a:prstGeom prst="rect">
            <a:avLst/>
          </a:prstGeom>
          <a:noFill/>
        </p:spPr>
        <p:txBody>
          <a:bodyPr wrap="square" lIns="0" rIns="0" tIns="0" bIns="0">
            <a:spAutoFit/>
          </a:bodyPr>
          <a:lstStyle/>
          <a:p>
            <a:pPr algn="l"/>
            <a:r>
              <a:rPr sz="1500" b="1">
                <a:solidFill>
                  <a:srgbClr val="BAFF70"/>
                </a:solidFill>
                <a:latin typeface="Arial"/>
              </a:rPr>
              <a:t>WHAT THE RECORDED RUN PRODUCED</a:t>
            </a:r>
          </a:p>
        </p:txBody>
      </p:sp>
      <p:sp>
        <p:nvSpPr>
          <p:cNvPr id="9" name="Rounded Rectangle 8"/>
          <p:cNvSpPr/>
          <p:nvPr/>
        </p:nvSpPr>
        <p:spPr>
          <a:xfrm>
            <a:off x="617220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1 prompt(s) · 6 min 03 s · $0.34 · 20 tool calls</a:t>
            </a:r>
          </a:p>
          <a:p>
            <a:pPr algn="l">
              <a:spcAft>
                <a:spcPts val="800"/>
              </a:spcAft>
            </a:pPr>
            <a:r>
              <a:rPr sz="1900">
                <a:solidFill>
                  <a:srgbClr val="F8FAFC"/>
                </a:solidFill>
                <a:latin typeface="Arial"/>
              </a:rPr>
              <a:t>•  Tests seen in the run: Ran 54 tests in 13.369s</a:t>
            </a:r>
          </a:p>
          <a:p>
            <a:pPr algn="l">
              <a:spcAft>
                <a:spcPts val="800"/>
              </a:spcAft>
            </a:pPr>
            <a:r>
              <a:rPr sz="1900">
                <a:solidFill>
                  <a:srgbClr val="F8FAFC"/>
                </a:solidFill>
                <a:latin typeface="Arial"/>
              </a:rPr>
              <a:t>•  bin/bootcamp verify: 11 PASS · 0 FAIL</a:t>
            </a:r>
          </a:p>
          <a:p>
            <a:pPr algn="l">
              <a:spcAft>
                <a:spcPts val="800"/>
              </a:spcAft>
            </a:pPr>
            <a:r>
              <a:rPr sz="1900">
                <a:solidFill>
                  <a:srgbClr val="F8FAFC"/>
                </a:solidFill>
                <a:latin typeface="Arial"/>
              </a:rPr>
              <a:t>•  Changed: M notes_api/server.py, ?? dashboard/, ?? tests/test_dashboard_server.py</a:t>
            </a:r>
          </a:p>
        </p:txBody>
      </p:sp>
      <p:sp>
        <p:nvSpPr>
          <p:cNvPr id="10" name="TextBox 9"/>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099 / 198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07 · DISCUSS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Your turn to think</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What did Claude extract from the annotations that you would have missed?</a:t>
            </a:r>
          </a:p>
          <a:p>
            <a:pPr algn="l">
              <a:spcAft>
                <a:spcPts val="800"/>
              </a:spcAft>
            </a:pPr>
            <a:r>
              <a:rPr sz="2200">
                <a:solidFill>
                  <a:srgbClr val="F8FAFC"/>
                </a:solidFill>
                <a:latin typeface="Arial"/>
              </a:rPr>
              <a:t>•  Which issues can only be found in a real browser?</a:t>
            </a:r>
          </a:p>
          <a:p>
            <a:pPr algn="l">
              <a:spcAft>
                <a:spcPts val="800"/>
              </a:spcAft>
            </a:pPr>
            <a:r>
              <a:rPr sz="2200">
                <a:solidFill>
                  <a:srgbClr val="F8FAFC"/>
                </a:solidFill>
                <a:latin typeface="Arial"/>
              </a:rPr>
              <a:t>•  When do you fix the prompt instead of patching the UI?</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100 / 198</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07 · LAB</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Hands-on</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Build from the wireframe, then verify with claude --chrome. No Chrome? Use the browser verification checklist and the captured evidence in parts/07/evidence.</a:t>
            </a:r>
          </a:p>
          <a:p>
            <a:pPr algn="l">
              <a:spcAft>
                <a:spcPts val="800"/>
              </a:spcAft>
            </a:pPr>
            <a:r>
              <a:rPr sz="2200">
                <a:solidFill>
                  <a:srgbClr val="F8FAFC"/>
                </a:solidFill>
                <a:latin typeface="Arial"/>
              </a:rPr>
              <a:t>•  Start: bin/bootcamp stage 07</a:t>
            </a:r>
          </a:p>
          <a:p>
            <a:pPr algn="l">
              <a:spcAft>
                <a:spcPts val="800"/>
              </a:spcAft>
            </a:pPr>
            <a:r>
              <a:rPr sz="2200">
                <a:solidFill>
                  <a:srgbClr val="F8FAFC"/>
                </a:solidFill>
                <a:latin typeface="Arial"/>
              </a:rPr>
              <a:t>•  Prompts: parts/07-dashboard-wireframe/PROMPTS.md</a:t>
            </a:r>
          </a:p>
          <a:p>
            <a:pPr algn="l">
              <a:spcAft>
                <a:spcPts val="800"/>
              </a:spcAft>
            </a:pPr>
            <a:r>
              <a:rPr sz="2200">
                <a:solidFill>
                  <a:srgbClr val="F8FAFC"/>
                </a:solidFill>
                <a:latin typeface="Arial"/>
              </a:rPr>
              <a:t>•  Check: bin/bootcamp verify</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101 / 198</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07 · CHECKPOINT</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 now have</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Working dashboard</a:t>
            </a:r>
          </a:p>
          <a:p>
            <a:pPr algn="l">
              <a:spcAft>
                <a:spcPts val="800"/>
              </a:spcAft>
            </a:pPr>
            <a:r>
              <a:rPr sz="2200">
                <a:solidFill>
                  <a:srgbClr val="F8FAFC"/>
                </a:solidFill>
                <a:latin typeface="Arial"/>
              </a:rPr>
              <a:t>✓  Componentized frontend</a:t>
            </a:r>
          </a:p>
          <a:p>
            <a:pPr algn="l">
              <a:spcAft>
                <a:spcPts val="800"/>
              </a:spcAft>
            </a:pPr>
            <a:r>
              <a:rPr sz="2200">
                <a:solidFill>
                  <a:srgbClr val="F8FAFC"/>
                </a:solidFill>
                <a:latin typeface="Arial"/>
              </a:rPr>
              <a:t>✓  Browser verification evidence</a:t>
            </a:r>
          </a:p>
          <a:p>
            <a:pPr algn="l">
              <a:spcAft>
                <a:spcPts val="800"/>
              </a:spcAft>
            </a:pPr>
            <a:r>
              <a:rPr sz="2200">
                <a:solidFill>
                  <a:srgbClr val="F8FAFC"/>
                </a:solidFill>
                <a:latin typeface="Arial"/>
              </a:rPr>
              <a:t>✓  Console and interaction issue log</a:t>
            </a:r>
          </a:p>
          <a:p>
            <a:pPr algn="l">
              <a:spcAft>
                <a:spcPts val="800"/>
              </a:spcAft>
            </a:pPr>
            <a:r>
              <a:rPr sz="2200">
                <a:solidFill>
                  <a:srgbClr val="F8FAFC"/>
                </a:solidFill>
                <a:latin typeface="Arial"/>
              </a:rPr>
              <a:t>✓  Before-and-after status for identified issues</a:t>
            </a:r>
          </a:p>
          <a:p>
            <a:pPr algn="l">
              <a:spcAft>
                <a:spcPts val="800"/>
              </a:spcAft>
            </a:pPr>
            <a:r>
              <a:rPr sz="2200">
                <a:solidFill>
                  <a:srgbClr val="F8FAFC"/>
                </a:solidFill>
                <a:latin typeface="Arial"/>
              </a:rPr>
              <a:t>•  Behind? bin/bootcamp checkpoint 07 --force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102 / 198</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2194560"/>
            <a:ext cx="10058400" cy="365760"/>
          </a:xfrm>
          <a:prstGeom prst="rect">
            <a:avLst/>
          </a:prstGeom>
          <a:noFill/>
        </p:spPr>
        <p:txBody>
          <a:bodyPr wrap="square" lIns="0" rIns="0" tIns="0" bIns="0">
            <a:spAutoFit/>
          </a:bodyPr>
          <a:lstStyle/>
          <a:p>
            <a:pPr algn="l"/>
            <a:r>
              <a:rPr sz="1600" b="1">
                <a:solidFill>
                  <a:srgbClr val="BAFF70"/>
                </a:solidFill>
                <a:latin typeface="Arial"/>
              </a:rPr>
              <a:t>12:20–13:00</a:t>
            </a:r>
          </a:p>
        </p:txBody>
      </p:sp>
      <p:sp>
        <p:nvSpPr>
          <p:cNvPr id="5" name="TextBox 4"/>
          <p:cNvSpPr txBox="1"/>
          <p:nvPr/>
        </p:nvSpPr>
        <p:spPr>
          <a:xfrm>
            <a:off x="640080" y="2697480"/>
            <a:ext cx="10789920" cy="1463040"/>
          </a:xfrm>
          <a:prstGeom prst="rect">
            <a:avLst/>
          </a:prstGeom>
          <a:noFill/>
        </p:spPr>
        <p:txBody>
          <a:bodyPr wrap="square" lIns="0" rIns="0" tIns="0" bIns="0">
            <a:spAutoFit/>
          </a:bodyPr>
          <a:lstStyle/>
          <a:p>
            <a:pPr algn="l"/>
            <a:r>
              <a:rPr sz="4600" b="1">
                <a:solidFill>
                  <a:srgbClr val="F8FAFC"/>
                </a:solidFill>
                <a:latin typeface="Arial"/>
              </a:rPr>
              <a:t>Lunch · 40 minutes</a:t>
            </a:r>
          </a:p>
        </p:txBody>
      </p:sp>
      <p:sp>
        <p:nvSpPr>
          <p:cNvPr id="6" name="TextBox 5"/>
          <p:cNvSpPr txBox="1"/>
          <p:nvPr/>
        </p:nvSpPr>
        <p:spPr>
          <a:xfrm>
            <a:off x="640080" y="4297680"/>
            <a:ext cx="10789920" cy="914400"/>
          </a:xfrm>
          <a:prstGeom prst="rect">
            <a:avLst/>
          </a:prstGeom>
          <a:noFill/>
        </p:spPr>
        <p:txBody>
          <a:bodyPr wrap="square" lIns="0" rIns="0" tIns="0" bIns="0">
            <a:spAutoFit/>
          </a:bodyPr>
          <a:lstStyle/>
          <a:p>
            <a:pPr algn="l"/>
            <a:r>
              <a:rPr sz="2000" b="0">
                <a:solidFill>
                  <a:srgbClr val="ADBBCD"/>
                </a:solidFill>
                <a:latin typeface="Arial"/>
              </a:rPr>
              <a:t>Behind? bin/bootcamp checkpoint 07 --force  ·  next: Part 08</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103 / 198</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2194560"/>
            <a:ext cx="10058400" cy="365760"/>
          </a:xfrm>
          <a:prstGeom prst="rect">
            <a:avLst/>
          </a:prstGeom>
          <a:noFill/>
        </p:spPr>
        <p:txBody>
          <a:bodyPr wrap="square" lIns="0" rIns="0" tIns="0" bIns="0">
            <a:spAutoFit/>
          </a:bodyPr>
          <a:lstStyle/>
          <a:p>
            <a:pPr algn="l"/>
            <a:r>
              <a:rPr sz="1600" b="1">
                <a:solidFill>
                  <a:srgbClr val="BAFF70"/>
                </a:solidFill>
                <a:latin typeface="Arial"/>
              </a:rPr>
              <a:t>PART 08 · 13:00–13:20 · 20 MIN</a:t>
            </a:r>
          </a:p>
        </p:txBody>
      </p:sp>
      <p:sp>
        <p:nvSpPr>
          <p:cNvPr id="5" name="TextBox 4"/>
          <p:cNvSpPr txBox="1"/>
          <p:nvPr/>
        </p:nvSpPr>
        <p:spPr>
          <a:xfrm>
            <a:off x="640080" y="2697480"/>
            <a:ext cx="10789920" cy="1463040"/>
          </a:xfrm>
          <a:prstGeom prst="rect">
            <a:avLst/>
          </a:prstGeom>
          <a:noFill/>
        </p:spPr>
        <p:txBody>
          <a:bodyPr wrap="square" lIns="0" rIns="0" tIns="0" bIns="0">
            <a:spAutoFit/>
          </a:bodyPr>
          <a:lstStyle/>
          <a:p>
            <a:pPr algn="l"/>
            <a:r>
              <a:rPr sz="4600" b="1">
                <a:solidFill>
                  <a:srgbClr val="F8FAFC"/>
                </a:solidFill>
                <a:latin typeface="Arial"/>
              </a:rPr>
              <a:t>Refactor, document and create a maintainer handoff</a:t>
            </a:r>
          </a:p>
        </p:txBody>
      </p:sp>
      <p:sp>
        <p:nvSpPr>
          <p:cNvPr id="6" name="TextBox 5"/>
          <p:cNvSpPr txBox="1"/>
          <p:nvPr/>
        </p:nvSpPr>
        <p:spPr>
          <a:xfrm>
            <a:off x="640080" y="4297680"/>
            <a:ext cx="10789920" cy="914400"/>
          </a:xfrm>
          <a:prstGeom prst="rect">
            <a:avLst/>
          </a:prstGeom>
          <a:noFill/>
        </p:spPr>
        <p:txBody>
          <a:bodyPr wrap="square" lIns="0" rIns="0" tIns="0" bIns="0">
            <a:spAutoFit/>
          </a:bodyPr>
          <a:lstStyle/>
          <a:p>
            <a:pPr algn="l"/>
            <a:r>
              <a:rPr sz="2000" b="0">
                <a:solidFill>
                  <a:srgbClr val="ADBBCD"/>
                </a:solidFill>
                <a:latin typeface="Arial"/>
              </a:rPr>
              <a:t>Project 8: Maintainer-Ready Dashboard</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104 / 198</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08 · GOALS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you will be able to do</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Refactor with behaviour-preserving constraints</a:t>
            </a:r>
          </a:p>
          <a:p>
            <a:pPr algn="l">
              <a:spcAft>
                <a:spcPts val="800"/>
              </a:spcAft>
            </a:pPr>
            <a:r>
              <a:rPr sz="2200">
                <a:solidFill>
                  <a:srgbClr val="F8FAFC"/>
                </a:solidFill>
                <a:latin typeface="Arial"/>
              </a:rPr>
              <a:t>•  Find duplication and unclear responsibilities; improve naming and structure</a:t>
            </a:r>
          </a:p>
          <a:p>
            <a:pPr algn="l">
              <a:spcAft>
                <a:spcPts val="800"/>
              </a:spcAft>
            </a:pPr>
            <a:r>
              <a:rPr sz="2200">
                <a:solidFill>
                  <a:srgbClr val="F8FAFC"/>
                </a:solidFill>
                <a:latin typeface="Arial"/>
              </a:rPr>
              <a:t>•  Keep tests and browser checks as refactor guardrails</a:t>
            </a:r>
          </a:p>
          <a:p>
            <a:pPr algn="l">
              <a:spcAft>
                <a:spcPts val="800"/>
              </a:spcAft>
            </a:pPr>
            <a:r>
              <a:rPr sz="2200">
                <a:solidFill>
                  <a:srgbClr val="F8FAFC"/>
                </a:solidFill>
                <a:latin typeface="Arial"/>
              </a:rPr>
              <a:t>•  Generate architecture notes, onboarding docs, known limitations and a handoff</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105 / 198</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BEHAVIOUR-PRESERVING REFACTOR</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Change the structure, prove nothing else changed</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Bounded plan first: modules, responsibilities, what won't change</a:t>
            </a:r>
          </a:p>
          <a:p>
            <a:pPr algn="l">
              <a:spcAft>
                <a:spcPts val="800"/>
              </a:spcAft>
            </a:pPr>
            <a:r>
              <a:rPr sz="2200">
                <a:solidFill>
                  <a:srgbClr val="F8FAFC"/>
                </a:solidFill>
                <a:latin typeface="Arial"/>
              </a:rPr>
              <a:t>•  Same HTML ids, same API calls, same rendering</a:t>
            </a:r>
          </a:p>
          <a:p>
            <a:pPr algn="l">
              <a:spcAft>
                <a:spcPts val="800"/>
              </a:spcAft>
            </a:pPr>
            <a:r>
              <a:rPr sz="2200">
                <a:solidFill>
                  <a:srgbClr val="F8FAFC"/>
                </a:solidFill>
                <a:latin typeface="Arial"/>
              </a:rPr>
              <a:t>•  Tests are the guardrail: assertions unchanged, only imports move</a:t>
            </a:r>
          </a:p>
          <a:p>
            <a:pPr algn="l">
              <a:spcAft>
                <a:spcPts val="800"/>
              </a:spcAft>
            </a:pPr>
            <a:r>
              <a:rPr sz="2200">
                <a:solidFill>
                  <a:srgbClr val="F8FAFC"/>
                </a:solidFill>
                <a:latin typeface="Arial"/>
              </a:rPr>
              <a:t>•  Browser check before and after</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106 / 198</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FROM ONE FILE TO FOUR</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dashboard/app.js → modules</a:t>
            </a:r>
          </a:p>
        </p:txBody>
      </p:sp>
      <p:graphicFrame>
        <p:nvGraphicFramePr>
          <p:cNvPr id="6" name="Table 5"/>
          <p:cNvGraphicFramePr>
            <a:graphicFrameLocks noGrp="1"/>
          </p:cNvGraphicFramePr>
          <p:nvPr/>
        </p:nvGraphicFramePr>
        <p:xfrm>
          <a:off x="640080" y="1984248"/>
          <a:ext cx="10881359" cy="2377440"/>
        </p:xfrm>
        <a:graphic>
          <a:graphicData uri="http://schemas.openxmlformats.org/drawingml/2006/table">
            <a:tbl>
              <a:tblPr>
                <a:tableStyleId>{5C22544A-7EE6-4342-B048-85BDC9FD1C3A}</a:tableStyleId>
              </a:tblPr>
              <a:tblGrid>
                <a:gridCol w="2706244"/>
                <a:gridCol w="8175115"/>
              </a:tblGrid>
              <a:tr h="475488">
                <a:tc>
                  <a:txBody>
                    <a:bodyPr wrap="square"/>
                    <a:lstStyle/>
                    <a:p>
                      <a:r>
                        <a:rPr sz="1600" b="1">
                          <a:solidFill>
                            <a:srgbClr val="BAFF70"/>
                          </a:solidFill>
                          <a:latin typeface="Arial"/>
                        </a:rPr>
                        <a:t>Module</a:t>
                      </a:r>
                    </a:p>
                  </a:txBody>
                  <a:tcPr marL="109728" marR="109728">
                    <a:solidFill>
                      <a:srgbClr val="22324A"/>
                    </a:solidFill>
                  </a:tcPr>
                </a:tc>
                <a:tc>
                  <a:txBody>
                    <a:bodyPr wrap="square"/>
                    <a:lstStyle/>
                    <a:p>
                      <a:r>
                        <a:rPr sz="1600" b="1">
                          <a:solidFill>
                            <a:srgbClr val="BAFF70"/>
                          </a:solidFill>
                          <a:latin typeface="Arial"/>
                        </a:rPr>
                        <a:t>Single responsibility</a:t>
                      </a:r>
                    </a:p>
                  </a:txBody>
                  <a:tcPr marL="109728" marR="109728">
                    <a:solidFill>
                      <a:srgbClr val="22324A"/>
                    </a:solidFill>
                  </a:tcPr>
                </a:tc>
              </a:tr>
              <a:tr h="475488">
                <a:tc>
                  <a:txBody>
                    <a:bodyPr wrap="square"/>
                    <a:lstStyle/>
                    <a:p>
                      <a:r>
                        <a:rPr sz="1600" b="1">
                          <a:solidFill>
                            <a:srgbClr val="F8FAFC"/>
                          </a:solidFill>
                          <a:latin typeface="Arial"/>
                        </a:rPr>
                        <a:t>js/logic.js</a:t>
                      </a:r>
                    </a:p>
                  </a:txBody>
                  <a:tcPr marL="109728" marR="109728">
                    <a:solidFill>
                      <a:srgbClr val="1A283B"/>
                    </a:solidFill>
                  </a:tcPr>
                </a:tc>
                <a:tc>
                  <a:txBody>
                    <a:bodyPr wrap="square"/>
                    <a:lstStyle/>
                    <a:p>
                      <a:r>
                        <a:rPr sz="1600" b="0">
                          <a:solidFill>
                            <a:srgbClr val="ADBBCD"/>
                          </a:solidFill>
                          <a:latin typeface="Arial"/>
                        </a:rPr>
                        <a:t>Pure rules: overdue, filters, KPIs, escaping (unit-tested)</a:t>
                      </a:r>
                    </a:p>
                  </a:txBody>
                  <a:tcPr marL="109728" marR="109728">
                    <a:solidFill>
                      <a:srgbClr val="1A283B"/>
                    </a:solidFill>
                  </a:tcPr>
                </a:tc>
              </a:tr>
              <a:tr h="475488">
                <a:tc>
                  <a:txBody>
                    <a:bodyPr wrap="square"/>
                    <a:lstStyle/>
                    <a:p>
                      <a:r>
                        <a:rPr sz="1600" b="1">
                          <a:solidFill>
                            <a:srgbClr val="F8FAFC"/>
                          </a:solidFill>
                          <a:latin typeface="Arial"/>
                        </a:rPr>
                        <a:t>js/api.js</a:t>
                      </a:r>
                    </a:p>
                  </a:txBody>
                  <a:tcPr marL="109728" marR="109728">
                    <a:solidFill>
                      <a:srgbClr val="15233A"/>
                    </a:solidFill>
                  </a:tcPr>
                </a:tc>
                <a:tc>
                  <a:txBody>
                    <a:bodyPr wrap="square"/>
                    <a:lstStyle/>
                    <a:p>
                      <a:r>
                        <a:rPr sz="1600" b="0">
                          <a:solidFill>
                            <a:srgbClr val="ADBBCD"/>
                          </a:solidFill>
                          <a:latin typeface="Arial"/>
                        </a:rPr>
                        <a:t>The only fetch calls</a:t>
                      </a:r>
                    </a:p>
                  </a:txBody>
                  <a:tcPr marL="109728" marR="109728">
                    <a:solidFill>
                      <a:srgbClr val="15233A"/>
                    </a:solidFill>
                  </a:tcPr>
                </a:tc>
              </a:tr>
              <a:tr h="475488">
                <a:tc>
                  <a:txBody>
                    <a:bodyPr wrap="square"/>
                    <a:lstStyle/>
                    <a:p>
                      <a:r>
                        <a:rPr sz="1600" b="1">
                          <a:solidFill>
                            <a:srgbClr val="F8FAFC"/>
                          </a:solidFill>
                          <a:latin typeface="Arial"/>
                        </a:rPr>
                        <a:t>js/render.js</a:t>
                      </a:r>
                    </a:p>
                  </a:txBody>
                  <a:tcPr marL="109728" marR="109728">
                    <a:solidFill>
                      <a:srgbClr val="1A283B"/>
                    </a:solidFill>
                  </a:tcPr>
                </a:tc>
                <a:tc>
                  <a:txBody>
                    <a:bodyPr wrap="square"/>
                    <a:lstStyle/>
                    <a:p>
                      <a:r>
                        <a:rPr sz="1600" b="0">
                          <a:solidFill>
                            <a:srgbClr val="ADBBCD"/>
                          </a:solidFill>
                          <a:latin typeface="Arial"/>
                        </a:rPr>
                        <a:t>One function per page region</a:t>
                      </a:r>
                    </a:p>
                  </a:txBody>
                  <a:tcPr marL="109728" marR="109728">
                    <a:solidFill>
                      <a:srgbClr val="1A283B"/>
                    </a:solidFill>
                  </a:tcPr>
                </a:tc>
              </a:tr>
              <a:tr h="475488">
                <a:tc>
                  <a:txBody>
                    <a:bodyPr wrap="square"/>
                    <a:lstStyle/>
                    <a:p>
                      <a:r>
                        <a:rPr sz="1600" b="1">
                          <a:solidFill>
                            <a:srgbClr val="F8FAFC"/>
                          </a:solidFill>
                          <a:latin typeface="Arial"/>
                        </a:rPr>
                        <a:t>js/main.js</a:t>
                      </a:r>
                    </a:p>
                  </a:txBody>
                  <a:tcPr marL="109728" marR="109728">
                    <a:solidFill>
                      <a:srgbClr val="15233A"/>
                    </a:solidFill>
                  </a:tcPr>
                </a:tc>
                <a:tc>
                  <a:txBody>
                    <a:bodyPr wrap="square"/>
                    <a:lstStyle/>
                    <a:p>
                      <a:r>
                        <a:rPr sz="1600" b="0">
                          <a:solidFill>
                            <a:srgbClr val="ADBBCD"/>
                          </a:solidFill>
                          <a:latin typeface="Arial"/>
                        </a:rPr>
                        <a:t>State, events, orchestration</a:t>
                      </a:r>
                    </a:p>
                  </a:txBody>
                  <a:tcPr marL="109728" marR="109728">
                    <a:solidFill>
                      <a:srgbClr val="15233A"/>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107 / 198</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PROOF</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2800" b="1">
                <a:solidFill>
                  <a:srgbClr val="F8FAFC"/>
                </a:solidFill>
                <a:latin typeface="Arial"/>
              </a:rPr>
              <a:t>Pixel diff: only the timestamp changed</a:t>
            </a:r>
          </a:p>
        </p:txBody>
      </p:sp>
      <p:pic>
        <p:nvPicPr>
          <p:cNvPr id="6" name="Picture 5" descr="dashboard-desktop-1280.png"/>
          <p:cNvPicPr>
            <a:picLocks noChangeAspect="1"/>
          </p:cNvPicPr>
          <p:nvPr/>
        </p:nvPicPr>
        <p:blipFill>
          <a:blip r:embed="rId3"/>
          <a:stretch>
            <a:fillRect/>
          </a:stretch>
        </p:blipFill>
        <p:spPr>
          <a:xfrm>
            <a:off x="1353060" y="1984248"/>
            <a:ext cx="3877559" cy="3959352"/>
          </a:xfrm>
          <a:prstGeom prst="rect">
            <a:avLst/>
          </a:prstGeom>
        </p:spPr>
      </p:pic>
      <p:pic>
        <p:nvPicPr>
          <p:cNvPr id="7" name="Picture 6" descr="after-refactor-desktop-1280.png"/>
          <p:cNvPicPr>
            <a:picLocks noChangeAspect="1"/>
          </p:cNvPicPr>
          <p:nvPr/>
        </p:nvPicPr>
        <p:blipFill>
          <a:blip r:embed="rId4"/>
          <a:stretch>
            <a:fillRect/>
          </a:stretch>
        </p:blipFill>
        <p:spPr>
          <a:xfrm>
            <a:off x="6930900" y="1984248"/>
            <a:ext cx="3877559" cy="3959352"/>
          </a:xfrm>
          <a:prstGeom prst="rect">
            <a:avLst/>
          </a:prstGeom>
        </p:spPr>
      </p:pic>
      <p:sp>
        <p:nvSpPr>
          <p:cNvPr id="8" name="TextBox 7"/>
          <p:cNvSpPr txBox="1"/>
          <p:nvPr/>
        </p:nvSpPr>
        <p:spPr>
          <a:xfrm>
            <a:off x="640080" y="6172200"/>
            <a:ext cx="10881360" cy="365760"/>
          </a:xfrm>
          <a:prstGeom prst="rect">
            <a:avLst/>
          </a:prstGeom>
          <a:noFill/>
        </p:spPr>
        <p:txBody>
          <a:bodyPr wrap="square" lIns="0" rIns="0" tIns="0" bIns="0">
            <a:spAutoFit/>
          </a:bodyPr>
          <a:lstStyle/>
          <a:p>
            <a:pPr algn="l"/>
            <a:r>
              <a:rPr sz="1400" b="0">
                <a:solidFill>
                  <a:srgbClr val="ADBBCD"/>
                </a:solidFill>
                <a:latin typeface="Arial"/>
              </a:rPr>
              <a:t>Reference checkpoint, before (left) and after (right) the refactor. Diff bounding box: the footer's 'updated HH:MM:SS' only.</a:t>
            </a:r>
          </a:p>
        </p:txBody>
      </p:sp>
      <p:sp>
        <p:nvSpPr>
          <p:cNvPr id="9" name="TextBox 8"/>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108 / 198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THE HANDOFF</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What a maintainer needs on day one</a:t>
            </a:r>
          </a:p>
        </p:txBody>
      </p:sp>
      <p:graphicFrame>
        <p:nvGraphicFramePr>
          <p:cNvPr id="6" name="Table 5"/>
          <p:cNvGraphicFramePr>
            <a:graphicFrameLocks noGrp="1"/>
          </p:cNvGraphicFramePr>
          <p:nvPr/>
        </p:nvGraphicFramePr>
        <p:xfrm>
          <a:off x="640080" y="1984248"/>
          <a:ext cx="10881359" cy="2377440"/>
        </p:xfrm>
        <a:graphic>
          <a:graphicData uri="http://schemas.openxmlformats.org/drawingml/2006/table">
            <a:tbl>
              <a:tblPr>
                <a:tableStyleId>{5C22544A-7EE6-4342-B048-85BDC9FD1C3A}</a:tableStyleId>
              </a:tblPr>
              <a:tblGrid>
                <a:gridCol w="3826412"/>
                <a:gridCol w="7054947"/>
              </a:tblGrid>
              <a:tr h="475488">
                <a:tc>
                  <a:txBody>
                    <a:bodyPr wrap="square"/>
                    <a:lstStyle/>
                    <a:p>
                      <a:r>
                        <a:rPr sz="1600" b="1">
                          <a:solidFill>
                            <a:srgbClr val="BAFF70"/>
                          </a:solidFill>
                          <a:latin typeface="Arial"/>
                        </a:rPr>
                        <a:t>Document</a:t>
                      </a:r>
                    </a:p>
                  </a:txBody>
                  <a:tcPr marL="109728" marR="109728">
                    <a:solidFill>
                      <a:srgbClr val="22324A"/>
                    </a:solidFill>
                  </a:tcPr>
                </a:tc>
                <a:tc>
                  <a:txBody>
                    <a:bodyPr wrap="square"/>
                    <a:lstStyle/>
                    <a:p>
                      <a:r>
                        <a:rPr sz="1600" b="1">
                          <a:solidFill>
                            <a:srgbClr val="BAFF70"/>
                          </a:solidFill>
                          <a:latin typeface="Arial"/>
                        </a:rPr>
                        <a:t>Answers</a:t>
                      </a:r>
                    </a:p>
                  </a:txBody>
                  <a:tcPr marL="109728" marR="109728">
                    <a:solidFill>
                      <a:srgbClr val="22324A"/>
                    </a:solidFill>
                  </a:tcPr>
                </a:tc>
              </a:tr>
              <a:tr h="475488">
                <a:tc>
                  <a:txBody>
                    <a:bodyPr wrap="square"/>
                    <a:lstStyle/>
                    <a:p>
                      <a:r>
                        <a:rPr sz="1600" b="1">
                          <a:solidFill>
                            <a:srgbClr val="F8FAFC"/>
                          </a:solidFill>
                          <a:latin typeface="Arial"/>
                        </a:rPr>
                        <a:t>docs/ARCHITECTURE.md</a:t>
                      </a:r>
                    </a:p>
                  </a:txBody>
                  <a:tcPr marL="109728" marR="109728">
                    <a:solidFill>
                      <a:srgbClr val="1A283B"/>
                    </a:solidFill>
                  </a:tcPr>
                </a:tc>
                <a:tc>
                  <a:txBody>
                    <a:bodyPr wrap="square"/>
                    <a:lstStyle/>
                    <a:p>
                      <a:r>
                        <a:rPr sz="1600" b="0">
                          <a:solidFill>
                            <a:srgbClr val="ADBBCD"/>
                          </a:solidFill>
                          <a:latin typeface="Arial"/>
                        </a:rPr>
                        <a:t>What talks to what, and who owns which rule</a:t>
                      </a:r>
                    </a:p>
                  </a:txBody>
                  <a:tcPr marL="109728" marR="109728">
                    <a:solidFill>
                      <a:srgbClr val="1A283B"/>
                    </a:solidFill>
                  </a:tcPr>
                </a:tc>
              </a:tr>
              <a:tr h="475488">
                <a:tc>
                  <a:txBody>
                    <a:bodyPr wrap="square"/>
                    <a:lstStyle/>
                    <a:p>
                      <a:r>
                        <a:rPr sz="1600" b="1">
                          <a:solidFill>
                            <a:srgbClr val="F8FAFC"/>
                          </a:solidFill>
                          <a:latin typeface="Arial"/>
                        </a:rPr>
                        <a:t>docs/HANDOFF.md</a:t>
                      </a:r>
                    </a:p>
                  </a:txBody>
                  <a:tcPr marL="109728" marR="109728">
                    <a:solidFill>
                      <a:srgbClr val="15233A"/>
                    </a:solidFill>
                  </a:tcPr>
                </a:tc>
                <a:tc>
                  <a:txBody>
                    <a:bodyPr wrap="square"/>
                    <a:lstStyle/>
                    <a:p>
                      <a:r>
                        <a:rPr sz="1600" b="0">
                          <a:solidFill>
                            <a:srgbClr val="ADBBCD"/>
                          </a:solidFill>
                          <a:latin typeface="Arial"/>
                        </a:rPr>
                        <a:t>Start here in 15 minutes; how to change safely</a:t>
                      </a:r>
                    </a:p>
                  </a:txBody>
                  <a:tcPr marL="109728" marR="109728">
                    <a:solidFill>
                      <a:srgbClr val="15233A"/>
                    </a:solidFill>
                  </a:tcPr>
                </a:tc>
              </a:tr>
              <a:tr h="475488">
                <a:tc>
                  <a:txBody>
                    <a:bodyPr wrap="square"/>
                    <a:lstStyle/>
                    <a:p>
                      <a:r>
                        <a:rPr sz="1600" b="1">
                          <a:solidFill>
                            <a:srgbClr val="F8FAFC"/>
                          </a:solidFill>
                          <a:latin typeface="Arial"/>
                        </a:rPr>
                        <a:t>Known limitations</a:t>
                      </a:r>
                    </a:p>
                  </a:txBody>
                  <a:tcPr marL="109728" marR="109728">
                    <a:solidFill>
                      <a:srgbClr val="1A283B"/>
                    </a:solidFill>
                  </a:tcPr>
                </a:tc>
                <a:tc>
                  <a:txBody>
                    <a:bodyPr wrap="square"/>
                    <a:lstStyle/>
                    <a:p>
                      <a:r>
                        <a:rPr sz="1600" b="0">
                          <a:solidFill>
                            <a:srgbClr val="ADBBCD"/>
                          </a:solidFill>
                          <a:latin typeface="Arial"/>
                        </a:rPr>
                        <a:t>Stored XSS risk, no auth, hard-coded version, no pagination</a:t>
                      </a:r>
                    </a:p>
                  </a:txBody>
                  <a:tcPr marL="109728" marR="109728">
                    <a:solidFill>
                      <a:srgbClr val="1A283B"/>
                    </a:solidFill>
                  </a:tcPr>
                </a:tc>
              </a:tr>
              <a:tr h="475488">
                <a:tc>
                  <a:txBody>
                    <a:bodyPr wrap="square"/>
                    <a:lstStyle/>
                    <a:p>
                      <a:r>
                        <a:rPr sz="1600" b="1">
                          <a:solidFill>
                            <a:srgbClr val="F8FAFC"/>
                          </a:solidFill>
                          <a:latin typeface="Arial"/>
                        </a:rPr>
                        <a:t>README.md</a:t>
                      </a:r>
                    </a:p>
                  </a:txBody>
                  <a:tcPr marL="109728" marR="109728">
                    <a:solidFill>
                      <a:srgbClr val="15233A"/>
                    </a:solidFill>
                  </a:tcPr>
                </a:tc>
                <a:tc>
                  <a:txBody>
                    <a:bodyPr wrap="square"/>
                    <a:lstStyle/>
                    <a:p>
                      <a:r>
                        <a:rPr sz="1600" b="0">
                          <a:solidFill>
                            <a:srgbClr val="ADBBCD"/>
                          </a:solidFill>
                          <a:latin typeface="Arial"/>
                        </a:rPr>
                        <a:t>Run, test, layout</a:t>
                      </a:r>
                    </a:p>
                  </a:txBody>
                  <a:tcPr marL="109728" marR="109728">
                    <a:solidFill>
                      <a:srgbClr val="15233A"/>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109 / 198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08 · PROMPT 1 OF 2</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Bounded refactoring plan (plan mode)</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Read REFACTOR-REQUEST.md. Propose a bounded refactoring plan for</a:t>
            </a:r>
          </a:p>
          <a:p>
            <a:pPr algn="l">
              <a:spcAft>
                <a:spcPts val="400"/>
              </a:spcAft>
            </a:pPr>
            <a:r>
              <a:rPr sz="2000">
                <a:solidFill>
                  <a:srgbClr val="BAFF70"/>
                </a:solidFill>
                <a:latin typeface="Consolas"/>
              </a:rPr>
              <a:t>dashboard/app.js: target modules and their single responsibility,</a:t>
            </a:r>
          </a:p>
          <a:p>
            <a:pPr algn="l">
              <a:spcAft>
                <a:spcPts val="400"/>
              </a:spcAft>
            </a:pPr>
            <a:r>
              <a:rPr sz="2000">
                <a:solidFill>
                  <a:srgbClr val="BAFF70"/>
                </a:solidFill>
                <a:latin typeface="Consolas"/>
              </a:rPr>
              <a:t>what will not change (HTML ids, API calls, rendering, behaviour),</a:t>
            </a:r>
          </a:p>
          <a:p>
            <a:pPr algn="l">
              <a:spcAft>
                <a:spcPts val="400"/>
              </a:spcAft>
            </a:pPr>
            <a:r>
              <a:rPr sz="2000">
                <a:solidFill>
                  <a:srgbClr val="BAFF70"/>
                </a:solidFill>
                <a:latin typeface="Consolas"/>
              </a:rPr>
              <a:t>and how the existing tests and a browser check prove behaviour is</a:t>
            </a:r>
          </a:p>
          <a:p>
            <a:pPr algn="l">
              <a:spcAft>
                <a:spcPts val="400"/>
              </a:spcAft>
            </a:pPr>
            <a:r>
              <a:rPr sz="2000">
                <a:solidFill>
                  <a:srgbClr val="BAFF70"/>
                </a:solidFill>
                <a:latin typeface="Consolas"/>
              </a:rPr>
              <a:t>preserved. Do not edit yet.</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parts/08-maintainer-dashboard/PROMPTS.md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110 / 198</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08 · PROMPT 2 OF 2</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Implement, re-verify, hand off</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Plan approved. Implement it. Keep the existing test assertions (only</a:t>
            </a:r>
          </a:p>
          <a:p>
            <a:pPr algn="l">
              <a:spcAft>
                <a:spcPts val="400"/>
              </a:spcAft>
            </a:pPr>
            <a:r>
              <a:rPr sz="2000">
                <a:solidFill>
                  <a:srgbClr val="BAFF70"/>
                </a:solidFill>
                <a:latin typeface="Consolas"/>
              </a:rPr>
              <a:t>import paths may change), run both test suites and show the raw</a:t>
            </a:r>
          </a:p>
          <a:p>
            <a:pPr algn="l">
              <a:spcAft>
                <a:spcPts val="400"/>
              </a:spcAft>
            </a:pPr>
            <a:r>
              <a:rPr sz="2000">
                <a:solidFill>
                  <a:srgbClr val="BAFF70"/>
                </a:solidFill>
                <a:latin typeface="Consolas"/>
              </a:rPr>
              <a:t>output. Then write docs/ARCHITECTURE.md (one page), docs/HANDOFF.md</a:t>
            </a:r>
          </a:p>
          <a:p>
            <a:pPr algn="l">
              <a:spcAft>
                <a:spcPts val="400"/>
              </a:spcAft>
            </a:pPr>
            <a:r>
              <a:rPr sz="2000">
                <a:solidFill>
                  <a:srgbClr val="BAFF70"/>
                </a:solidFill>
                <a:latin typeface="Consolas"/>
              </a:rPr>
              <a:t>(start here, how to change things safely, known limitations,</a:t>
            </a:r>
          </a:p>
          <a:p>
            <a:pPr algn="l">
              <a:spcAft>
                <a:spcPts val="400"/>
              </a:spcAft>
            </a:pPr>
            <a:r>
              <a:rPr sz="2000">
                <a:solidFill>
                  <a:srgbClr val="BAFF70"/>
                </a:solidFill>
                <a:latin typeface="Consolas"/>
              </a:rPr>
              <a:t>ownership) and update README.md. Do not commit.</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parts/08-maintainer-dashboard/PROMPTS.md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111 / 198</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pic>
        <p:nvPicPr>
          <p:cNvPr id="2" name="08-maintainer-dashboard.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08 · EVIDENCE, NOT CLAIMS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the run proved</a:t>
            </a:r>
          </a:p>
        </p:txBody>
      </p:sp>
      <p:sp>
        <p:nvSpPr>
          <p:cNvPr id="6" name="TextBox 5"/>
          <p:cNvSpPr txBox="1"/>
          <p:nvPr/>
        </p:nvSpPr>
        <p:spPr>
          <a:xfrm>
            <a:off x="640080" y="1984248"/>
            <a:ext cx="5349240" cy="365760"/>
          </a:xfrm>
          <a:prstGeom prst="rect">
            <a:avLst/>
          </a:prstGeom>
          <a:noFill/>
        </p:spPr>
        <p:txBody>
          <a:bodyPr wrap="square" lIns="0" rIns="0" tIns="0" bIns="0">
            <a:spAutoFit/>
          </a:bodyPr>
          <a:lstStyle/>
          <a:p>
            <a:pPr algn="l"/>
            <a:r>
              <a:rPr sz="1500" b="1">
                <a:solidFill>
                  <a:srgbClr val="FBBF24"/>
                </a:solidFill>
                <a:latin typeface="Arial"/>
              </a:rPr>
              <a:t>WHAT TO LOOK FOR</a:t>
            </a:r>
          </a:p>
        </p:txBody>
      </p:sp>
      <p:sp>
        <p:nvSpPr>
          <p:cNvPr id="7" name="Rounded Rectangle 6"/>
          <p:cNvSpPr/>
          <p:nvPr/>
        </p:nvSpPr>
        <p:spPr>
          <a:xfrm>
            <a:off x="64008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Plan approved before edits</a:t>
            </a:r>
          </a:p>
          <a:p>
            <a:pPr algn="l">
              <a:spcAft>
                <a:spcPts val="800"/>
              </a:spcAft>
            </a:pPr>
            <a:r>
              <a:rPr sz="1900">
                <a:solidFill>
                  <a:srgbClr val="F8FAFC"/>
                </a:solidFill>
                <a:latin typeface="Arial"/>
              </a:rPr>
              <a:t>•  Tests green with unchanged assertions</a:t>
            </a:r>
          </a:p>
          <a:p>
            <a:pPr algn="l">
              <a:spcAft>
                <a:spcPts val="800"/>
              </a:spcAft>
            </a:pPr>
            <a:r>
              <a:rPr sz="1900">
                <a:solidFill>
                  <a:srgbClr val="F8FAFC"/>
                </a:solidFill>
                <a:latin typeface="Arial"/>
              </a:rPr>
              <a:t>•  Screenshot diff before/after: only the timestamp differs</a:t>
            </a:r>
          </a:p>
          <a:p>
            <a:pPr algn="l">
              <a:spcAft>
                <a:spcPts val="800"/>
              </a:spcAft>
            </a:pPr>
            <a:r>
              <a:rPr sz="1900">
                <a:solidFill>
                  <a:srgbClr val="F8FAFC"/>
                </a:solidFill>
                <a:latin typeface="Arial"/>
              </a:rPr>
              <a:t>•  ARCHITECTURE.md and HANDOFF.md</a:t>
            </a:r>
          </a:p>
        </p:txBody>
      </p:sp>
      <p:sp>
        <p:nvSpPr>
          <p:cNvPr id="8" name="TextBox 7"/>
          <p:cNvSpPr txBox="1"/>
          <p:nvPr/>
        </p:nvSpPr>
        <p:spPr>
          <a:xfrm>
            <a:off x="6172200" y="1984248"/>
            <a:ext cx="5349240" cy="365760"/>
          </a:xfrm>
          <a:prstGeom prst="rect">
            <a:avLst/>
          </a:prstGeom>
          <a:noFill/>
        </p:spPr>
        <p:txBody>
          <a:bodyPr wrap="square" lIns="0" rIns="0" tIns="0" bIns="0">
            <a:spAutoFit/>
          </a:bodyPr>
          <a:lstStyle/>
          <a:p>
            <a:pPr algn="l"/>
            <a:r>
              <a:rPr sz="1500" b="1">
                <a:solidFill>
                  <a:srgbClr val="BAFF70"/>
                </a:solidFill>
                <a:latin typeface="Arial"/>
              </a:rPr>
              <a:t>WHAT THE RECORDED RUN PRODUCED</a:t>
            </a:r>
          </a:p>
        </p:txBody>
      </p:sp>
      <p:sp>
        <p:nvSpPr>
          <p:cNvPr id="9" name="Rounded Rectangle 8"/>
          <p:cNvSpPr/>
          <p:nvPr/>
        </p:nvSpPr>
        <p:spPr>
          <a:xfrm>
            <a:off x="617220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2 prompt(s) · 3 min 38 s · $0.54 · 28 tool calls</a:t>
            </a:r>
          </a:p>
          <a:p>
            <a:pPr algn="l">
              <a:spcAft>
                <a:spcPts val="800"/>
              </a:spcAft>
            </a:pPr>
            <a:r>
              <a:rPr sz="1900">
                <a:solidFill>
                  <a:srgbClr val="F8FAFC"/>
                </a:solidFill>
                <a:latin typeface="Arial"/>
              </a:rPr>
              <a:t>•  Tests seen in the run: Ran 46 tests in 2.826s</a:t>
            </a:r>
          </a:p>
          <a:p>
            <a:pPr algn="l">
              <a:spcAft>
                <a:spcPts val="800"/>
              </a:spcAft>
            </a:pPr>
            <a:r>
              <a:rPr sz="1900">
                <a:solidFill>
                  <a:srgbClr val="F8FAFC"/>
                </a:solidFill>
                <a:latin typeface="Arial"/>
              </a:rPr>
              <a:t>•  bin/bootcamp verify: 13 PASS · 0 FAIL</a:t>
            </a:r>
          </a:p>
          <a:p>
            <a:pPr algn="l">
              <a:spcAft>
                <a:spcPts val="800"/>
              </a:spcAft>
            </a:pPr>
            <a:r>
              <a:rPr sz="1900">
                <a:solidFill>
                  <a:srgbClr val="F8FAFC"/>
                </a:solidFill>
                <a:latin typeface="Arial"/>
              </a:rPr>
              <a:t>•  Changed: M README.md, M dashboard/app.js, M dashboard/tests/app.test.mjs, ?? dashboard/api.js … (+6)</a:t>
            </a:r>
          </a:p>
        </p:txBody>
      </p:sp>
      <p:sp>
        <p:nvSpPr>
          <p:cNvPr id="10" name="TextBox 9"/>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113 / 198</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08 · DISCUSS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Your turn to think</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How do you prove a refactor changed nothing?</a:t>
            </a:r>
          </a:p>
          <a:p>
            <a:pPr algn="l">
              <a:spcAft>
                <a:spcPts val="800"/>
              </a:spcAft>
            </a:pPr>
            <a:r>
              <a:rPr sz="2200">
                <a:solidFill>
                  <a:srgbClr val="F8FAFC"/>
                </a:solidFill>
                <a:latin typeface="Arial"/>
              </a:rPr>
              <a:t>•  What belongs in a handoff that a README never says?</a:t>
            </a:r>
          </a:p>
          <a:p>
            <a:pPr algn="l">
              <a:spcAft>
                <a:spcPts val="800"/>
              </a:spcAft>
            </a:pPr>
            <a:r>
              <a:rPr sz="2200">
                <a:solidFill>
                  <a:srgbClr val="F8FAFC"/>
                </a:solidFill>
                <a:latin typeface="Arial"/>
              </a:rPr>
              <a:t>•  Which known limitation should block the next release?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114 / 198</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08 · LAB</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Hands-on</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Run the plan prompt, cut one module from the plan, approve, implement, and compare screenshots before and after.</a:t>
            </a:r>
          </a:p>
          <a:p>
            <a:pPr algn="l">
              <a:spcAft>
                <a:spcPts val="800"/>
              </a:spcAft>
            </a:pPr>
            <a:r>
              <a:rPr sz="2200">
                <a:solidFill>
                  <a:srgbClr val="F8FAFC"/>
                </a:solidFill>
                <a:latin typeface="Arial"/>
              </a:rPr>
              <a:t>•  Start: bin/bootcamp stage 08</a:t>
            </a:r>
          </a:p>
          <a:p>
            <a:pPr algn="l">
              <a:spcAft>
                <a:spcPts val="800"/>
              </a:spcAft>
            </a:pPr>
            <a:r>
              <a:rPr sz="2200">
                <a:solidFill>
                  <a:srgbClr val="F8FAFC"/>
                </a:solidFill>
                <a:latin typeface="Arial"/>
              </a:rPr>
              <a:t>•  Prompts: parts/08-maintainer-dashboard/PROMPTS.md</a:t>
            </a:r>
          </a:p>
          <a:p>
            <a:pPr algn="l">
              <a:spcAft>
                <a:spcPts val="800"/>
              </a:spcAft>
            </a:pPr>
            <a:r>
              <a:rPr sz="2200">
                <a:solidFill>
                  <a:srgbClr val="F8FAFC"/>
                </a:solidFill>
                <a:latin typeface="Arial"/>
              </a:rPr>
              <a:t>•  Check: bin/bootcamp verify</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115 / 198</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08 · CHECKPOINT</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 now have</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Refactored project structure</a:t>
            </a:r>
          </a:p>
          <a:p>
            <a:pPr algn="l">
              <a:spcAft>
                <a:spcPts val="800"/>
              </a:spcAft>
            </a:pPr>
            <a:r>
              <a:rPr sz="2200">
                <a:solidFill>
                  <a:srgbClr val="F8FAFC"/>
                </a:solidFill>
                <a:latin typeface="Arial"/>
              </a:rPr>
              <a:t>✓  Passing tests</a:t>
            </a:r>
          </a:p>
          <a:p>
            <a:pPr algn="l">
              <a:spcAft>
                <a:spcPts val="800"/>
              </a:spcAft>
            </a:pPr>
            <a:r>
              <a:rPr sz="2200">
                <a:solidFill>
                  <a:srgbClr val="F8FAFC"/>
                </a:solidFill>
                <a:latin typeface="Arial"/>
              </a:rPr>
              <a:t>✓  Updated README</a:t>
            </a:r>
          </a:p>
          <a:p>
            <a:pPr algn="l">
              <a:spcAft>
                <a:spcPts val="800"/>
              </a:spcAft>
            </a:pPr>
            <a:r>
              <a:rPr sz="2200">
                <a:solidFill>
                  <a:srgbClr val="F8FAFC"/>
                </a:solidFill>
                <a:latin typeface="Arial"/>
              </a:rPr>
              <a:t>✓  Architecture note</a:t>
            </a:r>
          </a:p>
          <a:p>
            <a:pPr algn="l">
              <a:spcAft>
                <a:spcPts val="800"/>
              </a:spcAft>
            </a:pPr>
            <a:r>
              <a:rPr sz="2200">
                <a:solidFill>
                  <a:srgbClr val="F8FAFC"/>
                </a:solidFill>
                <a:latin typeface="Arial"/>
              </a:rPr>
              <a:t>✓  Maintainer handoff</a:t>
            </a:r>
          </a:p>
          <a:p>
            <a:pPr algn="l">
              <a:spcAft>
                <a:spcPts val="800"/>
              </a:spcAft>
            </a:pPr>
            <a:r>
              <a:rPr sz="2200">
                <a:solidFill>
                  <a:srgbClr val="F8FAFC"/>
                </a:solidFill>
                <a:latin typeface="Arial"/>
              </a:rPr>
              <a:t>✓  Known limitations and next steps</a:t>
            </a:r>
          </a:p>
          <a:p>
            <a:pPr algn="l">
              <a:spcAft>
                <a:spcPts val="800"/>
              </a:spcAft>
            </a:pPr>
            <a:r>
              <a:rPr sz="2200">
                <a:solidFill>
                  <a:srgbClr val="F8FAFC"/>
                </a:solidFill>
                <a:latin typeface="Arial"/>
              </a:rPr>
              <a:t>•  Behind? bin/bootcamp checkpoint 08 --force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116 / 198</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2194560"/>
            <a:ext cx="10058400" cy="365760"/>
          </a:xfrm>
          <a:prstGeom prst="rect">
            <a:avLst/>
          </a:prstGeom>
          <a:noFill/>
        </p:spPr>
        <p:txBody>
          <a:bodyPr wrap="square" lIns="0" rIns="0" tIns="0" bIns="0">
            <a:spAutoFit/>
          </a:bodyPr>
          <a:lstStyle/>
          <a:p>
            <a:pPr algn="l"/>
            <a:r>
              <a:rPr sz="1600" b="1">
                <a:solidFill>
                  <a:srgbClr val="BAFF70"/>
                </a:solidFill>
                <a:latin typeface="Arial"/>
              </a:rPr>
              <a:t>PART 09 · 13:20–13:55 · 35 MIN</a:t>
            </a:r>
          </a:p>
        </p:txBody>
      </p:sp>
      <p:sp>
        <p:nvSpPr>
          <p:cNvPr id="5" name="TextBox 4"/>
          <p:cNvSpPr txBox="1"/>
          <p:nvPr/>
        </p:nvSpPr>
        <p:spPr>
          <a:xfrm>
            <a:off x="640080" y="2697480"/>
            <a:ext cx="10789920" cy="1463040"/>
          </a:xfrm>
          <a:prstGeom prst="rect">
            <a:avLst/>
          </a:prstGeom>
          <a:noFill/>
        </p:spPr>
        <p:txBody>
          <a:bodyPr wrap="square" lIns="0" rIns="0" tIns="0" bIns="0">
            <a:spAutoFit/>
          </a:bodyPr>
          <a:lstStyle/>
          <a:p>
            <a:pPr algn="l"/>
            <a:r>
              <a:rPr sz="4600" b="1">
                <a:solidFill>
                  <a:srgbClr val="F8FAFC"/>
                </a:solidFill>
                <a:latin typeface="Arial"/>
              </a:rPr>
              <a:t>Skills, hooks and specialist subagents</a:t>
            </a:r>
          </a:p>
        </p:txBody>
      </p:sp>
      <p:sp>
        <p:nvSpPr>
          <p:cNvPr id="6" name="TextBox 5"/>
          <p:cNvSpPr txBox="1"/>
          <p:nvPr/>
        </p:nvSpPr>
        <p:spPr>
          <a:xfrm>
            <a:off x="640080" y="4297680"/>
            <a:ext cx="10789920" cy="914400"/>
          </a:xfrm>
          <a:prstGeom prst="rect">
            <a:avLst/>
          </a:prstGeom>
          <a:noFill/>
        </p:spPr>
        <p:txBody>
          <a:bodyPr wrap="square" lIns="0" rIns="0" tIns="0" bIns="0">
            <a:spAutoFit/>
          </a:bodyPr>
          <a:lstStyle/>
          <a:p>
            <a:pPr algn="l"/>
            <a:r>
              <a:rPr sz="2000" b="0">
                <a:solidFill>
                  <a:srgbClr val="ADBBCD"/>
                </a:solidFill>
                <a:latin typeface="Arial"/>
              </a:rPr>
              <a:t>Project 9A: Engineering Quality Skills Pack</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117 / 198</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09 · GOALS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you will be able to do</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Choose between CLAUDE.md, rules, Skills, hooks, MCP, subagents and Agent Teams</a:t>
            </a:r>
          </a:p>
          <a:p>
            <a:pPr algn="l">
              <a:spcAft>
                <a:spcPts val="800"/>
              </a:spcAft>
            </a:pPr>
            <a:r>
              <a:rPr sz="2200">
                <a:solidFill>
                  <a:srgbClr val="F8FAFC"/>
                </a:solidFill>
                <a:latin typeface="Arial"/>
              </a:rPr>
              <a:t>•  Read SKILL.md structure: description, discovery, arguments, supporting files, forked context</a:t>
            </a:r>
          </a:p>
          <a:p>
            <a:pPr algn="l">
              <a:spcAft>
                <a:spcPts val="800"/>
              </a:spcAft>
            </a:pPr>
            <a:r>
              <a:rPr sz="2200">
                <a:solidFill>
                  <a:srgbClr val="F8FAFC"/>
                </a:solidFill>
                <a:latin typeface="Arial"/>
              </a:rPr>
              <a:t>•  Use hooks as deterministic controls: post-edit tests, blocking unsafe commands</a:t>
            </a:r>
          </a:p>
          <a:p>
            <a:pPr algn="l">
              <a:spcAft>
                <a:spcPts val="800"/>
              </a:spcAft>
            </a:pPr>
            <a:r>
              <a:rPr sz="2200">
                <a:solidFill>
                  <a:srgbClr val="F8FAFC"/>
                </a:solidFill>
                <a:latin typeface="Arial"/>
              </a:rPr>
              <a:t>•  Create specialist subagents with restricted tools</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118 / 198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PICK THE RIGHT TOOL</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Where should this knowledge live?</a:t>
            </a:r>
          </a:p>
        </p:txBody>
      </p:sp>
      <p:graphicFrame>
        <p:nvGraphicFramePr>
          <p:cNvPr id="6" name="Table 5"/>
          <p:cNvGraphicFramePr>
            <a:graphicFrameLocks noGrp="1"/>
          </p:cNvGraphicFramePr>
          <p:nvPr/>
        </p:nvGraphicFramePr>
        <p:xfrm>
          <a:off x="640080" y="1984248"/>
          <a:ext cx="10881360" cy="4279392"/>
        </p:xfrm>
        <a:graphic>
          <a:graphicData uri="http://schemas.openxmlformats.org/drawingml/2006/table">
            <a:tbl>
              <a:tblPr>
                <a:tableStyleId>{5C22544A-7EE6-4342-B048-85BDC9FD1C3A}</a:tableStyleId>
              </a:tblPr>
              <a:tblGrid>
                <a:gridCol w="7081520"/>
                <a:gridCol w="3799840"/>
              </a:tblGrid>
              <a:tr h="475488">
                <a:tc>
                  <a:txBody>
                    <a:bodyPr wrap="square"/>
                    <a:lstStyle/>
                    <a:p>
                      <a:r>
                        <a:rPr sz="1400" b="1">
                          <a:solidFill>
                            <a:srgbClr val="BAFF70"/>
                          </a:solidFill>
                          <a:latin typeface="Arial"/>
                        </a:rPr>
                        <a:t>Need</a:t>
                      </a:r>
                    </a:p>
                  </a:txBody>
                  <a:tcPr marL="109728" marR="109728">
                    <a:solidFill>
                      <a:srgbClr val="22324A"/>
                    </a:solidFill>
                  </a:tcPr>
                </a:tc>
                <a:tc>
                  <a:txBody>
                    <a:bodyPr wrap="square"/>
                    <a:lstStyle/>
                    <a:p>
                      <a:r>
                        <a:rPr sz="1400" b="1">
                          <a:solidFill>
                            <a:srgbClr val="BAFF70"/>
                          </a:solidFill>
                          <a:latin typeface="Arial"/>
                        </a:rPr>
                        <a:t>Use</a:t>
                      </a:r>
                    </a:p>
                  </a:txBody>
                  <a:tcPr marL="109728" marR="109728">
                    <a:solidFill>
                      <a:srgbClr val="22324A"/>
                    </a:solidFill>
                  </a:tcPr>
                </a:tc>
              </a:tr>
              <a:tr h="475488">
                <a:tc>
                  <a:txBody>
                    <a:bodyPr wrap="square"/>
                    <a:lstStyle/>
                    <a:p>
                      <a:r>
                        <a:rPr sz="1400" b="1">
                          <a:solidFill>
                            <a:srgbClr val="F8FAFC"/>
                          </a:solidFill>
                          <a:latin typeface="Arial"/>
                        </a:rPr>
                        <a:t>Always-true project facts</a:t>
                      </a:r>
                    </a:p>
                  </a:txBody>
                  <a:tcPr marL="109728" marR="109728">
                    <a:solidFill>
                      <a:srgbClr val="1A283B"/>
                    </a:solidFill>
                  </a:tcPr>
                </a:tc>
                <a:tc>
                  <a:txBody>
                    <a:bodyPr wrap="square"/>
                    <a:lstStyle/>
                    <a:p>
                      <a:r>
                        <a:rPr sz="1400" b="0">
                          <a:solidFill>
                            <a:srgbClr val="ADBBCD"/>
                          </a:solidFill>
                          <a:latin typeface="Arial"/>
                        </a:rPr>
                        <a:t>CLAUDE.md</a:t>
                      </a:r>
                    </a:p>
                  </a:txBody>
                  <a:tcPr marL="109728" marR="109728">
                    <a:solidFill>
                      <a:srgbClr val="1A283B"/>
                    </a:solidFill>
                  </a:tcPr>
                </a:tc>
              </a:tr>
              <a:tr h="475488">
                <a:tc>
                  <a:txBody>
                    <a:bodyPr wrap="square"/>
                    <a:lstStyle/>
                    <a:p>
                      <a:r>
                        <a:rPr sz="1400" b="1">
                          <a:solidFill>
                            <a:srgbClr val="F8FAFC"/>
                          </a:solidFill>
                          <a:latin typeface="Arial"/>
                        </a:rPr>
                        <a:t>Path-specific conventions</a:t>
                      </a:r>
                    </a:p>
                  </a:txBody>
                  <a:tcPr marL="109728" marR="109728">
                    <a:solidFill>
                      <a:srgbClr val="15233A"/>
                    </a:solidFill>
                  </a:tcPr>
                </a:tc>
                <a:tc>
                  <a:txBody>
                    <a:bodyPr wrap="square"/>
                    <a:lstStyle/>
                    <a:p>
                      <a:r>
                        <a:rPr sz="1400" b="0">
                          <a:solidFill>
                            <a:srgbClr val="ADBBCD"/>
                          </a:solidFill>
                          <a:latin typeface="Arial"/>
                        </a:rPr>
                        <a:t>.claude/rules (paths:)</a:t>
                      </a:r>
                    </a:p>
                  </a:txBody>
                  <a:tcPr marL="109728" marR="109728">
                    <a:solidFill>
                      <a:srgbClr val="15233A"/>
                    </a:solidFill>
                  </a:tcPr>
                </a:tc>
              </a:tr>
              <a:tr h="475488">
                <a:tc>
                  <a:txBody>
                    <a:bodyPr wrap="square"/>
                    <a:lstStyle/>
                    <a:p>
                      <a:r>
                        <a:rPr sz="1400" b="1">
                          <a:solidFill>
                            <a:srgbClr val="F8FAFC"/>
                          </a:solidFill>
                          <a:latin typeface="Arial"/>
                        </a:rPr>
                        <a:t>Occasional procedure or reference</a:t>
                      </a:r>
                    </a:p>
                  </a:txBody>
                  <a:tcPr marL="109728" marR="109728">
                    <a:solidFill>
                      <a:srgbClr val="1A283B"/>
                    </a:solidFill>
                  </a:tcPr>
                </a:tc>
                <a:tc>
                  <a:txBody>
                    <a:bodyPr wrap="square"/>
                    <a:lstStyle/>
                    <a:p>
                      <a:r>
                        <a:rPr sz="1400" b="0">
                          <a:solidFill>
                            <a:srgbClr val="ADBBCD"/>
                          </a:solidFill>
                          <a:latin typeface="Arial"/>
                        </a:rPr>
                        <a:t>Skill (SKILL.md)</a:t>
                      </a:r>
                    </a:p>
                  </a:txBody>
                  <a:tcPr marL="109728" marR="109728">
                    <a:solidFill>
                      <a:srgbClr val="1A283B"/>
                    </a:solidFill>
                  </a:tcPr>
                </a:tc>
              </a:tr>
              <a:tr h="475488">
                <a:tc>
                  <a:txBody>
                    <a:bodyPr wrap="square"/>
                    <a:lstStyle/>
                    <a:p>
                      <a:r>
                        <a:rPr sz="1400" b="1">
                          <a:solidFill>
                            <a:srgbClr val="F8FAFC"/>
                          </a:solidFill>
                          <a:latin typeface="Arial"/>
                        </a:rPr>
                        <a:t>Must always happen, no exceptions</a:t>
                      </a:r>
                    </a:p>
                  </a:txBody>
                  <a:tcPr marL="109728" marR="109728">
                    <a:solidFill>
                      <a:srgbClr val="15233A"/>
                    </a:solidFill>
                  </a:tcPr>
                </a:tc>
                <a:tc>
                  <a:txBody>
                    <a:bodyPr wrap="square"/>
                    <a:lstStyle/>
                    <a:p>
                      <a:r>
                        <a:rPr sz="1400" b="0">
                          <a:solidFill>
                            <a:srgbClr val="ADBBCD"/>
                          </a:solidFill>
                          <a:latin typeface="Arial"/>
                        </a:rPr>
                        <a:t>Hook</a:t>
                      </a:r>
                    </a:p>
                  </a:txBody>
                  <a:tcPr marL="109728" marR="109728">
                    <a:solidFill>
                      <a:srgbClr val="15233A"/>
                    </a:solidFill>
                  </a:tcPr>
                </a:tc>
              </a:tr>
              <a:tr h="475488">
                <a:tc>
                  <a:txBody>
                    <a:bodyPr wrap="square"/>
                    <a:lstStyle/>
                    <a:p>
                      <a:r>
                        <a:rPr sz="1400" b="1">
                          <a:solidFill>
                            <a:srgbClr val="F8FAFC"/>
                          </a:solidFill>
                          <a:latin typeface="Arial"/>
                        </a:rPr>
                        <a:t>External tool or data</a:t>
                      </a:r>
                    </a:p>
                  </a:txBody>
                  <a:tcPr marL="109728" marR="109728">
                    <a:solidFill>
                      <a:srgbClr val="1A283B"/>
                    </a:solidFill>
                  </a:tcPr>
                </a:tc>
                <a:tc>
                  <a:txBody>
                    <a:bodyPr wrap="square"/>
                    <a:lstStyle/>
                    <a:p>
                      <a:r>
                        <a:rPr sz="1400" b="0">
                          <a:solidFill>
                            <a:srgbClr val="ADBBCD"/>
                          </a:solidFill>
                          <a:latin typeface="Arial"/>
                        </a:rPr>
                        <a:t>MCP server</a:t>
                      </a:r>
                    </a:p>
                  </a:txBody>
                  <a:tcPr marL="109728" marR="109728">
                    <a:solidFill>
                      <a:srgbClr val="1A283B"/>
                    </a:solidFill>
                  </a:tcPr>
                </a:tc>
              </a:tr>
              <a:tr h="475488">
                <a:tc>
                  <a:txBody>
                    <a:bodyPr wrap="square"/>
                    <a:lstStyle/>
                    <a:p>
                      <a:r>
                        <a:rPr sz="1400" b="1">
                          <a:solidFill>
                            <a:srgbClr val="F8FAFC"/>
                          </a:solidFill>
                          <a:latin typeface="Arial"/>
                        </a:rPr>
                        <a:t>Isolated specialist with restricted tools</a:t>
                      </a:r>
                    </a:p>
                  </a:txBody>
                  <a:tcPr marL="109728" marR="109728">
                    <a:solidFill>
                      <a:srgbClr val="15233A"/>
                    </a:solidFill>
                  </a:tcPr>
                </a:tc>
                <a:tc>
                  <a:txBody>
                    <a:bodyPr wrap="square"/>
                    <a:lstStyle/>
                    <a:p>
                      <a:r>
                        <a:rPr sz="1400" b="0">
                          <a:solidFill>
                            <a:srgbClr val="ADBBCD"/>
                          </a:solidFill>
                          <a:latin typeface="Arial"/>
                        </a:rPr>
                        <a:t>Subagent</a:t>
                      </a:r>
                    </a:p>
                  </a:txBody>
                  <a:tcPr marL="109728" marR="109728">
                    <a:solidFill>
                      <a:srgbClr val="15233A"/>
                    </a:solidFill>
                  </a:tcPr>
                </a:tc>
              </a:tr>
              <a:tr h="475488">
                <a:tc>
                  <a:txBody>
                    <a:bodyPr wrap="square"/>
                    <a:lstStyle/>
                    <a:p>
                      <a:r>
                        <a:rPr sz="1400" b="1">
                          <a:solidFill>
                            <a:srgbClr val="F8FAFC"/>
                          </a:solidFill>
                          <a:latin typeface="Arial"/>
                        </a:rPr>
                        <a:t>Parallel independent workstreams</a:t>
                      </a:r>
                    </a:p>
                  </a:txBody>
                  <a:tcPr marL="109728" marR="109728">
                    <a:solidFill>
                      <a:srgbClr val="1A283B"/>
                    </a:solidFill>
                  </a:tcPr>
                </a:tc>
                <a:tc>
                  <a:txBody>
                    <a:bodyPr wrap="square"/>
                    <a:lstStyle/>
                    <a:p>
                      <a:r>
                        <a:rPr sz="1400" b="0">
                          <a:solidFill>
                            <a:srgbClr val="ADBBCD"/>
                          </a:solidFill>
                          <a:latin typeface="Arial"/>
                        </a:rPr>
                        <a:t>Agent Team</a:t>
                      </a:r>
                    </a:p>
                  </a:txBody>
                  <a:tcPr marL="109728" marR="109728">
                    <a:solidFill>
                      <a:srgbClr val="1A283B"/>
                    </a:solidFill>
                  </a:tcPr>
                </a:tc>
              </a:tr>
              <a:tr h="475488">
                <a:tc>
                  <a:txBody>
                    <a:bodyPr wrap="square"/>
                    <a:lstStyle/>
                    <a:p>
                      <a:r>
                        <a:rPr sz="1400" b="1">
                          <a:solidFill>
                            <a:srgbClr val="F8FAFC"/>
                          </a:solidFill>
                          <a:latin typeface="Arial"/>
                        </a:rPr>
                        <a:t>Share all of the above</a:t>
                      </a:r>
                    </a:p>
                  </a:txBody>
                  <a:tcPr marL="109728" marR="109728">
                    <a:solidFill>
                      <a:srgbClr val="15233A"/>
                    </a:solidFill>
                  </a:tcPr>
                </a:tc>
                <a:tc>
                  <a:txBody>
                    <a:bodyPr wrap="square"/>
                    <a:lstStyle/>
                    <a:p>
                      <a:r>
                        <a:rPr sz="1400" b="0">
                          <a:solidFill>
                            <a:srgbClr val="ADBBCD"/>
                          </a:solidFill>
                          <a:latin typeface="Arial"/>
                        </a:rPr>
                        <a:t>Plugin</a:t>
                      </a:r>
                    </a:p>
                  </a:txBody>
                  <a:tcPr marL="109728" marR="109728">
                    <a:solidFill>
                      <a:srgbClr val="15233A"/>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119 / 198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ANATOMY OF A SKILL</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.claude/skills/change-review/SKILL.md</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1700">
                <a:solidFill>
                  <a:srgbClr val="BAFF70"/>
                </a:solidFill>
                <a:latin typeface="Consolas"/>
              </a:rPr>
              <a:t>---</a:t>
            </a:r>
          </a:p>
          <a:p>
            <a:pPr algn="l">
              <a:spcAft>
                <a:spcPts val="400"/>
              </a:spcAft>
            </a:pPr>
            <a:r>
              <a:rPr sz="1700">
                <a:solidFill>
                  <a:srgbClr val="BAFF70"/>
                </a:solidFill>
                <a:latin typeface="Consolas"/>
              </a:rPr>
              <a:t>name: change-review</a:t>
            </a:r>
          </a:p>
          <a:p>
            <a:pPr algn="l">
              <a:spcAft>
                <a:spcPts val="400"/>
              </a:spcAft>
            </a:pPr>
            <a:r>
              <a:rPr sz="1700">
                <a:solidFill>
                  <a:srgbClr val="BAFF70"/>
                </a:solidFill>
                <a:latin typeface="Consolas"/>
              </a:rPr>
              <a:t>description: Review a Shipyard change against the seven-point</a:t>
            </a:r>
          </a:p>
          <a:p>
            <a:pPr algn="l">
              <a:spcAft>
                <a:spcPts val="400"/>
              </a:spcAft>
            </a:pPr>
            <a:r>
              <a:rPr sz="1700">
                <a:solidFill>
                  <a:srgbClr val="BAFF70"/>
                </a:solidFill>
                <a:latin typeface="Consolas"/>
              </a:rPr>
              <a:t>  Review Before Merge checklist ... Read-only; never commits.</a:t>
            </a:r>
          </a:p>
          <a:p>
            <a:pPr algn="l">
              <a:spcAft>
                <a:spcPts val="400"/>
              </a:spcAft>
            </a:pPr>
            <a:r>
              <a:rPr sz="1700">
                <a:solidFill>
                  <a:srgbClr val="BAFF70"/>
                </a:solidFill>
                <a:latin typeface="Consolas"/>
              </a:rPr>
              <a:t>when_to_use: "review this change", "is this ready to merge"</a:t>
            </a:r>
          </a:p>
          <a:p>
            <a:pPr algn="l">
              <a:spcAft>
                <a:spcPts val="400"/>
              </a:spcAft>
            </a:pPr>
            <a:r>
              <a:rPr sz="1700">
                <a:solidFill>
                  <a:srgbClr val="BAFF70"/>
                </a:solidFill>
                <a:latin typeface="Consolas"/>
              </a:rPr>
              <a:t>argument-hint: "[brief or files]"</a:t>
            </a:r>
          </a:p>
          <a:p>
            <a:pPr algn="l">
              <a:spcAft>
                <a:spcPts val="400"/>
              </a:spcAft>
            </a:pPr>
            <a:r>
              <a:rPr sz="1700">
                <a:solidFill>
                  <a:srgbClr val="BAFF70"/>
                </a:solidFill>
                <a:latin typeface="Consolas"/>
              </a:rPr>
              <a:t>allowed-tools: Read Grep Glob Bash(git diff *) Bash(git status *)</a:t>
            </a:r>
          </a:p>
          <a:p>
            <a:pPr algn="l">
              <a:spcAft>
                <a:spcPts val="400"/>
              </a:spcAft>
            </a:pPr>
            <a:r>
              <a:rPr sz="1700">
                <a:solidFill>
                  <a:srgbClr val="BAFF70"/>
                </a:solidFill>
                <a:latin typeface="Consolas"/>
              </a:rPr>
              <a:t>---</a:t>
            </a:r>
          </a:p>
          <a:p>
            <a:pPr algn="l">
              <a:spcAft>
                <a:spcPts val="400"/>
              </a:spcAft>
            </a:pPr>
            <a:r>
              <a:rPr sz="1700">
                <a:solidFill>
                  <a:srgbClr val="BAFF70"/>
                </a:solidFill>
                <a:latin typeface="Consolas"/>
              </a:rPr>
              <a:t># Change Review</a:t>
            </a:r>
          </a:p>
          <a:p>
            <a:pPr algn="l">
              <a:spcAft>
                <a:spcPts val="400"/>
              </a:spcAft>
            </a:pPr>
            <a:r>
              <a:rPr sz="1700">
                <a:solidFill>
                  <a:srgbClr val="BAFF70"/>
                </a:solidFill>
                <a:latin typeface="Consolas"/>
              </a:rPr>
              <a:t>Focus: $ARGUMENTS   ·   Checklist: [checklist.md](checklist.md)</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Description drives discovery · $ARGUMENTS passes input · supporting files load only when linked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120 / 198</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HOOKS AS ENGINEERING CONTROLS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Block unsafe commands, test after every edit</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1400">
                <a:solidFill>
                  <a:srgbClr val="BAFF70"/>
                </a:solidFill>
                <a:latin typeface="Consolas"/>
              </a:rPr>
              <a:t>PreToolUse   matcher: Bash</a:t>
            </a:r>
          </a:p>
          <a:p>
            <a:pPr algn="l">
              <a:spcAft>
                <a:spcPts val="400"/>
              </a:spcAft>
            </a:pPr>
            <a:r>
              <a:rPr sz="1400">
                <a:solidFill>
                  <a:srgbClr val="BAFF70"/>
                </a:solidFill>
                <a:latin typeface="Consolas"/>
              </a:rPr>
              <a:t>  → .claude/hooks/block-unsafe-commands.sh   (exit 2 = block, reason → Claude)</a:t>
            </a:r>
          </a:p>
          <a:p>
            <a:pPr algn="l">
              <a:spcAft>
                <a:spcPts val="400"/>
              </a:spcAft>
            </a:pPr>
            <a:r>
              <a:rPr sz="1400">
                <a:solidFill>
                  <a:srgbClr val="BAFF70"/>
                </a:solidFill>
                <a:latin typeface="Consolas"/>
              </a:rPr>
              <a:t/>
            </a:r>
          </a:p>
          <a:p>
            <a:pPr algn="l">
              <a:spcAft>
                <a:spcPts val="400"/>
              </a:spcAft>
            </a:pPr>
            <a:r>
              <a:rPr sz="1400">
                <a:solidFill>
                  <a:srgbClr val="BAFF70"/>
                </a:solidFill>
                <a:latin typeface="Consolas"/>
              </a:rPr>
              <a:t>PostToolUse  matcher: Edit|Write</a:t>
            </a:r>
          </a:p>
          <a:p>
            <a:pPr algn="l">
              <a:spcAft>
                <a:spcPts val="400"/>
              </a:spcAft>
            </a:pPr>
            <a:r>
              <a:rPr sz="1400">
                <a:solidFill>
                  <a:srgbClr val="BAFF70"/>
                </a:solidFill>
                <a:latin typeface="Consolas"/>
              </a:rPr>
              <a:t>  → .claude/hooks/post-edit-validate.sh      (runs the tests for the edited file)</a:t>
            </a:r>
          </a:p>
          <a:p>
            <a:pPr algn="l">
              <a:spcAft>
                <a:spcPts val="400"/>
              </a:spcAft>
            </a:pPr>
            <a:r>
              <a:rPr sz="1400">
                <a:solidFill>
                  <a:srgbClr val="BAFF70"/>
                </a:solidFill>
                <a:latin typeface="Consolas"/>
              </a:rPr>
              <a:t/>
            </a:r>
          </a:p>
          <a:p>
            <a:pPr algn="l">
              <a:spcAft>
                <a:spcPts val="400"/>
              </a:spcAft>
            </a:pPr>
            <a:r>
              <a:rPr sz="1400">
                <a:solidFill>
                  <a:srgbClr val="BAFF70"/>
                </a:solidFill>
                <a:latin typeface="Consolas"/>
              </a:rPr>
              <a:t># in .claude/settings.json → "hooks": { "PreToolUse": [...], "PostToolUse": [...] }</a:t>
            </a:r>
          </a:p>
          <a:p>
            <a:pPr algn="l">
              <a:spcAft>
                <a:spcPts val="400"/>
              </a:spcAft>
            </a:pPr>
            <a:r>
              <a:rPr sz="1400">
                <a:solidFill>
                  <a:srgbClr val="BAFF70"/>
                </a:solidFill>
                <a:latin typeface="Consolas"/>
              </a:rPr>
              <a:t># command paths start with "$CLAUDE_PROJECT_DIR"/.claude/hooks/</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Exit 2 blocks and sends stderr to Claude. Exit 1 does not block.</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121 / 198</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SPECIALIST SUBAGENT</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.claude/agents/security-reviewer.md</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a:t>
            </a:r>
          </a:p>
          <a:p>
            <a:pPr algn="l">
              <a:spcAft>
                <a:spcPts val="400"/>
              </a:spcAft>
            </a:pPr>
            <a:r>
              <a:rPr sz="2000">
                <a:solidFill>
                  <a:srgbClr val="BAFF70"/>
                </a:solidFill>
                <a:latin typeface="Consolas"/>
              </a:rPr>
              <a:t>name: security-reviewer</a:t>
            </a:r>
          </a:p>
          <a:p>
            <a:pPr algn="l">
              <a:spcAft>
                <a:spcPts val="400"/>
              </a:spcAft>
            </a:pPr>
            <a:r>
              <a:rPr sz="2000">
                <a:solidFill>
                  <a:srgbClr val="BAFF70"/>
                </a:solidFill>
                <a:latin typeface="Consolas"/>
              </a:rPr>
              <a:t>description: Read-only application security specialist ...</a:t>
            </a:r>
          </a:p>
          <a:p>
            <a:pPr algn="l">
              <a:spcAft>
                <a:spcPts val="400"/>
              </a:spcAft>
            </a:pPr>
            <a:r>
              <a:rPr sz="2000">
                <a:solidFill>
                  <a:srgbClr val="BAFF70"/>
                </a:solidFill>
                <a:latin typeface="Consolas"/>
              </a:rPr>
              <a:t>tools: Read, Grep, Glob</a:t>
            </a:r>
          </a:p>
          <a:p>
            <a:pPr algn="l">
              <a:spcAft>
                <a:spcPts val="400"/>
              </a:spcAft>
            </a:pPr>
            <a:r>
              <a:rPr sz="2000">
                <a:solidFill>
                  <a:srgbClr val="BAFF70"/>
                </a:solidFill>
                <a:latin typeface="Consolas"/>
              </a:rPr>
              <a:t>model: sonnet</a:t>
            </a:r>
          </a:p>
          <a:p>
            <a:pPr algn="l">
              <a:spcAft>
                <a:spcPts val="400"/>
              </a:spcAft>
            </a:pPr>
            <a:r>
              <a:rPr sz="2000">
                <a:solidFill>
                  <a:srgbClr val="BAFF70"/>
                </a:solidFill>
                <a:latin typeface="Consolas"/>
              </a:rPr>
              <a:t>---</a:t>
            </a:r>
          </a:p>
          <a:p>
            <a:pPr algn="l">
              <a:spcAft>
                <a:spcPts val="400"/>
              </a:spcAft>
            </a:pPr>
            <a:r>
              <a:rPr sz="2000">
                <a:solidFill>
                  <a:srgbClr val="BAFF70"/>
                </a:solidFill>
                <a:latin typeface="Consolas"/>
              </a:rPr>
              <a:t>Return severity-ranked findings, each with file:line,</a:t>
            </a:r>
          </a:p>
          <a:p>
            <a:pPr algn="l">
              <a:spcAft>
                <a:spcPts val="400"/>
              </a:spcAft>
            </a:pPr>
            <a:r>
              <a:rPr sz="2000">
                <a:solidFill>
                  <a:srgbClr val="BAFF70"/>
                </a:solidFill>
                <a:latin typeface="Consolas"/>
              </a:rPr>
              <a:t>quoted evidence and a concrete fix. Never edit files.</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Fresh context · restricted tools · structured output contract</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122 / 198</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09 · PROMPT 1 OF 2</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Specialist review</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Use the security-reviewer subagent to review notes_api/ and</a:t>
            </a:r>
          </a:p>
          <a:p>
            <a:pPr algn="l">
              <a:spcAft>
                <a:spcPts val="400"/>
              </a:spcAft>
            </a:pPr>
            <a:r>
              <a:rPr sz="2000">
                <a:solidFill>
                  <a:srgbClr val="BAFF70"/>
                </a:solidFill>
                <a:latin typeface="Consolas"/>
              </a:rPr>
              <a:t>dashboard/js/. It must cite file:line and quoted evidence for every</a:t>
            </a:r>
          </a:p>
          <a:p>
            <a:pPr algn="l">
              <a:spcAft>
                <a:spcPts val="400"/>
              </a:spcAft>
            </a:pPr>
            <a:r>
              <a:rPr sz="2000">
                <a:solidFill>
                  <a:srgbClr val="BAFF70"/>
                </a:solidFill>
                <a:latin typeface="Consolas"/>
              </a:rPr>
              <a:t>finding and rank them by severity. Save its report to</a:t>
            </a:r>
          </a:p>
          <a:p>
            <a:pPr algn="l">
              <a:spcAft>
                <a:spcPts val="400"/>
              </a:spcAft>
            </a:pPr>
            <a:r>
              <a:rPr sz="2000">
                <a:solidFill>
                  <a:srgbClr val="BAFF70"/>
                </a:solidFill>
                <a:latin typeface="Consolas"/>
              </a:rPr>
              <a:t>reviews/security-review-dashboard.md. Do not change any code.</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parts/09-quality-pack/PROMPTS.md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123 / 198</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09 · PROMPT 2 OF 2</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Hook in action</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Make the release target date in dashboard/index.html read 2026-11-12</a:t>
            </a:r>
          </a:p>
          <a:p>
            <a:pPr algn="l">
              <a:spcAft>
                <a:spcPts val="400"/>
              </a:spcAft>
            </a:pPr>
            <a:r>
              <a:rPr sz="2000">
                <a:solidFill>
                  <a:srgbClr val="BAFF70"/>
                </a:solidFill>
                <a:latin typeface="Consolas"/>
              </a:rPr>
              <a:t>instead of 2026-11-10 and tell me what the post-edit validation hook</a:t>
            </a:r>
          </a:p>
          <a:p>
            <a:pPr algn="l">
              <a:spcAft>
                <a:spcPts val="400"/>
              </a:spcAft>
            </a:pPr>
            <a:r>
              <a:rPr sz="2000">
                <a:solidFill>
                  <a:srgbClr val="BAFF70"/>
                </a:solidFill>
                <a:latin typeface="Consolas"/>
              </a:rPr>
              <a:t>reported. Then test our PreToolUse guardrail: the block-unsafe-</a:t>
            </a:r>
          </a:p>
          <a:p>
            <a:pPr algn="l">
              <a:spcAft>
                <a:spcPts val="400"/>
              </a:spcAft>
            </a:pPr>
            <a:r>
              <a:rPr sz="2000">
                <a:solidFill>
                  <a:srgbClr val="BAFF70"/>
                </a:solidFill>
                <a:latin typeface="Consolas"/>
              </a:rPr>
              <a:t>commands hook is expected to stop secret reads before they run.</a:t>
            </a:r>
          </a:p>
          <a:p>
            <a:pPr algn="l">
              <a:spcAft>
                <a:spcPts val="400"/>
              </a:spcAft>
            </a:pPr>
            <a:r>
              <a:rPr sz="2000">
                <a:solidFill>
                  <a:srgbClr val="BAFF70"/>
                </a:solidFill>
                <a:latin typeface="Consolas"/>
              </a:rPr>
              <a:t>Attempt exactly `cat .env` once (the file may not even exist) and</a:t>
            </a:r>
          </a:p>
          <a:p>
            <a:pPr algn="l">
              <a:spcAft>
                <a:spcPts val="400"/>
              </a:spcAft>
            </a:pPr>
            <a:r>
              <a:rPr sz="2000">
                <a:solidFill>
                  <a:srgbClr val="BAFF70"/>
                </a:solidFill>
                <a:latin typeface="Consolas"/>
              </a:rPr>
              <a:t>report the hook's message word for word. Do not try any workaround.</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parts/09-quality-pack/PROMPTS.md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124 / 198</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pic>
        <p:nvPicPr>
          <p:cNvPr id="2" name="09-quality-pack.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09 · EVIDENCE, NOT CLAIMS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the run proved</a:t>
            </a:r>
          </a:p>
        </p:txBody>
      </p:sp>
      <p:sp>
        <p:nvSpPr>
          <p:cNvPr id="6" name="TextBox 5"/>
          <p:cNvSpPr txBox="1"/>
          <p:nvPr/>
        </p:nvSpPr>
        <p:spPr>
          <a:xfrm>
            <a:off x="640080" y="1984248"/>
            <a:ext cx="5349240" cy="365760"/>
          </a:xfrm>
          <a:prstGeom prst="rect">
            <a:avLst/>
          </a:prstGeom>
          <a:noFill/>
        </p:spPr>
        <p:txBody>
          <a:bodyPr wrap="square" lIns="0" rIns="0" tIns="0" bIns="0">
            <a:spAutoFit/>
          </a:bodyPr>
          <a:lstStyle/>
          <a:p>
            <a:pPr algn="l"/>
            <a:r>
              <a:rPr sz="1500" b="1">
                <a:solidFill>
                  <a:srgbClr val="FBBF24"/>
                </a:solidFill>
                <a:latin typeface="Arial"/>
              </a:rPr>
              <a:t>WHAT TO LOOK FOR</a:t>
            </a:r>
          </a:p>
        </p:txBody>
      </p:sp>
      <p:sp>
        <p:nvSpPr>
          <p:cNvPr id="7" name="Rounded Rectangle 6"/>
          <p:cNvSpPr/>
          <p:nvPr/>
        </p:nvSpPr>
        <p:spPr>
          <a:xfrm>
            <a:off x="64008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/hooks lists PreToolUse and PostToolUse</a:t>
            </a:r>
          </a:p>
          <a:p>
            <a:pPr algn="l">
              <a:spcAft>
                <a:spcPts val="800"/>
              </a:spcAft>
            </a:pPr>
            <a:r>
              <a:rPr sz="1900">
                <a:solidFill>
                  <a:srgbClr val="F8FAFC"/>
                </a:solidFill>
                <a:latin typeface="Arial"/>
              </a:rPr>
              <a:t>•  Post-edit tests run automatically</a:t>
            </a:r>
          </a:p>
          <a:p>
            <a:pPr algn="l">
              <a:spcAft>
                <a:spcPts val="800"/>
              </a:spcAft>
            </a:pPr>
            <a:r>
              <a:rPr sz="1900">
                <a:solidFill>
                  <a:srgbClr val="F8FAFC"/>
                </a:solidFill>
                <a:latin typeface="Arial"/>
              </a:rPr>
              <a:t>•  cat .env blocked by the hook, although permissions allow cat</a:t>
            </a:r>
          </a:p>
          <a:p>
            <a:pPr algn="l">
              <a:spcAft>
                <a:spcPts val="800"/>
              </a:spcAft>
            </a:pPr>
            <a:r>
              <a:rPr sz="1900">
                <a:solidFill>
                  <a:srgbClr val="F8FAFC"/>
                </a:solidFill>
                <a:latin typeface="Arial"/>
              </a:rPr>
              <a:t>•  Severity-ranked review with file:line</a:t>
            </a:r>
          </a:p>
        </p:txBody>
      </p:sp>
      <p:sp>
        <p:nvSpPr>
          <p:cNvPr id="8" name="TextBox 7"/>
          <p:cNvSpPr txBox="1"/>
          <p:nvPr/>
        </p:nvSpPr>
        <p:spPr>
          <a:xfrm>
            <a:off x="6172200" y="1984248"/>
            <a:ext cx="5349240" cy="365760"/>
          </a:xfrm>
          <a:prstGeom prst="rect">
            <a:avLst/>
          </a:prstGeom>
          <a:noFill/>
        </p:spPr>
        <p:txBody>
          <a:bodyPr wrap="square" lIns="0" rIns="0" tIns="0" bIns="0">
            <a:spAutoFit/>
          </a:bodyPr>
          <a:lstStyle/>
          <a:p>
            <a:pPr algn="l"/>
            <a:r>
              <a:rPr sz="1500" b="1">
                <a:solidFill>
                  <a:srgbClr val="BAFF70"/>
                </a:solidFill>
                <a:latin typeface="Arial"/>
              </a:rPr>
              <a:t>WHAT THE RECORDED RUN PRODUCED</a:t>
            </a:r>
          </a:p>
        </p:txBody>
      </p:sp>
      <p:sp>
        <p:nvSpPr>
          <p:cNvPr id="9" name="Rounded Rectangle 8"/>
          <p:cNvSpPr/>
          <p:nvPr/>
        </p:nvSpPr>
        <p:spPr>
          <a:xfrm>
            <a:off x="617220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2 prompt(s) · 3 min 19 s · $0.54 · 19 tool calls</a:t>
            </a:r>
          </a:p>
          <a:p>
            <a:pPr algn="l">
              <a:spcAft>
                <a:spcPts val="800"/>
              </a:spcAft>
            </a:pPr>
            <a:r>
              <a:rPr sz="1900">
                <a:solidFill>
                  <a:srgbClr val="F8FAFC"/>
                </a:solidFill>
                <a:latin typeface="Arial"/>
              </a:rPr>
              <a:t>•  bin/bootcamp verify: 16 PASS · 0 FAIL</a:t>
            </a:r>
          </a:p>
          <a:p>
            <a:pPr algn="l">
              <a:spcAft>
                <a:spcPts val="800"/>
              </a:spcAft>
            </a:pPr>
            <a:r>
              <a:rPr sz="1900">
                <a:solidFill>
                  <a:srgbClr val="F8FAFC"/>
                </a:solidFill>
                <a:latin typeface="Arial"/>
              </a:rPr>
              <a:t>•  Changed: M .claude/settings.json, M dashboard/index.html, ?? reviews/security-review-dashboard.md</a:t>
            </a:r>
          </a:p>
        </p:txBody>
      </p:sp>
      <p:sp>
        <p:nvSpPr>
          <p:cNvPr id="10" name="TextBox 9"/>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126 / 198</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09 · DISCUSS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Your turn to think</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Which rule in your team should be a hook, not an instruction?</a:t>
            </a:r>
          </a:p>
          <a:p>
            <a:pPr algn="l">
              <a:spcAft>
                <a:spcPts val="800"/>
              </a:spcAft>
            </a:pPr>
            <a:r>
              <a:rPr sz="2200">
                <a:solidFill>
                  <a:srgbClr val="F8FAFC"/>
                </a:solidFill>
                <a:latin typeface="Arial"/>
              </a:rPr>
              <a:t>•  Why does the security reviewer get only Read, Grep and Glob?</a:t>
            </a:r>
          </a:p>
          <a:p>
            <a:pPr algn="l">
              <a:spcAft>
                <a:spcPts val="800"/>
              </a:spcAft>
            </a:pPr>
            <a:r>
              <a:rPr sz="2200">
                <a:solidFill>
                  <a:srgbClr val="F8FAFC"/>
                </a:solidFill>
                <a:latin typeface="Arial"/>
              </a:rPr>
              <a:t>•  What would make a skill trigger automatically, and when should it not?</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127 / 198</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09 · LAB</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Hands-on</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Customize the description and add a Shipyard section to change-review/SKILL.md, wire the hooks in settings.json, then run the two prompts.</a:t>
            </a:r>
          </a:p>
          <a:p>
            <a:pPr algn="l">
              <a:spcAft>
                <a:spcPts val="800"/>
              </a:spcAft>
            </a:pPr>
            <a:r>
              <a:rPr sz="2200">
                <a:solidFill>
                  <a:srgbClr val="F8FAFC"/>
                </a:solidFill>
                <a:latin typeface="Arial"/>
              </a:rPr>
              <a:t>•  Start: bin/bootcamp stage 09</a:t>
            </a:r>
          </a:p>
          <a:p>
            <a:pPr algn="l">
              <a:spcAft>
                <a:spcPts val="800"/>
              </a:spcAft>
            </a:pPr>
            <a:r>
              <a:rPr sz="2200">
                <a:solidFill>
                  <a:srgbClr val="F8FAFC"/>
                </a:solidFill>
                <a:latin typeface="Arial"/>
              </a:rPr>
              <a:t>•  Prompts: parts/09-quality-pack/PROMPTS.md</a:t>
            </a:r>
          </a:p>
          <a:p>
            <a:pPr algn="l">
              <a:spcAft>
                <a:spcPts val="800"/>
              </a:spcAft>
            </a:pPr>
            <a:r>
              <a:rPr sz="2200">
                <a:solidFill>
                  <a:srgbClr val="F8FAFC"/>
                </a:solidFill>
                <a:latin typeface="Arial"/>
              </a:rPr>
              <a:t>•  Check: bin/bootcamp verify</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128 / 198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09 · CHECKPOINT</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 now have</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Customized SKILL.md</a:t>
            </a:r>
          </a:p>
          <a:p>
            <a:pPr algn="l">
              <a:spcAft>
                <a:spcPts val="800"/>
              </a:spcAft>
            </a:pPr>
            <a:r>
              <a:rPr sz="2200">
                <a:solidFill>
                  <a:srgbClr val="F8FAFC"/>
                </a:solidFill>
                <a:latin typeface="Arial"/>
              </a:rPr>
              <a:t>✓  Working post-edit validation hook</a:t>
            </a:r>
          </a:p>
          <a:p>
            <a:pPr algn="l">
              <a:spcAft>
                <a:spcPts val="800"/>
              </a:spcAft>
            </a:pPr>
            <a:r>
              <a:rPr sz="2200">
                <a:solidFill>
                  <a:srgbClr val="F8FAFC"/>
                </a:solidFill>
                <a:latin typeface="Arial"/>
              </a:rPr>
              <a:t>✓  Specialist subagent definition</a:t>
            </a:r>
          </a:p>
          <a:p>
            <a:pPr algn="l">
              <a:spcAft>
                <a:spcPts val="800"/>
              </a:spcAft>
            </a:pPr>
            <a:r>
              <a:rPr sz="2200">
                <a:solidFill>
                  <a:srgbClr val="F8FAFC"/>
                </a:solidFill>
                <a:latin typeface="Arial"/>
              </a:rPr>
              <a:t>✓  Structured review output</a:t>
            </a:r>
          </a:p>
          <a:p>
            <a:pPr algn="l">
              <a:spcAft>
                <a:spcPts val="800"/>
              </a:spcAft>
            </a:pPr>
            <a:r>
              <a:rPr sz="2200">
                <a:solidFill>
                  <a:srgbClr val="F8FAFC"/>
                </a:solidFill>
                <a:latin typeface="Arial"/>
              </a:rPr>
              <a:t>•  Behind? bin/bootcamp checkpoint 09 --force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129 / 198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2194560"/>
            <a:ext cx="10058400" cy="365760"/>
          </a:xfrm>
          <a:prstGeom prst="rect">
            <a:avLst/>
          </a:prstGeom>
          <a:noFill/>
        </p:spPr>
        <p:txBody>
          <a:bodyPr wrap="square" lIns="0" rIns="0" tIns="0" bIns="0">
            <a:spAutoFit/>
          </a:bodyPr>
          <a:lstStyle/>
          <a:p>
            <a:pPr algn="l"/>
            <a:r>
              <a:rPr sz="1600" b="1">
                <a:solidFill>
                  <a:srgbClr val="BAFF70"/>
                </a:solidFill>
                <a:latin typeface="Arial"/>
              </a:rPr>
              <a:t>PART 10 · 13:55–14:20 · 25 MIN</a:t>
            </a:r>
          </a:p>
        </p:txBody>
      </p:sp>
      <p:sp>
        <p:nvSpPr>
          <p:cNvPr id="5" name="TextBox 4"/>
          <p:cNvSpPr txBox="1"/>
          <p:nvPr/>
        </p:nvSpPr>
        <p:spPr>
          <a:xfrm>
            <a:off x="640080" y="2697480"/>
            <a:ext cx="10789920" cy="1463040"/>
          </a:xfrm>
          <a:prstGeom prst="rect">
            <a:avLst/>
          </a:prstGeom>
          <a:noFill/>
        </p:spPr>
        <p:txBody>
          <a:bodyPr wrap="square" lIns="0" rIns="0" tIns="0" bIns="0">
            <a:spAutoFit/>
          </a:bodyPr>
          <a:lstStyle/>
          <a:p>
            <a:pPr algn="l"/>
            <a:r>
              <a:rPr sz="4600" b="1">
                <a:solidFill>
                  <a:srgbClr val="F8FAFC"/>
                </a:solidFill>
                <a:latin typeface="Arial"/>
              </a:rPr>
              <a:t>Plugins and marketplace distribution</a:t>
            </a:r>
          </a:p>
        </p:txBody>
      </p:sp>
      <p:sp>
        <p:nvSpPr>
          <p:cNvPr id="6" name="TextBox 5"/>
          <p:cNvSpPr txBox="1"/>
          <p:nvPr/>
        </p:nvSpPr>
        <p:spPr>
          <a:xfrm>
            <a:off x="640080" y="4297680"/>
            <a:ext cx="10789920" cy="914400"/>
          </a:xfrm>
          <a:prstGeom prst="rect">
            <a:avLst/>
          </a:prstGeom>
          <a:noFill/>
        </p:spPr>
        <p:txBody>
          <a:bodyPr wrap="square" lIns="0" rIns="0" tIns="0" bIns="0">
            <a:spAutoFit/>
          </a:bodyPr>
          <a:lstStyle/>
          <a:p>
            <a:pPr algn="l"/>
            <a:r>
              <a:rPr sz="2000" b="0">
                <a:solidFill>
                  <a:srgbClr val="ADBBCD"/>
                </a:solidFill>
                <a:latin typeface="Arial"/>
              </a:rPr>
              <a:t>Project 9B: Package the Engineering Quality Plugin</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130 / 198</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10 · GOALS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you will be able to do</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Package Skills, hooks, subagents and MCP configuration as one plugin</a:t>
            </a:r>
          </a:p>
          <a:p>
            <a:pPr algn="l">
              <a:spcAft>
                <a:spcPts val="800"/>
              </a:spcAft>
            </a:pPr>
            <a:r>
              <a:rPr sz="2200">
                <a:solidFill>
                  <a:srgbClr val="F8FAFC"/>
                </a:solidFill>
                <a:latin typeface="Arial"/>
              </a:rPr>
              <a:t>•  Write the manifest; understand namespacing</a:t>
            </a:r>
          </a:p>
          <a:p>
            <a:pPr algn="l">
              <a:spcAft>
                <a:spcPts val="800"/>
              </a:spcAft>
            </a:pPr>
            <a:r>
              <a:rPr sz="2200">
                <a:solidFill>
                  <a:srgbClr val="F8FAFC"/>
                </a:solidFill>
                <a:latin typeface="Arial"/>
              </a:rPr>
              <a:t>•  Validate (claude plugin validate --strict), install and test locally</a:t>
            </a:r>
          </a:p>
          <a:p>
            <a:pPr algn="l">
              <a:spcAft>
                <a:spcPts val="800"/>
              </a:spcAft>
            </a:pPr>
            <a:r>
              <a:rPr sz="2200">
                <a:solidFill>
                  <a:srgbClr val="F8FAFC"/>
                </a:solidFill>
                <a:latin typeface="Arial"/>
              </a:rPr>
              <a:t>•  Distribute through a marketplace; version, trust and maintain</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131 / 198</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PLUGINS PACKAGE EVERYTHING</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plugins/engineering-quality/</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1700">
                <a:solidFill>
                  <a:srgbClr val="BAFF70"/>
                </a:solidFill>
                <a:latin typeface="Consolas"/>
              </a:rPr>
              <a:t>.claude-plugin/plugin.json      # name, version 1.0.0, description, author</a:t>
            </a:r>
          </a:p>
          <a:p>
            <a:pPr algn="l">
              <a:spcAft>
                <a:spcPts val="400"/>
              </a:spcAft>
            </a:pPr>
            <a:r>
              <a:rPr sz="1700">
                <a:solidFill>
                  <a:srgbClr val="BAFF70"/>
                </a:solidFill>
                <a:latin typeface="Consolas"/>
              </a:rPr>
              <a:t>skills/change-review/SKILL.md   # → /engineering-quality:change-review</a:t>
            </a:r>
          </a:p>
          <a:p>
            <a:pPr algn="l">
              <a:spcAft>
                <a:spcPts val="400"/>
              </a:spcAft>
            </a:pPr>
            <a:r>
              <a:rPr sz="1700">
                <a:solidFill>
                  <a:srgbClr val="BAFF70"/>
                </a:solidFill>
                <a:latin typeface="Consolas"/>
              </a:rPr>
              <a:t>skills/security-review/SKILL.md</a:t>
            </a:r>
          </a:p>
          <a:p>
            <a:pPr algn="l">
              <a:spcAft>
                <a:spcPts val="400"/>
              </a:spcAft>
            </a:pPr>
            <a:r>
              <a:rPr sz="1700">
                <a:solidFill>
                  <a:srgbClr val="BAFF70"/>
                </a:solidFill>
                <a:latin typeface="Consolas"/>
              </a:rPr>
              <a:t>agents/security-reviewer.md</a:t>
            </a:r>
          </a:p>
          <a:p>
            <a:pPr algn="l">
              <a:spcAft>
                <a:spcPts val="400"/>
              </a:spcAft>
            </a:pPr>
            <a:r>
              <a:rPr sz="1700">
                <a:solidFill>
                  <a:srgbClr val="BAFF70"/>
                </a:solidFill>
                <a:latin typeface="Consolas"/>
              </a:rPr>
              <a:t>hooks/hooks.json                 # ${CLAUDE_PLUGIN_ROOT}/hooks/*.sh</a:t>
            </a:r>
          </a:p>
          <a:p>
            <a:pPr algn="l">
              <a:spcAft>
                <a:spcPts val="400"/>
              </a:spcAft>
            </a:pPr>
            <a:r>
              <a:rPr sz="1700">
                <a:solidFill>
                  <a:srgbClr val="BAFF70"/>
                </a:solidFill>
                <a:latin typeface="Consolas"/>
              </a:rPr>
              <a:t>hooks/post-edit-validate.sh</a:t>
            </a:r>
          </a:p>
          <a:p>
            <a:pPr algn="l">
              <a:spcAft>
                <a:spcPts val="400"/>
              </a:spcAft>
            </a:pPr>
            <a:r>
              <a:rPr sz="1700">
                <a:solidFill>
                  <a:srgbClr val="BAFF70"/>
                </a:solidFill>
                <a:latin typeface="Consolas"/>
              </a:rPr>
              <a:t>hooks/block-unsafe-commands.sh</a:t>
            </a:r>
          </a:p>
          <a:p>
            <a:pPr algn="l">
              <a:spcAft>
                <a:spcPts val="400"/>
              </a:spcAft>
            </a:pPr>
            <a:r>
              <a:rPr sz="1700">
                <a:solidFill>
                  <a:srgbClr val="BAFF70"/>
                </a:solidFill>
                <a:latin typeface="Consolas"/>
              </a:rPr>
              <a:t>README.md</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Only the manifest lives in .claude-plugin/. Components sit at the plugin root.</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132 / 198</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VALIDATE, INSTALL, INSPECT</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Real output from our run</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 claude plugin validate ./plugins/engineering-quality --strict</a:t>
            </a:r>
          </a:p>
          <a:p>
            <a:pPr algn="l">
              <a:spcAft>
                <a:spcPts val="400"/>
              </a:spcAft>
            </a:pPr>
            <a:r>
              <a:rPr sz="2000">
                <a:solidFill>
                  <a:srgbClr val="BAFF70"/>
                </a:solidFill>
                <a:latin typeface="Consolas"/>
              </a:rPr>
              <a:t>✔ Validation passed</a:t>
            </a:r>
          </a:p>
          <a:p>
            <a:pPr algn="l">
              <a:spcAft>
                <a:spcPts val="400"/>
              </a:spcAft>
            </a:pPr>
            <a:r>
              <a:rPr sz="2000">
                <a:solidFill>
                  <a:srgbClr val="BAFF70"/>
                </a:solidFill>
                <a:latin typeface="Consolas"/>
              </a:rPr>
              <a:t>$ claude plugin marketplace add ./</a:t>
            </a:r>
          </a:p>
          <a:p>
            <a:pPr algn="l">
              <a:spcAft>
                <a:spcPts val="400"/>
              </a:spcAft>
            </a:pPr>
            <a:r>
              <a:rPr sz="2000">
                <a:solidFill>
                  <a:srgbClr val="BAFF70"/>
                </a:solidFill>
                <a:latin typeface="Consolas"/>
              </a:rPr>
              <a:t>✔ Successfully added marketplace: shipyard-tools</a:t>
            </a:r>
          </a:p>
          <a:p>
            <a:pPr algn="l">
              <a:spcAft>
                <a:spcPts val="400"/>
              </a:spcAft>
            </a:pPr>
            <a:r>
              <a:rPr sz="2000">
                <a:solidFill>
                  <a:srgbClr val="BAFF70"/>
                </a:solidFill>
                <a:latin typeface="Consolas"/>
              </a:rPr>
              <a:t>$ claude plugin install engineering-quality@shipyard-tools</a:t>
            </a:r>
          </a:p>
          <a:p>
            <a:pPr algn="l">
              <a:spcAft>
                <a:spcPts val="400"/>
              </a:spcAft>
            </a:pPr>
            <a:r>
              <a:rPr sz="2000">
                <a:solidFill>
                  <a:srgbClr val="BAFF70"/>
                </a:solidFill>
                <a:latin typeface="Consolas"/>
              </a:rPr>
              <a:t>✔ Successfully installed plugin: engineering-quality@shipyard-tools</a:t>
            </a:r>
          </a:p>
          <a:p>
            <a:pPr algn="l">
              <a:spcAft>
                <a:spcPts val="400"/>
              </a:spcAft>
            </a:pPr>
            <a:r>
              <a:rPr sz="2000">
                <a:solidFill>
                  <a:srgbClr val="BAFF70"/>
                </a:solidFill>
                <a:latin typeface="Consolas"/>
              </a:rPr>
              <a:t>$ claude plugin details engineering-quality@shipyard-tools</a:t>
            </a:r>
          </a:p>
          <a:p>
            <a:pPr algn="l">
              <a:spcAft>
                <a:spcPts val="400"/>
              </a:spcAft>
            </a:pPr>
            <a:r>
              <a:rPr sz="2000">
                <a:solidFill>
                  <a:srgbClr val="BAFF70"/>
                </a:solidFill>
                <a:latin typeface="Consolas"/>
              </a:rPr>
              <a:t>  Skills (2) change-review, security-review · Agents (1) · Hooks (2)</a:t>
            </a:r>
          </a:p>
          <a:p>
            <a:pPr algn="l">
              <a:spcAft>
                <a:spcPts val="400"/>
              </a:spcAft>
            </a:pPr>
            <a:r>
              <a:rPr sz="2000">
                <a:solidFill>
                  <a:srgbClr val="BAFF70"/>
                </a:solidFill>
                <a:latin typeface="Consolas"/>
              </a:rPr>
              <a:t>  Always-on: ~398 tok added to every session</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parts/10-plugin/solution/evidence/</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133 / 198</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DISTRIBUTION</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Marketplaces, versions, trust</a:t>
            </a:r>
          </a:p>
        </p:txBody>
      </p:sp>
      <p:graphicFrame>
        <p:nvGraphicFramePr>
          <p:cNvPr id="6" name="Table 5"/>
          <p:cNvGraphicFramePr>
            <a:graphicFrameLocks noGrp="1"/>
          </p:cNvGraphicFramePr>
          <p:nvPr/>
        </p:nvGraphicFramePr>
        <p:xfrm>
          <a:off x="640080" y="1984248"/>
          <a:ext cx="10881359" cy="2852928"/>
        </p:xfrm>
        <a:graphic>
          <a:graphicData uri="http://schemas.openxmlformats.org/drawingml/2006/table">
            <a:tbl>
              <a:tblPr>
                <a:tableStyleId>{5C22544A-7EE6-4342-B048-85BDC9FD1C3A}</a:tableStyleId>
              </a:tblPr>
              <a:tblGrid>
                <a:gridCol w="2481260"/>
                <a:gridCol w="8400099"/>
              </a:tblGrid>
              <a:tr h="475488">
                <a:tc>
                  <a:txBody>
                    <a:bodyPr wrap="square"/>
                    <a:lstStyle/>
                    <a:p>
                      <a:r>
                        <a:rPr sz="1600" b="1">
                          <a:solidFill>
                            <a:srgbClr val="BAFF70"/>
                          </a:solidFill>
                          <a:latin typeface="Arial"/>
                        </a:rPr>
                        <a:t>Topic</a:t>
                      </a:r>
                    </a:p>
                  </a:txBody>
                  <a:tcPr marL="109728" marR="109728">
                    <a:solidFill>
                      <a:srgbClr val="22324A"/>
                    </a:solidFill>
                  </a:tcPr>
                </a:tc>
                <a:tc>
                  <a:txBody>
                    <a:bodyPr wrap="square"/>
                    <a:lstStyle/>
                    <a:p>
                      <a:r>
                        <a:rPr sz="1600" b="1">
                          <a:solidFill>
                            <a:srgbClr val="BAFF70"/>
                          </a:solidFill>
                          <a:latin typeface="Arial"/>
                        </a:rPr>
                        <a:t>Practice</a:t>
                      </a:r>
                    </a:p>
                  </a:txBody>
                  <a:tcPr marL="109728" marR="109728">
                    <a:solidFill>
                      <a:srgbClr val="22324A"/>
                    </a:solidFill>
                  </a:tcPr>
                </a:tc>
              </a:tr>
              <a:tr h="475488">
                <a:tc>
                  <a:txBody>
                    <a:bodyPr wrap="square"/>
                    <a:lstStyle/>
                    <a:p>
                      <a:r>
                        <a:rPr sz="1600" b="1">
                          <a:solidFill>
                            <a:srgbClr val="F8FAFC"/>
                          </a:solidFill>
                          <a:latin typeface="Arial"/>
                        </a:rPr>
                        <a:t>Marketplace</a:t>
                      </a:r>
                    </a:p>
                  </a:txBody>
                  <a:tcPr marL="109728" marR="109728">
                    <a:solidFill>
                      <a:srgbClr val="1A283B"/>
                    </a:solidFill>
                  </a:tcPr>
                </a:tc>
                <a:tc>
                  <a:txBody>
                    <a:bodyPr wrap="square"/>
                    <a:lstStyle/>
                    <a:p>
                      <a:r>
                        <a:rPr sz="1600" b="0">
                          <a:solidFill>
                            <a:srgbClr val="ADBBCD"/>
                          </a:solidFill>
                          <a:latin typeface="Arial"/>
                        </a:rPr>
                        <a:t>.claude-plugin/marketplace.json: name, owner, plugins[]</a:t>
                      </a:r>
                    </a:p>
                  </a:txBody>
                  <a:tcPr marL="109728" marR="109728">
                    <a:solidFill>
                      <a:srgbClr val="1A283B"/>
                    </a:solidFill>
                  </a:tcPr>
                </a:tc>
              </a:tr>
              <a:tr h="475488">
                <a:tc>
                  <a:txBody>
                    <a:bodyPr wrap="square"/>
                    <a:lstStyle/>
                    <a:p>
                      <a:r>
                        <a:rPr sz="1600" b="1">
                          <a:solidFill>
                            <a:srgbClr val="F8FAFC"/>
                          </a:solidFill>
                          <a:latin typeface="Arial"/>
                        </a:rPr>
                        <a:t>Install</a:t>
                      </a:r>
                    </a:p>
                  </a:txBody>
                  <a:tcPr marL="109728" marR="109728">
                    <a:solidFill>
                      <a:srgbClr val="15233A"/>
                    </a:solidFill>
                  </a:tcPr>
                </a:tc>
                <a:tc>
                  <a:txBody>
                    <a:bodyPr wrap="square"/>
                    <a:lstStyle/>
                    <a:p>
                      <a:r>
                        <a:rPr sz="1600" b="0">
                          <a:solidFill>
                            <a:srgbClr val="ADBBCD"/>
                          </a:solidFill>
                          <a:latin typeface="Arial"/>
                        </a:rPr>
                        <a:t>/plugin marketplace add &lt;repo&gt; · /plugin install name@marketplace</a:t>
                      </a:r>
                    </a:p>
                  </a:txBody>
                  <a:tcPr marL="109728" marR="109728">
                    <a:solidFill>
                      <a:srgbClr val="15233A"/>
                    </a:solidFill>
                  </a:tcPr>
                </a:tc>
              </a:tr>
              <a:tr h="475488">
                <a:tc>
                  <a:txBody>
                    <a:bodyPr wrap="square"/>
                    <a:lstStyle/>
                    <a:p>
                      <a:r>
                        <a:rPr sz="1600" b="1">
                          <a:solidFill>
                            <a:srgbClr val="F8FAFC"/>
                          </a:solidFill>
                          <a:latin typeface="Arial"/>
                        </a:rPr>
                        <a:t>Versioning</a:t>
                      </a:r>
                    </a:p>
                  </a:txBody>
                  <a:tcPr marL="109728" marR="109728">
                    <a:solidFill>
                      <a:srgbClr val="1A283B"/>
                    </a:solidFill>
                  </a:tcPr>
                </a:tc>
                <a:tc>
                  <a:txBody>
                    <a:bodyPr wrap="square"/>
                    <a:lstStyle/>
                    <a:p>
                      <a:r>
                        <a:rPr sz="1600" b="0">
                          <a:solidFill>
                            <a:srgbClr val="ADBBCD"/>
                          </a:solidFill>
                          <a:latin typeface="Arial"/>
                        </a:rPr>
                        <a:t>A version in plugin.json pins users until you bump it</a:t>
                      </a:r>
                    </a:p>
                  </a:txBody>
                  <a:tcPr marL="109728" marR="109728">
                    <a:solidFill>
                      <a:srgbClr val="1A283B"/>
                    </a:solidFill>
                  </a:tcPr>
                </a:tc>
              </a:tr>
              <a:tr h="475488">
                <a:tc>
                  <a:txBody>
                    <a:bodyPr wrap="square"/>
                    <a:lstStyle/>
                    <a:p>
                      <a:r>
                        <a:rPr sz="1600" b="1">
                          <a:solidFill>
                            <a:srgbClr val="F8FAFC"/>
                          </a:solidFill>
                          <a:latin typeface="Arial"/>
                        </a:rPr>
                        <a:t>Dependencies</a:t>
                      </a:r>
                    </a:p>
                  </a:txBody>
                  <a:tcPr marL="109728" marR="109728">
                    <a:solidFill>
                      <a:srgbClr val="15233A"/>
                    </a:solidFill>
                  </a:tcPr>
                </a:tc>
                <a:tc>
                  <a:txBody>
                    <a:bodyPr wrap="square"/>
                    <a:lstStyle/>
                    <a:p>
                      <a:r>
                        <a:rPr sz="1600" b="0">
                          <a:solidFill>
                            <a:srgbClr val="ADBBCD"/>
                          </a:solidFill>
                          <a:latin typeface="Arial"/>
                        </a:rPr>
                        <a:t>"dependencies": name, name@marketplace, or a version range</a:t>
                      </a:r>
                    </a:p>
                  </a:txBody>
                  <a:tcPr marL="109728" marR="109728">
                    <a:solidFill>
                      <a:srgbClr val="15233A"/>
                    </a:solidFill>
                  </a:tcPr>
                </a:tc>
              </a:tr>
              <a:tr h="475488">
                <a:tc>
                  <a:txBody>
                    <a:bodyPr wrap="square"/>
                    <a:lstStyle/>
                    <a:p>
                      <a:r>
                        <a:rPr sz="1600" b="1">
                          <a:solidFill>
                            <a:srgbClr val="F8FAFC"/>
                          </a:solidFill>
                          <a:latin typeface="Arial"/>
                        </a:rPr>
                        <a:t>Trust</a:t>
                      </a:r>
                    </a:p>
                  </a:txBody>
                  <a:tcPr marL="109728" marR="109728">
                    <a:solidFill>
                      <a:srgbClr val="1A283B"/>
                    </a:solidFill>
                  </a:tcPr>
                </a:tc>
                <a:tc>
                  <a:txBody>
                    <a:bodyPr wrap="square"/>
                    <a:lstStyle/>
                    <a:p>
                      <a:r>
                        <a:rPr sz="1600" b="0">
                          <a:solidFill>
                            <a:srgbClr val="ADBBCD"/>
                          </a:solidFill>
                          <a:latin typeface="Arial"/>
                        </a:rPr>
                        <a:t>Read hooks and scripts before installing; plugins run as you</a:t>
                      </a:r>
                    </a:p>
                  </a:txBody>
                  <a:tcPr marL="109728" marR="109728">
                    <a:solidFill>
                      <a:srgbClr val="1A283B"/>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134 / 198</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10 · PROMPT 1 OF 2</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Package</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Read briefs/package-plugin.md. Package our .claude/ change-review</a:t>
            </a:r>
          </a:p>
          <a:p>
            <a:pPr algn="l">
              <a:spcAft>
                <a:spcPts val="400"/>
              </a:spcAft>
            </a:pPr>
            <a:r>
              <a:rPr sz="2000">
                <a:solidFill>
                  <a:srgbClr val="BAFF70"/>
                </a:solidFill>
                <a:latin typeface="Consolas"/>
              </a:rPr>
              <a:t>skill, a security-review skill, the security-reviewer agent and both</a:t>
            </a:r>
          </a:p>
          <a:p>
            <a:pPr algn="l">
              <a:spcAft>
                <a:spcPts val="400"/>
              </a:spcAft>
            </a:pPr>
            <a:r>
              <a:rPr sz="2000">
                <a:solidFill>
                  <a:srgbClr val="BAFF70"/>
                </a:solidFill>
                <a:latin typeface="Consolas"/>
              </a:rPr>
              <a:t>hooks into plugins/engineering-quality/ with a valid .claude-</a:t>
            </a:r>
          </a:p>
          <a:p>
            <a:pPr algn="l">
              <a:spcAft>
                <a:spcPts val="400"/>
              </a:spcAft>
            </a:pPr>
            <a:r>
              <a:rPr sz="2000">
                <a:solidFill>
                  <a:srgbClr val="BAFF70"/>
                </a:solidFill>
                <a:latin typeface="Consolas"/>
              </a:rPr>
              <a:t>plugin/plugin.json and hooks/hooks.json using ${CLAUDE_PLUGIN_ROOT}.</a:t>
            </a:r>
          </a:p>
          <a:p>
            <a:pPr algn="l">
              <a:spcAft>
                <a:spcPts val="400"/>
              </a:spcAft>
            </a:pPr>
            <a:r>
              <a:rPr sz="2000">
                <a:solidFill>
                  <a:srgbClr val="BAFF70"/>
                </a:solidFill>
                <a:latin typeface="Consolas"/>
              </a:rPr>
              <a:t>Add the marketplace file .claude-plugin/marketplace.json named</a:t>
            </a:r>
          </a:p>
          <a:p>
            <a:pPr algn="l">
              <a:spcAft>
                <a:spcPts val="400"/>
              </a:spcAft>
            </a:pPr>
            <a:r>
              <a:rPr sz="2000">
                <a:solidFill>
                  <a:srgbClr val="BAFF70"/>
                </a:solidFill>
                <a:latin typeface="Consolas"/>
              </a:rPr>
              <a:t>shipyard-tools. Run claude plugin validate on both with --strict and</a:t>
            </a:r>
          </a:p>
          <a:p>
            <a:pPr algn="l">
              <a:spcAft>
                <a:spcPts val="400"/>
              </a:spcAft>
            </a:pPr>
            <a:r>
              <a:rPr sz="2000">
                <a:solidFill>
                  <a:srgbClr val="BAFF70"/>
                </a:solidFill>
                <a:latin typeface="Consolas"/>
              </a:rPr>
              <a:t>show the output. Do not commit.</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parts/10-plugin/PROMPTS.md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135 / 198</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10 · PROMPT 2 OF 2</a:t>
            </a:r>
          </a:p>
        </p:txBody>
      </p:sp>
      <p:sp>
        <p:nvSpPr>
          <p:cNvPr id="5" name="TextBox 4"/>
          <p:cNvSpPr txBox="1"/>
          <p:nvPr/>
        </p:nvSpPr>
        <p:spPr>
          <a:xfrm>
            <a:off x="640080" y="1280160"/>
            <a:ext cx="10881360" cy="1097280"/>
          </a:xfrm>
          <a:prstGeom prst="rect">
            <a:avLst/>
          </a:prstGeom>
          <a:noFill/>
        </p:spPr>
        <p:txBody>
          <a:bodyPr wrap="square" lIns="0" rIns="0" tIns="0" bIns="0">
            <a:spAutoFit/>
          </a:bodyPr>
          <a:lstStyle/>
          <a:p>
            <a:pPr algn="l"/>
            <a:r>
              <a:rPr sz="3000" b="1">
                <a:solidFill>
                  <a:srgbClr val="F8FAFC"/>
                </a:solidFill>
                <a:latin typeface="Arial"/>
              </a:rPr>
              <a:t>Namespaced invocation (claude --plugin-dir ./plugins/engineering-quality)</a:t>
            </a:r>
          </a:p>
        </p:txBody>
      </p:sp>
      <p:sp>
        <p:nvSpPr>
          <p:cNvPr id="6" name="Rounded Rectangle 5"/>
          <p:cNvSpPr/>
          <p:nvPr/>
        </p:nvSpPr>
        <p:spPr>
          <a:xfrm>
            <a:off x="640080" y="2551176"/>
            <a:ext cx="10881360" cy="3300984"/>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/engineering-quality:change-review briefs/package-plugin.md</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parts/10-plugin/PROMPTS.md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136 / 198</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pic>
        <p:nvPicPr>
          <p:cNvPr id="2" name="10-plugin.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10 · EVIDENCE, NOT CLAIMS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the run proved</a:t>
            </a:r>
          </a:p>
        </p:txBody>
      </p:sp>
      <p:sp>
        <p:nvSpPr>
          <p:cNvPr id="6" name="TextBox 5"/>
          <p:cNvSpPr txBox="1"/>
          <p:nvPr/>
        </p:nvSpPr>
        <p:spPr>
          <a:xfrm>
            <a:off x="640080" y="1984248"/>
            <a:ext cx="5349240" cy="365760"/>
          </a:xfrm>
          <a:prstGeom prst="rect">
            <a:avLst/>
          </a:prstGeom>
          <a:noFill/>
        </p:spPr>
        <p:txBody>
          <a:bodyPr wrap="square" lIns="0" rIns="0" tIns="0" bIns="0">
            <a:spAutoFit/>
          </a:bodyPr>
          <a:lstStyle/>
          <a:p>
            <a:pPr algn="l"/>
            <a:r>
              <a:rPr sz="1500" b="1">
                <a:solidFill>
                  <a:srgbClr val="FBBF24"/>
                </a:solidFill>
                <a:latin typeface="Arial"/>
              </a:rPr>
              <a:t>WHAT TO LOOK FOR</a:t>
            </a:r>
          </a:p>
        </p:txBody>
      </p:sp>
      <p:sp>
        <p:nvSpPr>
          <p:cNvPr id="7" name="Rounded Rectangle 6"/>
          <p:cNvSpPr/>
          <p:nvPr/>
        </p:nvSpPr>
        <p:spPr>
          <a:xfrm>
            <a:off x="64008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claude plugin validate … --strict → Validation passed</a:t>
            </a:r>
          </a:p>
          <a:p>
            <a:pPr algn="l">
              <a:spcAft>
                <a:spcPts val="800"/>
              </a:spcAft>
            </a:pPr>
            <a:r>
              <a:rPr sz="1900">
                <a:solidFill>
                  <a:srgbClr val="F8FAFC"/>
                </a:solidFill>
                <a:latin typeface="Arial"/>
              </a:rPr>
              <a:t>•  claude plugin install engineering-quality@shipyard-tools</a:t>
            </a:r>
          </a:p>
          <a:p>
            <a:pPr algn="l">
              <a:spcAft>
                <a:spcPts val="800"/>
              </a:spcAft>
            </a:pPr>
            <a:r>
              <a:rPr sz="1900">
                <a:solidFill>
                  <a:srgbClr val="F8FAFC"/>
                </a:solidFill>
                <a:latin typeface="Arial"/>
              </a:rPr>
              <a:t>•  claude plugin details inventory and token cost</a:t>
            </a:r>
          </a:p>
          <a:p>
            <a:pPr algn="l">
              <a:spcAft>
                <a:spcPts val="800"/>
              </a:spcAft>
            </a:pPr>
            <a:r>
              <a:rPr sz="1900">
                <a:solidFill>
                  <a:srgbClr val="F8FAFC"/>
                </a:solidFill>
                <a:latin typeface="Arial"/>
              </a:rPr>
              <a:t>•  Namespaced skill output</a:t>
            </a:r>
          </a:p>
        </p:txBody>
      </p:sp>
      <p:sp>
        <p:nvSpPr>
          <p:cNvPr id="8" name="TextBox 7"/>
          <p:cNvSpPr txBox="1"/>
          <p:nvPr/>
        </p:nvSpPr>
        <p:spPr>
          <a:xfrm>
            <a:off x="6172200" y="1984248"/>
            <a:ext cx="5349240" cy="365760"/>
          </a:xfrm>
          <a:prstGeom prst="rect">
            <a:avLst/>
          </a:prstGeom>
          <a:noFill/>
        </p:spPr>
        <p:txBody>
          <a:bodyPr wrap="square" lIns="0" rIns="0" tIns="0" bIns="0">
            <a:spAutoFit/>
          </a:bodyPr>
          <a:lstStyle/>
          <a:p>
            <a:pPr algn="l"/>
            <a:r>
              <a:rPr sz="1500" b="1">
                <a:solidFill>
                  <a:srgbClr val="BAFF70"/>
                </a:solidFill>
                <a:latin typeface="Arial"/>
              </a:rPr>
              <a:t>WHAT THE RECORDED RUN PRODUCED</a:t>
            </a:r>
          </a:p>
        </p:txBody>
      </p:sp>
      <p:sp>
        <p:nvSpPr>
          <p:cNvPr id="9" name="Rounded Rectangle 8"/>
          <p:cNvSpPr/>
          <p:nvPr/>
        </p:nvSpPr>
        <p:spPr>
          <a:xfrm>
            <a:off x="617220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2 prompt(s) · 10 min 44 s · $0.86 · 41 tool calls</a:t>
            </a:r>
          </a:p>
          <a:p>
            <a:pPr algn="l">
              <a:spcAft>
                <a:spcPts val="800"/>
              </a:spcAft>
            </a:pPr>
            <a:r>
              <a:rPr sz="1900">
                <a:solidFill>
                  <a:srgbClr val="F8FAFC"/>
                </a:solidFill>
                <a:latin typeface="Arial"/>
              </a:rPr>
              <a:t>•  Tests seen in the run: Ran 46 tests in 2.614s</a:t>
            </a:r>
          </a:p>
          <a:p>
            <a:pPr algn="l">
              <a:spcAft>
                <a:spcPts val="800"/>
              </a:spcAft>
            </a:pPr>
            <a:r>
              <a:rPr sz="1900">
                <a:solidFill>
                  <a:srgbClr val="F8FAFC"/>
                </a:solidFill>
                <a:latin typeface="Arial"/>
              </a:rPr>
              <a:t>•  bin/bootcamp verify: 18 PASS · 1 FAIL (Plugin hook scripts executable)</a:t>
            </a:r>
          </a:p>
          <a:p>
            <a:pPr algn="l">
              <a:spcAft>
                <a:spcPts val="800"/>
              </a:spcAft>
            </a:pPr>
            <a:r>
              <a:rPr sz="1900">
                <a:solidFill>
                  <a:srgbClr val="F8FAFC"/>
                </a:solidFill>
                <a:latin typeface="Arial"/>
              </a:rPr>
              <a:t>•  Changed: ?? .claude-plugin/, ?? plugins/</a:t>
            </a:r>
          </a:p>
        </p:txBody>
      </p:sp>
      <p:sp>
        <p:nvSpPr>
          <p:cNvPr id="10" name="TextBox 9"/>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138 / 198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10 · DISCUSS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Your turn to think</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What would you put in a plugin, and what stays in CLAUDE.md?</a:t>
            </a:r>
          </a:p>
          <a:p>
            <a:pPr algn="l">
              <a:spcAft>
                <a:spcPts val="800"/>
              </a:spcAft>
            </a:pPr>
            <a:r>
              <a:rPr sz="2200">
                <a:solidFill>
                  <a:srgbClr val="F8FAFC"/>
                </a:solidFill>
                <a:latin typeface="Arial"/>
              </a:rPr>
              <a:t>•  How do you trust a plugin from another team?</a:t>
            </a:r>
          </a:p>
          <a:p>
            <a:pPr algn="l">
              <a:spcAft>
                <a:spcPts val="800"/>
              </a:spcAft>
            </a:pPr>
            <a:r>
              <a:rPr sz="2200">
                <a:solidFill>
                  <a:srgbClr val="F8FAFC"/>
                </a:solidFill>
                <a:latin typeface="Arial"/>
              </a:rPr>
              <a:t>•  When do you bump the version?</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139 / 198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10 · LAB</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Hands-on</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Package, validate with --strict, install from the local marketplace, run /engineering-quality:change-review.</a:t>
            </a:r>
          </a:p>
          <a:p>
            <a:pPr algn="l">
              <a:spcAft>
                <a:spcPts val="800"/>
              </a:spcAft>
            </a:pPr>
            <a:r>
              <a:rPr sz="2200">
                <a:solidFill>
                  <a:srgbClr val="F8FAFC"/>
                </a:solidFill>
                <a:latin typeface="Arial"/>
              </a:rPr>
              <a:t>•  Start: bin/bootcamp stage 10</a:t>
            </a:r>
          </a:p>
          <a:p>
            <a:pPr algn="l">
              <a:spcAft>
                <a:spcPts val="800"/>
              </a:spcAft>
            </a:pPr>
            <a:r>
              <a:rPr sz="2200">
                <a:solidFill>
                  <a:srgbClr val="F8FAFC"/>
                </a:solidFill>
                <a:latin typeface="Arial"/>
              </a:rPr>
              <a:t>•  Prompts: parts/10-plugin/PROMPTS.md</a:t>
            </a:r>
          </a:p>
          <a:p>
            <a:pPr algn="l">
              <a:spcAft>
                <a:spcPts val="800"/>
              </a:spcAft>
            </a:pPr>
            <a:r>
              <a:rPr sz="2200">
                <a:solidFill>
                  <a:srgbClr val="F8FAFC"/>
                </a:solidFill>
                <a:latin typeface="Arial"/>
              </a:rPr>
              <a:t>•  Check: bin/bootcamp verify</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140 / 198</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10 · CHECKPOINT</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 now have</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Validated Claude Code plugin</a:t>
            </a:r>
          </a:p>
          <a:p>
            <a:pPr algn="l">
              <a:spcAft>
                <a:spcPts val="800"/>
              </a:spcAft>
            </a:pPr>
            <a:r>
              <a:rPr sz="2200">
                <a:solidFill>
                  <a:srgbClr val="F8FAFC"/>
                </a:solidFill>
                <a:latin typeface="Arial"/>
              </a:rPr>
              <a:t>✓  Local plugin installation</a:t>
            </a:r>
          </a:p>
          <a:p>
            <a:pPr algn="l">
              <a:spcAft>
                <a:spcPts val="800"/>
              </a:spcAft>
            </a:pPr>
            <a:r>
              <a:rPr sz="2200">
                <a:solidFill>
                  <a:srgbClr val="F8FAFC"/>
                </a:solidFill>
                <a:latin typeface="Arial"/>
              </a:rPr>
              <a:t>✓  Successful namespaced invocation</a:t>
            </a:r>
          </a:p>
          <a:p>
            <a:pPr algn="l">
              <a:spcAft>
                <a:spcPts val="800"/>
              </a:spcAft>
            </a:pPr>
            <a:r>
              <a:rPr sz="2200">
                <a:solidFill>
                  <a:srgbClr val="F8FAFC"/>
                </a:solidFill>
                <a:latin typeface="Arial"/>
              </a:rPr>
              <a:t>✓  Distribution README</a:t>
            </a:r>
          </a:p>
          <a:p>
            <a:pPr algn="l">
              <a:spcAft>
                <a:spcPts val="800"/>
              </a:spcAft>
            </a:pPr>
            <a:r>
              <a:rPr sz="2200">
                <a:solidFill>
                  <a:srgbClr val="F8FAFC"/>
                </a:solidFill>
                <a:latin typeface="Arial"/>
              </a:rPr>
              <a:t>•  Behind? bin/bootcamp checkpoint 10 --force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141 / 198</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2194560"/>
            <a:ext cx="10058400" cy="365760"/>
          </a:xfrm>
          <a:prstGeom prst="rect">
            <a:avLst/>
          </a:prstGeom>
          <a:noFill/>
        </p:spPr>
        <p:txBody>
          <a:bodyPr wrap="square" lIns="0" rIns="0" tIns="0" bIns="0">
            <a:spAutoFit/>
          </a:bodyPr>
          <a:lstStyle/>
          <a:p>
            <a:pPr algn="l"/>
            <a:r>
              <a:rPr sz="1600" b="1">
                <a:solidFill>
                  <a:srgbClr val="BAFF70"/>
                </a:solidFill>
                <a:latin typeface="Arial"/>
              </a:rPr>
              <a:t>PART 11 · 14:20–14:50 · 30 MIN</a:t>
            </a:r>
          </a:p>
        </p:txBody>
      </p:sp>
      <p:sp>
        <p:nvSpPr>
          <p:cNvPr id="5" name="TextBox 4"/>
          <p:cNvSpPr txBox="1"/>
          <p:nvPr/>
        </p:nvSpPr>
        <p:spPr>
          <a:xfrm>
            <a:off x="640080" y="2697480"/>
            <a:ext cx="10789920" cy="1463040"/>
          </a:xfrm>
          <a:prstGeom prst="rect">
            <a:avLst/>
          </a:prstGeom>
          <a:noFill/>
        </p:spPr>
        <p:txBody>
          <a:bodyPr wrap="square" lIns="0" rIns="0" tIns="0" bIns="0">
            <a:spAutoFit/>
          </a:bodyPr>
          <a:lstStyle/>
          <a:p>
            <a:pPr algn="l"/>
            <a:r>
              <a:rPr sz="4600" b="1">
                <a:solidFill>
                  <a:srgbClr val="F8FAFC"/>
                </a:solidFill>
                <a:latin typeface="Arial"/>
              </a:rPr>
              <a:t>Agent Teams: ship a feature in parallel</a:t>
            </a:r>
          </a:p>
        </p:txBody>
      </p:sp>
      <p:sp>
        <p:nvSpPr>
          <p:cNvPr id="6" name="TextBox 5"/>
          <p:cNvSpPr txBox="1"/>
          <p:nvPr/>
        </p:nvSpPr>
        <p:spPr>
          <a:xfrm>
            <a:off x="640080" y="4297680"/>
            <a:ext cx="10789920" cy="914400"/>
          </a:xfrm>
          <a:prstGeom prst="rect">
            <a:avLst/>
          </a:prstGeom>
          <a:noFill/>
        </p:spPr>
        <p:txBody>
          <a:bodyPr wrap="square" lIns="0" rIns="0" tIns="0" bIns="0">
            <a:spAutoFit/>
          </a:bodyPr>
          <a:lstStyle/>
          <a:p>
            <a:pPr algn="l"/>
            <a:r>
              <a:rPr sz="2000" b="0">
                <a:solidFill>
                  <a:srgbClr val="ADBBCD"/>
                </a:solidFill>
                <a:latin typeface="Arial"/>
              </a:rPr>
              <a:t>Project 9C: Parallel Feature Sprint</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142 / 198</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11 · GOALS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you will be able to do</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Choose between subagents and Agent Teams; background sessions and agent view</a:t>
            </a:r>
          </a:p>
          <a:p>
            <a:pPr algn="l">
              <a:spcAft>
                <a:spcPts val="800"/>
              </a:spcAft>
            </a:pPr>
            <a:r>
              <a:rPr sz="2200">
                <a:solidFill>
                  <a:srgbClr val="F8FAFC"/>
                </a:solidFill>
                <a:latin typeface="Arial"/>
              </a:rPr>
              <a:t>•  Lead and teammate roles, shared task list, direct messages, plan approval</a:t>
            </a:r>
          </a:p>
          <a:p>
            <a:pPr algn="l">
              <a:spcAft>
                <a:spcPts val="800"/>
              </a:spcAft>
            </a:pPr>
            <a:r>
              <a:rPr sz="2200">
                <a:solidFill>
                  <a:srgbClr val="F8FAFC"/>
                </a:solidFill>
                <a:latin typeface="Arial"/>
              </a:rPr>
              <a:t>•  Avoid file conflicts with explicit ownership; quality gates for parallel work</a:t>
            </a:r>
          </a:p>
          <a:p>
            <a:pPr algn="l">
              <a:spcAft>
                <a:spcPts val="800"/>
              </a:spcAft>
            </a:pPr>
            <a:r>
              <a:rPr sz="2200">
                <a:solidFill>
                  <a:srgbClr val="F8FAFC"/>
                </a:solidFill>
                <a:latin typeface="Arial"/>
              </a:rPr>
              <a:t>•  Monitor token and coordination cost</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143 / 198</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SUBAGENTS VS AGENT TEAMS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Delegate a task, or run a team</a:t>
            </a:r>
          </a:p>
        </p:txBody>
      </p:sp>
      <p:sp>
        <p:nvSpPr>
          <p:cNvPr id="6" name="TextBox 5"/>
          <p:cNvSpPr txBox="1"/>
          <p:nvPr/>
        </p:nvSpPr>
        <p:spPr>
          <a:xfrm>
            <a:off x="640080" y="1984248"/>
            <a:ext cx="5349240" cy="365760"/>
          </a:xfrm>
          <a:prstGeom prst="rect">
            <a:avLst/>
          </a:prstGeom>
          <a:noFill/>
        </p:spPr>
        <p:txBody>
          <a:bodyPr wrap="square" lIns="0" rIns="0" tIns="0" bIns="0">
            <a:spAutoFit/>
          </a:bodyPr>
          <a:lstStyle/>
          <a:p>
            <a:pPr algn="l"/>
            <a:r>
              <a:rPr sz="1500" b="1">
                <a:solidFill>
                  <a:srgbClr val="FBBF24"/>
                </a:solidFill>
                <a:latin typeface="Arial"/>
              </a:rPr>
              <a:t>SUBAGENTS</a:t>
            </a:r>
          </a:p>
        </p:txBody>
      </p:sp>
      <p:sp>
        <p:nvSpPr>
          <p:cNvPr id="7" name="Rounded Rectangle 6"/>
          <p:cNvSpPr/>
          <p:nvPr/>
        </p:nvSpPr>
        <p:spPr>
          <a:xfrm>
            <a:off x="64008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Work inside one session</a:t>
            </a:r>
          </a:p>
          <a:p>
            <a:pPr algn="l">
              <a:spcAft>
                <a:spcPts val="800"/>
              </a:spcAft>
            </a:pPr>
            <a:r>
              <a:rPr sz="1900">
                <a:solidFill>
                  <a:srgbClr val="F8FAFC"/>
                </a:solidFill>
                <a:latin typeface="Arial"/>
              </a:rPr>
              <a:t>•  Report back to the main agent</a:t>
            </a:r>
          </a:p>
          <a:p>
            <a:pPr algn="l">
              <a:spcAft>
                <a:spcPts val="800"/>
              </a:spcAft>
            </a:pPr>
            <a:r>
              <a:rPr sz="1900">
                <a:solidFill>
                  <a:srgbClr val="F8FAFC"/>
                </a:solidFill>
                <a:latin typeface="Arial"/>
              </a:rPr>
              <a:t>•  Cheaper, simpler</a:t>
            </a:r>
          </a:p>
          <a:p>
            <a:pPr algn="l">
              <a:spcAft>
                <a:spcPts val="800"/>
              </a:spcAft>
            </a:pPr>
            <a:r>
              <a:rPr sz="1900">
                <a:solidFill>
                  <a:srgbClr val="F8FAFC"/>
                </a:solidFill>
                <a:latin typeface="Arial"/>
              </a:rPr>
              <a:t>•  Great for review, research, tests</a:t>
            </a:r>
          </a:p>
        </p:txBody>
      </p:sp>
      <p:sp>
        <p:nvSpPr>
          <p:cNvPr id="8" name="TextBox 7"/>
          <p:cNvSpPr txBox="1"/>
          <p:nvPr/>
        </p:nvSpPr>
        <p:spPr>
          <a:xfrm>
            <a:off x="6172200" y="1984248"/>
            <a:ext cx="5349240" cy="365760"/>
          </a:xfrm>
          <a:prstGeom prst="rect">
            <a:avLst/>
          </a:prstGeom>
          <a:noFill/>
        </p:spPr>
        <p:txBody>
          <a:bodyPr wrap="square" lIns="0" rIns="0" tIns="0" bIns="0">
            <a:spAutoFit/>
          </a:bodyPr>
          <a:lstStyle/>
          <a:p>
            <a:pPr algn="l"/>
            <a:r>
              <a:rPr sz="1500" b="1">
                <a:solidFill>
                  <a:srgbClr val="BAFF70"/>
                </a:solidFill>
                <a:latin typeface="Arial"/>
              </a:rPr>
              <a:t>AGENT TEAMS (EXPERIMENTAL)</a:t>
            </a:r>
          </a:p>
        </p:txBody>
      </p:sp>
      <p:sp>
        <p:nvSpPr>
          <p:cNvPr id="9" name="Rounded Rectangle 8"/>
          <p:cNvSpPr/>
          <p:nvPr/>
        </p:nvSpPr>
        <p:spPr>
          <a:xfrm>
            <a:off x="617220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Separate Claude instances</a:t>
            </a:r>
          </a:p>
          <a:p>
            <a:pPr algn="l">
              <a:spcAft>
                <a:spcPts val="800"/>
              </a:spcAft>
            </a:pPr>
            <a:r>
              <a:rPr sz="1900">
                <a:solidFill>
                  <a:srgbClr val="F8FAFC"/>
                </a:solidFill>
                <a:latin typeface="Arial"/>
              </a:rPr>
              <a:t>•  Shared task list + direct messages</a:t>
            </a:r>
          </a:p>
          <a:p>
            <a:pPr algn="l">
              <a:spcAft>
                <a:spcPts val="800"/>
              </a:spcAft>
            </a:pPr>
            <a:r>
              <a:rPr sz="1900">
                <a:solidFill>
                  <a:srgbClr val="F8FAFC"/>
                </a:solidFill>
                <a:latin typeface="Arial"/>
              </a:rPr>
              <a:t>•  More tokens, real parallelism</a:t>
            </a:r>
          </a:p>
          <a:p>
            <a:pPr algn="l">
              <a:spcAft>
                <a:spcPts val="800"/>
              </a:spcAft>
            </a:pPr>
            <a:r>
              <a:rPr sz="1900">
                <a:solidFill>
                  <a:srgbClr val="F8FAFC"/>
                </a:solidFill>
                <a:latin typeface="Arial"/>
              </a:rPr>
              <a:t>•  Lead coordinates; teammates own files</a:t>
            </a:r>
          </a:p>
        </p:txBody>
      </p:sp>
      <p:sp>
        <p:nvSpPr>
          <p:cNvPr id="10" name="TextBox 9"/>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144 / 198</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OWNERSHIP PREVENTS CONFLICTS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Release notes sprint</a:t>
            </a:r>
          </a:p>
        </p:txBody>
      </p:sp>
      <p:graphicFrame>
        <p:nvGraphicFramePr>
          <p:cNvPr id="6" name="Table 5"/>
          <p:cNvGraphicFramePr>
            <a:graphicFrameLocks noGrp="1"/>
          </p:cNvGraphicFramePr>
          <p:nvPr/>
        </p:nvGraphicFramePr>
        <p:xfrm>
          <a:off x="640080" y="1984248"/>
          <a:ext cx="10881359" cy="1901952"/>
        </p:xfrm>
        <a:graphic>
          <a:graphicData uri="http://schemas.openxmlformats.org/drawingml/2006/table">
            <a:tbl>
              <a:tblPr>
                <a:tableStyleId>{5C22544A-7EE6-4342-B048-85BDC9FD1C3A}</a:tableStyleId>
              </a:tblPr>
              <a:tblGrid>
                <a:gridCol w="1589412"/>
                <a:gridCol w="6479911"/>
                <a:gridCol w="2812036"/>
              </a:tblGrid>
              <a:tr h="475488">
                <a:tc>
                  <a:txBody>
                    <a:bodyPr wrap="square"/>
                    <a:lstStyle/>
                    <a:p>
                      <a:r>
                        <a:rPr sz="1600" b="1">
                          <a:solidFill>
                            <a:srgbClr val="BAFF70"/>
                          </a:solidFill>
                          <a:latin typeface="Arial"/>
                        </a:rPr>
                        <a:t>Role</a:t>
                      </a:r>
                    </a:p>
                  </a:txBody>
                  <a:tcPr marL="109728" marR="109728">
                    <a:solidFill>
                      <a:srgbClr val="22324A"/>
                    </a:solidFill>
                  </a:tcPr>
                </a:tc>
                <a:tc>
                  <a:txBody>
                    <a:bodyPr wrap="square"/>
                    <a:lstStyle/>
                    <a:p>
                      <a:r>
                        <a:rPr sz="1600" b="1">
                          <a:solidFill>
                            <a:srgbClr val="BAFF70"/>
                          </a:solidFill>
                          <a:latin typeface="Arial"/>
                        </a:rPr>
                        <a:t>Owns</a:t>
                      </a:r>
                    </a:p>
                  </a:txBody>
                  <a:tcPr marL="109728" marR="109728">
                    <a:solidFill>
                      <a:srgbClr val="22324A"/>
                    </a:solidFill>
                  </a:tcPr>
                </a:tc>
                <a:tc>
                  <a:txBody>
                    <a:bodyPr wrap="square"/>
                    <a:lstStyle/>
                    <a:p>
                      <a:r>
                        <a:rPr sz="1600" b="1">
                          <a:solidFill>
                            <a:srgbClr val="BAFF70"/>
                          </a:solidFill>
                          <a:latin typeface="Arial"/>
                        </a:rPr>
                        <a:t>Done when</a:t>
                      </a:r>
                    </a:p>
                  </a:txBody>
                  <a:tcPr marL="109728" marR="109728">
                    <a:solidFill>
                      <a:srgbClr val="22324A"/>
                    </a:solidFill>
                  </a:tcPr>
                </a:tc>
              </a:tr>
              <a:tr h="475488">
                <a:tc>
                  <a:txBody>
                    <a:bodyPr wrap="square"/>
                    <a:lstStyle/>
                    <a:p>
                      <a:r>
                        <a:rPr sz="1600" b="1">
                          <a:solidFill>
                            <a:srgbClr val="F8FAFC"/>
                          </a:solidFill>
                          <a:latin typeface="Arial"/>
                        </a:rPr>
                        <a:t>Backend</a:t>
                      </a:r>
                    </a:p>
                  </a:txBody>
                  <a:tcPr marL="109728" marR="109728">
                    <a:solidFill>
                      <a:srgbClr val="1A283B"/>
                    </a:solidFill>
                  </a:tcPr>
                </a:tc>
                <a:tc>
                  <a:txBody>
                    <a:bodyPr wrap="square"/>
                    <a:lstStyle/>
                    <a:p>
                      <a:r>
                        <a:rPr sz="1600" b="0">
                          <a:solidFill>
                            <a:srgbClr val="ADBBCD"/>
                          </a:solidFill>
                          <a:latin typeface="Arial"/>
                        </a:rPr>
                        <a:t>notes_api/releases.py, route in server.py</a:t>
                      </a:r>
                    </a:p>
                  </a:txBody>
                  <a:tcPr marL="109728" marR="109728">
                    <a:solidFill>
                      <a:srgbClr val="1A283B"/>
                    </a:solidFill>
                  </a:tcPr>
                </a:tc>
                <a:tc>
                  <a:txBody>
                    <a:bodyPr wrap="square"/>
                    <a:lstStyle/>
                    <a:p>
                      <a:r>
                        <a:rPr sz="1600" b="0">
                          <a:solidFill>
                            <a:srgbClr val="ADBBCD"/>
                          </a:solidFill>
                          <a:latin typeface="Arial"/>
                        </a:rPr>
                        <a:t>Contract returned</a:t>
                      </a:r>
                    </a:p>
                  </a:txBody>
                  <a:tcPr marL="109728" marR="109728">
                    <a:solidFill>
                      <a:srgbClr val="1A283B"/>
                    </a:solidFill>
                  </a:tcPr>
                </a:tc>
              </a:tr>
              <a:tr h="475488">
                <a:tc>
                  <a:txBody>
                    <a:bodyPr wrap="square"/>
                    <a:lstStyle/>
                    <a:p>
                      <a:r>
                        <a:rPr sz="1600" b="1">
                          <a:solidFill>
                            <a:srgbClr val="F8FAFC"/>
                          </a:solidFill>
                          <a:latin typeface="Arial"/>
                        </a:rPr>
                        <a:t>Frontend</a:t>
                      </a:r>
                    </a:p>
                  </a:txBody>
                  <a:tcPr marL="109728" marR="109728">
                    <a:solidFill>
                      <a:srgbClr val="15233A"/>
                    </a:solidFill>
                  </a:tcPr>
                </a:tc>
                <a:tc>
                  <a:txBody>
                    <a:bodyPr wrap="square"/>
                    <a:lstStyle/>
                    <a:p>
                      <a:r>
                        <a:rPr sz="1600" b="0">
                          <a:solidFill>
                            <a:srgbClr val="ADBBCD"/>
                          </a:solidFill>
                          <a:latin typeface="Arial"/>
                        </a:rPr>
                        <a:t>index.html, styles.css, js/release-notes.js, main.js</a:t>
                      </a:r>
                    </a:p>
                  </a:txBody>
                  <a:tcPr marL="109728" marR="109728">
                    <a:solidFill>
                      <a:srgbClr val="15233A"/>
                    </a:solidFill>
                  </a:tcPr>
                </a:tc>
                <a:tc>
                  <a:txBody>
                    <a:bodyPr wrap="square"/>
                    <a:lstStyle/>
                    <a:p>
                      <a:r>
                        <a:rPr sz="1600" b="0">
                          <a:solidFill>
                            <a:srgbClr val="ADBBCD"/>
                          </a:solidFill>
                          <a:latin typeface="Arial"/>
                        </a:rPr>
                        <a:t>Panel + copy</a:t>
                      </a:r>
                    </a:p>
                  </a:txBody>
                  <a:tcPr marL="109728" marR="109728">
                    <a:solidFill>
                      <a:srgbClr val="15233A"/>
                    </a:solidFill>
                  </a:tcPr>
                </a:tc>
              </a:tr>
              <a:tr h="475488">
                <a:tc>
                  <a:txBody>
                    <a:bodyPr wrap="square"/>
                    <a:lstStyle/>
                    <a:p>
                      <a:r>
                        <a:rPr sz="1600" b="1">
                          <a:solidFill>
                            <a:srgbClr val="F8FAFC"/>
                          </a:solidFill>
                          <a:latin typeface="Arial"/>
                        </a:rPr>
                        <a:t>Test &amp; verify</a:t>
                      </a:r>
                    </a:p>
                  </a:txBody>
                  <a:tcPr marL="109728" marR="109728">
                    <a:solidFill>
                      <a:srgbClr val="1A283B"/>
                    </a:solidFill>
                  </a:tcPr>
                </a:tc>
                <a:tc>
                  <a:txBody>
                    <a:bodyPr wrap="square"/>
                    <a:lstStyle/>
                    <a:p>
                      <a:r>
                        <a:rPr sz="1600" b="0">
                          <a:solidFill>
                            <a:srgbClr val="ADBBCD"/>
                          </a:solidFill>
                          <a:latin typeface="Arial"/>
                        </a:rPr>
                        <a:t>tests/test_release_notes.py, dashboard tests, browser</a:t>
                      </a:r>
                    </a:p>
                  </a:txBody>
                  <a:tcPr marL="109728" marR="109728">
                    <a:solidFill>
                      <a:srgbClr val="1A283B"/>
                    </a:solidFill>
                  </a:tcPr>
                </a:tc>
                <a:tc>
                  <a:txBody>
                    <a:bodyPr wrap="square"/>
                    <a:lstStyle/>
                    <a:p>
                      <a:r>
                        <a:rPr sz="1600" b="0">
                          <a:solidFill>
                            <a:srgbClr val="ADBBCD"/>
                          </a:solidFill>
                          <a:latin typeface="Arial"/>
                        </a:rPr>
                        <a:t>Suites green + evidence</a:t>
                      </a:r>
                    </a:p>
                  </a:txBody>
                  <a:tcPr marL="109728" marR="109728">
                    <a:solidFill>
                      <a:srgbClr val="1A283B"/>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145 / 198</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RUNNING A TEAM</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Controls you actually use</a:t>
            </a:r>
          </a:p>
        </p:txBody>
      </p:sp>
      <p:graphicFrame>
        <p:nvGraphicFramePr>
          <p:cNvPr id="6" name="Table 5"/>
          <p:cNvGraphicFramePr>
            <a:graphicFrameLocks noGrp="1"/>
          </p:cNvGraphicFramePr>
          <p:nvPr/>
        </p:nvGraphicFramePr>
        <p:xfrm>
          <a:off x="640080" y="1984248"/>
          <a:ext cx="10881359" cy="3328416"/>
        </p:xfrm>
        <a:graphic>
          <a:graphicData uri="http://schemas.openxmlformats.org/drawingml/2006/table">
            <a:tbl>
              <a:tblPr>
                <a:tableStyleId>{5C22544A-7EE6-4342-B048-85BDC9FD1C3A}</a:tableStyleId>
              </a:tblPr>
              <a:tblGrid>
                <a:gridCol w="1281133"/>
                <a:gridCol w="9600226"/>
              </a:tblGrid>
              <a:tr h="475488">
                <a:tc>
                  <a:txBody>
                    <a:bodyPr wrap="square"/>
                    <a:lstStyle/>
                    <a:p>
                      <a:r>
                        <a:rPr sz="1600" b="1">
                          <a:solidFill>
                            <a:srgbClr val="BAFF70"/>
                          </a:solidFill>
                          <a:latin typeface="Arial"/>
                        </a:rPr>
                        <a:t>Control</a:t>
                      </a:r>
                    </a:p>
                  </a:txBody>
                  <a:tcPr marL="109728" marR="109728">
                    <a:solidFill>
                      <a:srgbClr val="22324A"/>
                    </a:solidFill>
                  </a:tcPr>
                </a:tc>
                <a:tc>
                  <a:txBody>
                    <a:bodyPr wrap="square"/>
                    <a:lstStyle/>
                    <a:p>
                      <a:r>
                        <a:rPr sz="1600" b="1">
                          <a:solidFill>
                            <a:srgbClr val="BAFF70"/>
                          </a:solidFill>
                          <a:latin typeface="Arial"/>
                        </a:rPr>
                        <a:t>How</a:t>
                      </a:r>
                    </a:p>
                  </a:txBody>
                  <a:tcPr marL="109728" marR="109728">
                    <a:solidFill>
                      <a:srgbClr val="22324A"/>
                    </a:solidFill>
                  </a:tcPr>
                </a:tc>
              </a:tr>
              <a:tr h="475488">
                <a:tc>
                  <a:txBody>
                    <a:bodyPr wrap="square"/>
                    <a:lstStyle/>
                    <a:p>
                      <a:r>
                        <a:rPr sz="1600" b="1">
                          <a:solidFill>
                            <a:srgbClr val="F8FAFC"/>
                          </a:solidFill>
                          <a:latin typeface="Arial"/>
                        </a:rPr>
                        <a:t>Enable</a:t>
                      </a:r>
                    </a:p>
                  </a:txBody>
                  <a:tcPr marL="109728" marR="109728">
                    <a:solidFill>
                      <a:srgbClr val="1A283B"/>
                    </a:solidFill>
                  </a:tcPr>
                </a:tc>
                <a:tc>
                  <a:txBody>
                    <a:bodyPr wrap="square"/>
                    <a:lstStyle/>
                    <a:p>
                      <a:r>
                        <a:rPr sz="1600" b="0">
                          <a:solidFill>
                            <a:srgbClr val="ADBBCD"/>
                          </a:solidFill>
                          <a:latin typeface="Arial"/>
                        </a:rPr>
                        <a:t>CLAUDE_CODE_EXPERIMENTAL_AGENT_TEAMS=1</a:t>
                      </a:r>
                    </a:p>
                  </a:txBody>
                  <a:tcPr marL="109728" marR="109728">
                    <a:solidFill>
                      <a:srgbClr val="1A283B"/>
                    </a:solidFill>
                  </a:tcPr>
                </a:tc>
              </a:tr>
              <a:tr h="475488">
                <a:tc>
                  <a:txBody>
                    <a:bodyPr wrap="square"/>
                    <a:lstStyle/>
                    <a:p>
                      <a:r>
                        <a:rPr sz="1600" b="1">
                          <a:solidFill>
                            <a:srgbClr val="F8FAFC"/>
                          </a:solidFill>
                          <a:latin typeface="Arial"/>
                        </a:rPr>
                        <a:t>Plan first</a:t>
                      </a:r>
                    </a:p>
                  </a:txBody>
                  <a:tcPr marL="109728" marR="109728">
                    <a:solidFill>
                      <a:srgbClr val="15233A"/>
                    </a:solidFill>
                  </a:tcPr>
                </a:tc>
                <a:tc>
                  <a:txBody>
                    <a:bodyPr wrap="square"/>
                    <a:lstStyle/>
                    <a:p>
                      <a:r>
                        <a:rPr sz="1600" b="0">
                          <a:solidFill>
                            <a:srgbClr val="ADBBCD"/>
                          </a:solidFill>
                          <a:latin typeface="Arial"/>
                        </a:rPr>
                        <a:t>Teammates plan read-only; the lead session auto-approves the plan (no review): read plans yourself, steer by message</a:t>
                      </a:r>
                    </a:p>
                  </a:txBody>
                  <a:tcPr marL="109728" marR="109728">
                    <a:solidFill>
                      <a:srgbClr val="15233A"/>
                    </a:solidFill>
                  </a:tcPr>
                </a:tc>
              </a:tr>
              <a:tr h="475488">
                <a:tc>
                  <a:txBody>
                    <a:bodyPr wrap="square"/>
                    <a:lstStyle/>
                    <a:p>
                      <a:r>
                        <a:rPr sz="1600" b="1">
                          <a:solidFill>
                            <a:srgbClr val="F8FAFC"/>
                          </a:solidFill>
                          <a:latin typeface="Arial"/>
                        </a:rPr>
                        <a:t>Steer</a:t>
                      </a:r>
                    </a:p>
                  </a:txBody>
                  <a:tcPr marL="109728" marR="109728">
                    <a:solidFill>
                      <a:srgbClr val="1A283B"/>
                    </a:solidFill>
                  </a:tcPr>
                </a:tc>
                <a:tc>
                  <a:txBody>
                    <a:bodyPr wrap="square"/>
                    <a:lstStyle/>
                    <a:p>
                      <a:r>
                        <a:rPr sz="1600" b="0">
                          <a:solidFill>
                            <a:srgbClr val="ADBBCD"/>
                          </a:solidFill>
                          <a:latin typeface="Arial"/>
                        </a:rPr>
                        <a:t>Message a teammate directly; Ctrl+T task list</a:t>
                      </a:r>
                    </a:p>
                  </a:txBody>
                  <a:tcPr marL="109728" marR="109728">
                    <a:solidFill>
                      <a:srgbClr val="1A283B"/>
                    </a:solidFill>
                  </a:tcPr>
                </a:tc>
              </a:tr>
              <a:tr h="475488">
                <a:tc>
                  <a:txBody>
                    <a:bodyPr wrap="square"/>
                    <a:lstStyle/>
                    <a:p>
                      <a:r>
                        <a:rPr sz="1600" b="1">
                          <a:solidFill>
                            <a:srgbClr val="F8FAFC"/>
                          </a:solidFill>
                          <a:latin typeface="Arial"/>
                        </a:rPr>
                        <a:t>Quality gates</a:t>
                      </a:r>
                    </a:p>
                  </a:txBody>
                  <a:tcPr marL="109728" marR="109728">
                    <a:solidFill>
                      <a:srgbClr val="15233A"/>
                    </a:solidFill>
                  </a:tcPr>
                </a:tc>
                <a:tc>
                  <a:txBody>
                    <a:bodyPr wrap="square"/>
                    <a:lstStyle/>
                    <a:p>
                      <a:r>
                        <a:rPr sz="1600" b="0">
                          <a:solidFill>
                            <a:srgbClr val="ADBBCD"/>
                          </a:solidFill>
                          <a:latin typeface="Arial"/>
                        </a:rPr>
                        <a:t>TaskCompleted / TeammateIdle hooks; plugin review</a:t>
                      </a:r>
                    </a:p>
                  </a:txBody>
                  <a:tcPr marL="109728" marR="109728">
                    <a:solidFill>
                      <a:srgbClr val="15233A"/>
                    </a:solidFill>
                  </a:tcPr>
                </a:tc>
              </a:tr>
              <a:tr h="475488">
                <a:tc>
                  <a:txBody>
                    <a:bodyPr wrap="square"/>
                    <a:lstStyle/>
                    <a:p>
                      <a:r>
                        <a:rPr sz="1600" b="1">
                          <a:solidFill>
                            <a:srgbClr val="F8FAFC"/>
                          </a:solidFill>
                          <a:latin typeface="Arial"/>
                        </a:rPr>
                        <a:t>Display</a:t>
                      </a:r>
                    </a:p>
                  </a:txBody>
                  <a:tcPr marL="109728" marR="109728">
                    <a:solidFill>
                      <a:srgbClr val="1A283B"/>
                    </a:solidFill>
                  </a:tcPr>
                </a:tc>
                <a:tc>
                  <a:txBody>
                    <a:bodyPr wrap="square"/>
                    <a:lstStyle/>
                    <a:p>
                      <a:r>
                        <a:rPr sz="1600" b="0">
                          <a:solidFill>
                            <a:srgbClr val="ADBBCD"/>
                          </a:solidFill>
                          <a:latin typeface="Arial"/>
                        </a:rPr>
                        <a:t>in-process (default) or --teammate-mode tmux</a:t>
                      </a:r>
                    </a:p>
                  </a:txBody>
                  <a:tcPr marL="109728" marR="109728">
                    <a:solidFill>
                      <a:srgbClr val="1A283B"/>
                    </a:solidFill>
                  </a:tcPr>
                </a:tc>
              </a:tr>
              <a:tr h="475488">
                <a:tc>
                  <a:txBody>
                    <a:bodyPr wrap="square"/>
                    <a:lstStyle/>
                    <a:p>
                      <a:r>
                        <a:rPr sz="1600" b="1">
                          <a:solidFill>
                            <a:srgbClr val="F8FAFC"/>
                          </a:solidFill>
                          <a:latin typeface="Arial"/>
                        </a:rPr>
                        <a:t>Cost</a:t>
                      </a:r>
                    </a:p>
                  </a:txBody>
                  <a:tcPr marL="109728" marR="109728">
                    <a:solidFill>
                      <a:srgbClr val="15233A"/>
                    </a:solidFill>
                  </a:tcPr>
                </a:tc>
                <a:tc>
                  <a:txBody>
                    <a:bodyPr wrap="square"/>
                    <a:lstStyle/>
                    <a:p>
                      <a:r>
                        <a:rPr sz="1600" b="0">
                          <a:solidFill>
                            <a:srgbClr val="ADBBCD"/>
                          </a:solidFill>
                          <a:latin typeface="Arial"/>
                        </a:rPr>
                        <a:t>Fewer, focused teammates; stop idle ones</a:t>
                      </a:r>
                    </a:p>
                  </a:txBody>
                  <a:tcPr marL="109728" marR="109728">
                    <a:solidFill>
                      <a:srgbClr val="15233A"/>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146 / 198</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THE INTEGRATED FEATURE</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2800" b="1">
                <a:solidFill>
                  <a:srgbClr val="F8FAFC"/>
                </a:solidFill>
                <a:latin typeface="Arial"/>
              </a:rPr>
              <a:t>Release notes, generated and copyable</a:t>
            </a:r>
          </a:p>
        </p:txBody>
      </p:sp>
      <p:pic>
        <p:nvPicPr>
          <p:cNvPr id="6" name="Picture 5" descr="crop-evidence-release-notes-desktop-1280.png"/>
          <p:cNvPicPr>
            <a:picLocks noChangeAspect="1"/>
          </p:cNvPicPr>
          <p:nvPr/>
        </p:nvPicPr>
        <p:blipFill>
          <a:blip r:embed="rId3"/>
          <a:stretch>
            <a:fillRect/>
          </a:stretch>
        </p:blipFill>
        <p:spPr>
          <a:xfrm>
            <a:off x="3297648" y="1984248"/>
            <a:ext cx="5566223" cy="4005072"/>
          </a:xfrm>
          <a:prstGeom prst="rect">
            <a:avLst/>
          </a:prstGeom>
        </p:spPr>
      </p:pic>
      <p:sp>
        <p:nvSpPr>
          <p:cNvPr id="7" name="TextBox 6"/>
          <p:cNvSpPr txBox="1"/>
          <p:nvPr/>
        </p:nvSpPr>
        <p:spPr>
          <a:xfrm>
            <a:off x="640080" y="6172200"/>
            <a:ext cx="10881360" cy="365760"/>
          </a:xfrm>
          <a:prstGeom prst="rect">
            <a:avLst/>
          </a:prstGeom>
          <a:noFill/>
        </p:spPr>
        <p:txBody>
          <a:bodyPr wrap="square" lIns="0" rIns="0" tIns="0" bIns="0">
            <a:spAutoFit/>
          </a:bodyPr>
          <a:lstStyle/>
          <a:p>
            <a:pPr algn="l"/>
            <a:r>
              <a:rPr sz="1400" b="0">
                <a:solidFill>
                  <a:srgbClr val="ADBBCD"/>
                </a:solidFill>
                <a:latin typeface="Arial"/>
              </a:rPr>
              <a:t>Reference checkpoint: 54 Python tests + 10 node tests green after integration.</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147 / 198</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11 · PROMPT 1 OF 2</a:t>
            </a:r>
          </a:p>
        </p:txBody>
      </p:sp>
      <p:sp>
        <p:nvSpPr>
          <p:cNvPr id="5" name="TextBox 4"/>
          <p:cNvSpPr txBox="1"/>
          <p:nvPr/>
        </p:nvSpPr>
        <p:spPr>
          <a:xfrm>
            <a:off x="640080" y="1280160"/>
            <a:ext cx="10881360" cy="1097280"/>
          </a:xfrm>
          <a:prstGeom prst="rect">
            <a:avLst/>
          </a:prstGeom>
          <a:noFill/>
        </p:spPr>
        <p:txBody>
          <a:bodyPr wrap="square" lIns="0" rIns="0" tIns="0" bIns="0">
            <a:spAutoFit/>
          </a:bodyPr>
          <a:lstStyle/>
          <a:p>
            <a:pPr algn="l"/>
            <a:r>
              <a:rPr sz="3000" b="1">
                <a:solidFill>
                  <a:srgbClr val="F8FAFC"/>
                </a:solidFill>
                <a:latin typeface="Arial"/>
              </a:rPr>
              <a:t>Launch the team (CLAUDE_CODE_EXPERIMENTAL_AGENT_TEAMS=1)</a:t>
            </a:r>
          </a:p>
        </p:txBody>
      </p:sp>
      <p:sp>
        <p:nvSpPr>
          <p:cNvPr id="6" name="Rounded Rectangle 5"/>
          <p:cNvSpPr/>
          <p:nvPr/>
        </p:nvSpPr>
        <p:spPr>
          <a:xfrm>
            <a:off x="640080" y="2551176"/>
            <a:ext cx="10881360" cy="3300984"/>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Read briefs/release-notes-team.md. Create an agent team with three</a:t>
            </a:r>
          </a:p>
          <a:p>
            <a:pPr algn="l">
              <a:spcAft>
                <a:spcPts val="400"/>
              </a:spcAft>
            </a:pPr>
            <a:r>
              <a:rPr sz="2000">
                <a:solidFill>
                  <a:srgbClr val="BAFF70"/>
                </a:solidFill>
                <a:latin typeface="Consolas"/>
              </a:rPr>
              <a:t>teammates: backend owner, frontend owner, and test and verification</a:t>
            </a:r>
          </a:p>
          <a:p>
            <a:pPr algn="l">
              <a:spcAft>
                <a:spcPts val="400"/>
              </a:spcAft>
            </a:pPr>
            <a:r>
              <a:rPr sz="2000">
                <a:solidFill>
                  <a:srgbClr val="BAFF70"/>
                </a:solidFill>
                <a:latin typeface="Consolas"/>
              </a:rPr>
              <a:t>owner, each restricted to the files listed in the brief. Require</a:t>
            </a:r>
          </a:p>
          <a:p>
            <a:pPr algn="l">
              <a:spcAft>
                <a:spcPts val="400"/>
              </a:spcAft>
            </a:pPr>
            <a:r>
              <a:rPr sz="2000">
                <a:solidFill>
                  <a:srgbClr val="BAFF70"/>
                </a:solidFill>
                <a:latin typeface="Consolas"/>
              </a:rPr>
              <a:t>plan approval before any teammate edits. Freeze the API contract</a:t>
            </a:r>
          </a:p>
          <a:p>
            <a:pPr algn="l">
              <a:spcAft>
                <a:spcPts val="400"/>
              </a:spcAft>
            </a:pPr>
            <a:r>
              <a:rPr sz="2000">
                <a:solidFill>
                  <a:srgbClr val="BAFF70"/>
                </a:solidFill>
                <a:latin typeface="Consolas"/>
              </a:rPr>
              <a:t>from the brief first, write the task list with dependencies to</a:t>
            </a:r>
          </a:p>
          <a:p>
            <a:pPr algn="l">
              <a:spcAft>
                <a:spcPts val="400"/>
              </a:spcAft>
            </a:pPr>
            <a:r>
              <a:rPr sz="2000">
                <a:solidFill>
                  <a:srgbClr val="BAFF70"/>
                </a:solidFill>
                <a:latin typeface="Consolas"/>
              </a:rPr>
              <a:t>docs/team-plan.md, then let the teammates work in parallel. When all</a:t>
            </a:r>
          </a:p>
          <a:p>
            <a:pPr algn="l">
              <a:spcAft>
                <a:spcPts val="400"/>
              </a:spcAft>
            </a:pPr>
            <a:r>
              <a:rPr sz="2000">
                <a:solidFill>
                  <a:srgbClr val="BAFF70"/>
                </a:solidFill>
                <a:latin typeface="Consolas"/>
              </a:rPr>
              <a:t>tasks are done, run both test suites, show the raw output, and</a:t>
            </a:r>
          </a:p>
          <a:p>
            <a:pPr algn="l">
              <a:spcAft>
                <a:spcPts val="400"/>
              </a:spcAft>
            </a:pPr>
            <a:r>
              <a:rPr sz="2000">
                <a:solidFill>
                  <a:srgbClr val="BAFF70"/>
                </a:solidFill>
                <a:latin typeface="Consolas"/>
              </a:rPr>
              <a:t>summarise what each teammate changed. Do not commit.</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parts/11-agent-team/PROMPTS.md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148 / 198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11 · PROMPT 2 OF 2</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Steer one teammate</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Message the frontend owner: the panel must show an empty-state</a:t>
            </a:r>
          </a:p>
          <a:p>
            <a:pPr algn="l">
              <a:spcAft>
                <a:spcPts val="400"/>
              </a:spcAft>
            </a:pPr>
            <a:r>
              <a:rPr sz="2000">
                <a:solidFill>
                  <a:srgbClr val="BAFF70"/>
                </a:solidFill>
                <a:latin typeface="Consolas"/>
              </a:rPr>
              <a:t>message when the release has no notes, and the Copy button must say</a:t>
            </a:r>
          </a:p>
          <a:p>
            <a:pPr algn="l">
              <a:spcAft>
                <a:spcPts val="400"/>
              </a:spcAft>
            </a:pPr>
            <a:r>
              <a:rPr sz="2000">
                <a:solidFill>
                  <a:srgbClr val="BAFF70"/>
                </a:solidFill>
                <a:latin typeface="Consolas"/>
              </a:rPr>
              <a:t>"Copied" for 1.5 seconds.</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parts/11-agent-team/PROMPTS.md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149 / 198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pic>
        <p:nvPicPr>
          <p:cNvPr id="2" name="11-agent-team.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11 · EVIDENCE, NOT CLAIMS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the run proved</a:t>
            </a:r>
          </a:p>
        </p:txBody>
      </p:sp>
      <p:sp>
        <p:nvSpPr>
          <p:cNvPr id="6" name="TextBox 5"/>
          <p:cNvSpPr txBox="1"/>
          <p:nvPr/>
        </p:nvSpPr>
        <p:spPr>
          <a:xfrm>
            <a:off x="640080" y="1984248"/>
            <a:ext cx="5349240" cy="365760"/>
          </a:xfrm>
          <a:prstGeom prst="rect">
            <a:avLst/>
          </a:prstGeom>
          <a:noFill/>
        </p:spPr>
        <p:txBody>
          <a:bodyPr wrap="square" lIns="0" rIns="0" tIns="0" bIns="0">
            <a:spAutoFit/>
          </a:bodyPr>
          <a:lstStyle/>
          <a:p>
            <a:pPr algn="l"/>
            <a:r>
              <a:rPr sz="1500" b="1">
                <a:solidFill>
                  <a:srgbClr val="FBBF24"/>
                </a:solidFill>
                <a:latin typeface="Arial"/>
              </a:rPr>
              <a:t>WHAT TO LOOK FOR</a:t>
            </a:r>
          </a:p>
        </p:txBody>
      </p:sp>
      <p:sp>
        <p:nvSpPr>
          <p:cNvPr id="7" name="Rounded Rectangle 6"/>
          <p:cNvSpPr/>
          <p:nvPr/>
        </p:nvSpPr>
        <p:spPr>
          <a:xfrm>
            <a:off x="64008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Task list with owners and dependencies</a:t>
            </a:r>
          </a:p>
          <a:p>
            <a:pPr algn="l">
              <a:spcAft>
                <a:spcPts val="800"/>
              </a:spcAft>
            </a:pPr>
            <a:r>
              <a:rPr sz="1900">
                <a:solidFill>
                  <a:srgbClr val="F8FAFC"/>
                </a:solidFill>
                <a:latin typeface="Arial"/>
              </a:rPr>
              <a:t>•  No file edited by two teammates</a:t>
            </a:r>
          </a:p>
          <a:p>
            <a:pPr algn="l">
              <a:spcAft>
                <a:spcPts val="800"/>
              </a:spcAft>
            </a:pPr>
            <a:r>
              <a:rPr sz="1900">
                <a:solidFill>
                  <a:srgbClr val="F8FAFC"/>
                </a:solidFill>
                <a:latin typeface="Arial"/>
              </a:rPr>
              <a:t>•  Both suites green after integration</a:t>
            </a:r>
          </a:p>
          <a:p>
            <a:pPr algn="l">
              <a:spcAft>
                <a:spcPts val="800"/>
              </a:spcAft>
            </a:pPr>
            <a:r>
              <a:rPr sz="1900">
                <a:solidFill>
                  <a:srgbClr val="F8FAFC"/>
                </a:solidFill>
                <a:latin typeface="Arial"/>
              </a:rPr>
              <a:t>•  /engineering-quality:change-review before acceptance</a:t>
            </a:r>
          </a:p>
          <a:p>
            <a:pPr algn="l">
              <a:spcAft>
                <a:spcPts val="800"/>
              </a:spcAft>
            </a:pPr>
            <a:r>
              <a:rPr sz="1900">
                <a:solidFill>
                  <a:srgbClr val="F8FAFC"/>
                </a:solidFill>
                <a:latin typeface="Arial"/>
              </a:rPr>
              <a:t>•  Retrospective + token cost</a:t>
            </a:r>
          </a:p>
        </p:txBody>
      </p:sp>
      <p:sp>
        <p:nvSpPr>
          <p:cNvPr id="8" name="TextBox 7"/>
          <p:cNvSpPr txBox="1"/>
          <p:nvPr/>
        </p:nvSpPr>
        <p:spPr>
          <a:xfrm>
            <a:off x="6172200" y="1984248"/>
            <a:ext cx="5349240" cy="365760"/>
          </a:xfrm>
          <a:prstGeom prst="rect">
            <a:avLst/>
          </a:prstGeom>
          <a:noFill/>
        </p:spPr>
        <p:txBody>
          <a:bodyPr wrap="square" lIns="0" rIns="0" tIns="0" bIns="0">
            <a:spAutoFit/>
          </a:bodyPr>
          <a:lstStyle/>
          <a:p>
            <a:pPr algn="l"/>
            <a:r>
              <a:rPr sz="1500" b="1">
                <a:solidFill>
                  <a:srgbClr val="BAFF70"/>
                </a:solidFill>
                <a:latin typeface="Arial"/>
              </a:rPr>
              <a:t>WHAT THE RECORDED RUN PRODUCED</a:t>
            </a:r>
          </a:p>
        </p:txBody>
      </p:sp>
      <p:sp>
        <p:nvSpPr>
          <p:cNvPr id="9" name="Rounded Rectangle 8"/>
          <p:cNvSpPr/>
          <p:nvPr/>
        </p:nvSpPr>
        <p:spPr>
          <a:xfrm>
            <a:off x="617220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2 prompt(s) · 14 min 11 s · $2.21 · 70 tool calls</a:t>
            </a:r>
          </a:p>
          <a:p>
            <a:pPr algn="l">
              <a:spcAft>
                <a:spcPts val="800"/>
              </a:spcAft>
            </a:pPr>
            <a:r>
              <a:rPr sz="1900">
                <a:solidFill>
                  <a:srgbClr val="F8FAFC"/>
                </a:solidFill>
                <a:latin typeface="Arial"/>
              </a:rPr>
              <a:t>•  Tests seen in the run: # pass 21</a:t>
            </a:r>
          </a:p>
          <a:p>
            <a:pPr algn="l">
              <a:spcAft>
                <a:spcPts val="800"/>
              </a:spcAft>
            </a:pPr>
            <a:r>
              <a:rPr sz="1900">
                <a:solidFill>
                  <a:srgbClr val="F8FAFC"/>
                </a:solidFill>
                <a:latin typeface="Arial"/>
              </a:rPr>
              <a:t>•  bin/bootcamp verify: 20 PASS · 0 FAIL</a:t>
            </a:r>
          </a:p>
          <a:p>
            <a:pPr algn="l">
              <a:spcAft>
                <a:spcPts val="800"/>
              </a:spcAft>
            </a:pPr>
            <a:r>
              <a:rPr sz="1900">
                <a:solidFill>
                  <a:srgbClr val="F8FAFC"/>
                </a:solidFill>
                <a:latin typeface="Arial"/>
              </a:rPr>
              <a:t>•  Changed: M dashboard/index.html, M dashboard/js/main.js, M dashboard/styles.css, M notes_api/server.py … (+5)</a:t>
            </a:r>
          </a:p>
        </p:txBody>
      </p:sp>
      <p:sp>
        <p:nvSpPr>
          <p:cNvPr id="10" name="TextBox 9"/>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151 / 198</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11 · DISCUSS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Your turn to think</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When is an Agent Team worth the extra tokens?</a:t>
            </a:r>
          </a:p>
          <a:p>
            <a:pPr algn="l">
              <a:spcAft>
                <a:spcPts val="800"/>
              </a:spcAft>
            </a:pPr>
            <a:r>
              <a:rPr sz="2200">
                <a:solidFill>
                  <a:srgbClr val="F8FAFC"/>
                </a:solidFill>
                <a:latin typeface="Arial"/>
              </a:rPr>
              <a:t>•  What made parallel work safe here?</a:t>
            </a:r>
          </a:p>
          <a:p>
            <a:pPr algn="l">
              <a:spcAft>
                <a:spcPts val="800"/>
              </a:spcAft>
            </a:pPr>
            <a:r>
              <a:rPr sz="2200">
                <a:solidFill>
                  <a:srgbClr val="F8FAFC"/>
                </a:solidFill>
                <a:latin typeface="Arial"/>
              </a:rPr>
              <a:t>•  What would you change in the plan approval step?</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152 / 198</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11 · LAB</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Hands-on</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Watch the instructor's team, steer one teammate, then review the integrated diff with the plugin. No access? Use the transcript, task board and checkpoint in parts/11.</a:t>
            </a:r>
          </a:p>
          <a:p>
            <a:pPr algn="l">
              <a:spcAft>
                <a:spcPts val="800"/>
              </a:spcAft>
            </a:pPr>
            <a:r>
              <a:rPr sz="2200">
                <a:solidFill>
                  <a:srgbClr val="F8FAFC"/>
                </a:solidFill>
                <a:latin typeface="Arial"/>
              </a:rPr>
              <a:t>•  Start: bin/bootcamp stage 11</a:t>
            </a:r>
          </a:p>
          <a:p>
            <a:pPr algn="l">
              <a:spcAft>
                <a:spcPts val="800"/>
              </a:spcAft>
            </a:pPr>
            <a:r>
              <a:rPr sz="2200">
                <a:solidFill>
                  <a:srgbClr val="F8FAFC"/>
                </a:solidFill>
                <a:latin typeface="Arial"/>
              </a:rPr>
              <a:t>•  Prompts: parts/11-agent-team/PROMPTS.md</a:t>
            </a:r>
          </a:p>
          <a:p>
            <a:pPr algn="l">
              <a:spcAft>
                <a:spcPts val="800"/>
              </a:spcAft>
            </a:pPr>
            <a:r>
              <a:rPr sz="2200">
                <a:solidFill>
                  <a:srgbClr val="F8FAFC"/>
                </a:solidFill>
                <a:latin typeface="Arial"/>
              </a:rPr>
              <a:t>•  Check: bin/bootcamp verify</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153 / 198</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11 · CHECKPOINT</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 now have</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Parallel task plan</a:t>
            </a:r>
          </a:p>
          <a:p>
            <a:pPr algn="l">
              <a:spcAft>
                <a:spcPts val="800"/>
              </a:spcAft>
            </a:pPr>
            <a:r>
              <a:rPr sz="2200">
                <a:solidFill>
                  <a:srgbClr val="F8FAFC"/>
                </a:solidFill>
                <a:latin typeface="Arial"/>
              </a:rPr>
              <a:t>✓  Explicit role and file ownership</a:t>
            </a:r>
          </a:p>
          <a:p>
            <a:pPr algn="l">
              <a:spcAft>
                <a:spcPts val="800"/>
              </a:spcAft>
            </a:pPr>
            <a:r>
              <a:rPr sz="2200">
                <a:solidFill>
                  <a:srgbClr val="F8FAFC"/>
                </a:solidFill>
                <a:latin typeface="Arial"/>
              </a:rPr>
              <a:t>✓  Integrated feature</a:t>
            </a:r>
          </a:p>
          <a:p>
            <a:pPr algn="l">
              <a:spcAft>
                <a:spcPts val="800"/>
              </a:spcAft>
            </a:pPr>
            <a:r>
              <a:rPr sz="2200">
                <a:solidFill>
                  <a:srgbClr val="F8FAFC"/>
                </a:solidFill>
                <a:latin typeface="Arial"/>
              </a:rPr>
              <a:t>✓  Passing tests</a:t>
            </a:r>
          </a:p>
          <a:p>
            <a:pPr algn="l">
              <a:spcAft>
                <a:spcPts val="800"/>
              </a:spcAft>
            </a:pPr>
            <a:r>
              <a:rPr sz="2200">
                <a:solidFill>
                  <a:srgbClr val="F8FAFC"/>
                </a:solidFill>
                <a:latin typeface="Arial"/>
              </a:rPr>
              <a:t>✓  Team review and retrospective</a:t>
            </a:r>
          </a:p>
          <a:p>
            <a:pPr algn="l">
              <a:spcAft>
                <a:spcPts val="800"/>
              </a:spcAft>
            </a:pPr>
            <a:r>
              <a:rPr sz="2200">
                <a:solidFill>
                  <a:srgbClr val="F8FAFC"/>
                </a:solidFill>
                <a:latin typeface="Arial"/>
              </a:rPr>
              <a:t>✓  Documented coordination risks</a:t>
            </a:r>
          </a:p>
          <a:p>
            <a:pPr algn="l">
              <a:spcAft>
                <a:spcPts val="800"/>
              </a:spcAft>
            </a:pPr>
            <a:r>
              <a:rPr sz="2200">
                <a:solidFill>
                  <a:srgbClr val="F8FAFC"/>
                </a:solidFill>
                <a:latin typeface="Arial"/>
              </a:rPr>
              <a:t>•  Behind? bin/bootcamp checkpoint 11 --force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154 / 198</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2194560"/>
            <a:ext cx="10058400" cy="365760"/>
          </a:xfrm>
          <a:prstGeom prst="rect">
            <a:avLst/>
          </a:prstGeom>
          <a:noFill/>
        </p:spPr>
        <p:txBody>
          <a:bodyPr wrap="square" lIns="0" rIns="0" tIns="0" bIns="0">
            <a:spAutoFit/>
          </a:bodyPr>
          <a:lstStyle/>
          <a:p>
            <a:pPr algn="l"/>
            <a:r>
              <a:rPr sz="1600" b="1">
                <a:solidFill>
                  <a:srgbClr val="BAFF70"/>
                </a:solidFill>
                <a:latin typeface="Arial"/>
              </a:rPr>
              <a:t>14:50–15:00</a:t>
            </a:r>
          </a:p>
        </p:txBody>
      </p:sp>
      <p:sp>
        <p:nvSpPr>
          <p:cNvPr id="5" name="TextBox 4"/>
          <p:cNvSpPr txBox="1"/>
          <p:nvPr/>
        </p:nvSpPr>
        <p:spPr>
          <a:xfrm>
            <a:off x="640080" y="2697480"/>
            <a:ext cx="10789920" cy="1463040"/>
          </a:xfrm>
          <a:prstGeom prst="rect">
            <a:avLst/>
          </a:prstGeom>
          <a:noFill/>
        </p:spPr>
        <p:txBody>
          <a:bodyPr wrap="square" lIns="0" rIns="0" tIns="0" bIns="0">
            <a:spAutoFit/>
          </a:bodyPr>
          <a:lstStyle/>
          <a:p>
            <a:pPr algn="l"/>
            <a:r>
              <a:rPr sz="4600" b="1">
                <a:solidFill>
                  <a:srgbClr val="F8FAFC"/>
                </a:solidFill>
                <a:latin typeface="Arial"/>
              </a:rPr>
              <a:t>Break · 10 minutes</a:t>
            </a:r>
          </a:p>
        </p:txBody>
      </p:sp>
      <p:sp>
        <p:nvSpPr>
          <p:cNvPr id="6" name="TextBox 5"/>
          <p:cNvSpPr txBox="1"/>
          <p:nvPr/>
        </p:nvSpPr>
        <p:spPr>
          <a:xfrm>
            <a:off x="640080" y="4297680"/>
            <a:ext cx="10789920" cy="914400"/>
          </a:xfrm>
          <a:prstGeom prst="rect">
            <a:avLst/>
          </a:prstGeom>
          <a:noFill/>
        </p:spPr>
        <p:txBody>
          <a:bodyPr wrap="square" lIns="0" rIns="0" tIns="0" bIns="0">
            <a:spAutoFit/>
          </a:bodyPr>
          <a:lstStyle/>
          <a:p>
            <a:pPr algn="l"/>
            <a:r>
              <a:rPr sz="2000" b="0">
                <a:solidFill>
                  <a:srgbClr val="ADBBCD"/>
                </a:solidFill>
                <a:latin typeface="Arial"/>
              </a:rPr>
              <a:t>Behind? bin/bootcamp checkpoint 11 --force  ·  next: Part 12</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155 / 198</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2194560"/>
            <a:ext cx="10058400" cy="365760"/>
          </a:xfrm>
          <a:prstGeom prst="rect">
            <a:avLst/>
          </a:prstGeom>
          <a:noFill/>
        </p:spPr>
        <p:txBody>
          <a:bodyPr wrap="square" lIns="0" rIns="0" tIns="0" bIns="0">
            <a:spAutoFit/>
          </a:bodyPr>
          <a:lstStyle/>
          <a:p>
            <a:pPr algn="l"/>
            <a:r>
              <a:rPr sz="1600" b="1">
                <a:solidFill>
                  <a:srgbClr val="BAFF70"/>
                </a:solidFill>
                <a:latin typeface="Arial"/>
              </a:rPr>
              <a:t>PART 12 · 15:00–15:25 · 25 MIN</a:t>
            </a:r>
          </a:p>
        </p:txBody>
      </p:sp>
      <p:sp>
        <p:nvSpPr>
          <p:cNvPr id="5" name="TextBox 4"/>
          <p:cNvSpPr txBox="1"/>
          <p:nvPr/>
        </p:nvSpPr>
        <p:spPr>
          <a:xfrm>
            <a:off x="640080" y="2697480"/>
            <a:ext cx="10789920" cy="1463040"/>
          </a:xfrm>
          <a:prstGeom prst="rect">
            <a:avLst/>
          </a:prstGeom>
          <a:noFill/>
        </p:spPr>
        <p:txBody>
          <a:bodyPr wrap="square" lIns="0" rIns="0" tIns="0" bIns="0">
            <a:spAutoFit/>
          </a:bodyPr>
          <a:lstStyle/>
          <a:p>
            <a:pPr algn="l"/>
            <a:r>
              <a:rPr sz="4600" b="1">
                <a:solidFill>
                  <a:srgbClr val="F8FAFC"/>
                </a:solidFill>
                <a:latin typeface="Arial"/>
              </a:rPr>
              <a:t>Production readiness, security and code review</a:t>
            </a:r>
          </a:p>
        </p:txBody>
      </p:sp>
      <p:sp>
        <p:nvSpPr>
          <p:cNvPr id="6" name="TextBox 5"/>
          <p:cNvSpPr txBox="1"/>
          <p:nvPr/>
        </p:nvSpPr>
        <p:spPr>
          <a:xfrm>
            <a:off x="640080" y="4297680"/>
            <a:ext cx="10789920" cy="914400"/>
          </a:xfrm>
          <a:prstGeom prst="rect">
            <a:avLst/>
          </a:prstGeom>
          <a:noFill/>
        </p:spPr>
        <p:txBody>
          <a:bodyPr wrap="square" lIns="0" rIns="0" tIns="0" bIns="0">
            <a:spAutoFit/>
          </a:bodyPr>
          <a:lstStyle/>
          <a:p>
            <a:pPr algn="l"/>
            <a:r>
              <a:rPr sz="2000" b="0">
                <a:solidFill>
                  <a:srgbClr val="ADBBCD"/>
                </a:solidFill>
                <a:latin typeface="Arial"/>
              </a:rPr>
              <a:t>Project 10A: Production Readiness Review</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156 / 198</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12 · GOALS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you will be able to do</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Prototype versus production expectations</a:t>
            </a:r>
          </a:p>
          <a:p>
            <a:pPr algn="l">
              <a:spcAft>
                <a:spcPts val="800"/>
              </a:spcAft>
            </a:pPr>
            <a:r>
              <a:rPr sz="2200">
                <a:solidFill>
                  <a:srgbClr val="F8FAFC"/>
                </a:solidFill>
                <a:latin typeface="Arial"/>
              </a:rPr>
              <a:t>•  Review dependencies, secrets, input validation, authN/authZ, permissions, errors, performance, rollback</a:t>
            </a:r>
          </a:p>
          <a:p>
            <a:pPr algn="l">
              <a:spcAft>
                <a:spcPts val="800"/>
              </a:spcAft>
            </a:pPr>
            <a:r>
              <a:rPr sz="2200">
                <a:solidFill>
                  <a:srgbClr val="F8FAFC"/>
                </a:solidFill>
                <a:latin typeface="Arial"/>
              </a:rPr>
              <a:t>•  Use /security-review, /code-review and ultrareview (/code-review ultra)</a:t>
            </a:r>
          </a:p>
          <a:p>
            <a:pPr algn="l">
              <a:spcAft>
                <a:spcPts val="800"/>
              </a:spcAft>
            </a:pPr>
            <a:r>
              <a:rPr sz="2200">
                <a:solidFill>
                  <a:srgbClr val="F8FAFC"/>
                </a:solidFill>
                <a:latin typeface="Arial"/>
              </a:rPr>
              <a:t>•  Separate verified findings from speculative concerns; prioritise by severity, effort and impact</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157 / 198</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PROTOTYPE VS PRODUCTION</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The bar moves</a:t>
            </a:r>
          </a:p>
        </p:txBody>
      </p:sp>
      <p:sp>
        <p:nvSpPr>
          <p:cNvPr id="6" name="TextBox 5"/>
          <p:cNvSpPr txBox="1"/>
          <p:nvPr/>
        </p:nvSpPr>
        <p:spPr>
          <a:xfrm>
            <a:off x="640080" y="1984248"/>
            <a:ext cx="5349240" cy="365760"/>
          </a:xfrm>
          <a:prstGeom prst="rect">
            <a:avLst/>
          </a:prstGeom>
          <a:noFill/>
        </p:spPr>
        <p:txBody>
          <a:bodyPr wrap="square" lIns="0" rIns="0" tIns="0" bIns="0">
            <a:spAutoFit/>
          </a:bodyPr>
          <a:lstStyle/>
          <a:p>
            <a:pPr algn="l"/>
            <a:r>
              <a:rPr sz="1500" b="1">
                <a:solidFill>
                  <a:srgbClr val="FBBF24"/>
                </a:solidFill>
                <a:latin typeface="Arial"/>
              </a:rPr>
              <a:t>PROTOTYPE</a:t>
            </a:r>
          </a:p>
        </p:txBody>
      </p:sp>
      <p:sp>
        <p:nvSpPr>
          <p:cNvPr id="7" name="Rounded Rectangle 6"/>
          <p:cNvSpPr/>
          <p:nvPr/>
        </p:nvSpPr>
        <p:spPr>
          <a:xfrm>
            <a:off x="64008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Works on my machine</a:t>
            </a:r>
          </a:p>
          <a:p>
            <a:pPr algn="l">
              <a:spcAft>
                <a:spcPts val="800"/>
              </a:spcAft>
            </a:pPr>
            <a:r>
              <a:rPr sz="1900">
                <a:solidFill>
                  <a:srgbClr val="F8FAFC"/>
                </a:solidFill>
                <a:latin typeface="Arial"/>
              </a:rPr>
              <a:t>•  Happy path</a:t>
            </a:r>
          </a:p>
          <a:p>
            <a:pPr algn="l">
              <a:spcAft>
                <a:spcPts val="800"/>
              </a:spcAft>
            </a:pPr>
            <a:r>
              <a:rPr sz="1900">
                <a:solidFill>
                  <a:srgbClr val="F8FAFC"/>
                </a:solidFill>
                <a:latin typeface="Arial"/>
              </a:rPr>
              <a:t>•  Trusted users</a:t>
            </a:r>
          </a:p>
          <a:p>
            <a:pPr algn="l">
              <a:spcAft>
                <a:spcPts val="800"/>
              </a:spcAft>
            </a:pPr>
            <a:r>
              <a:rPr sz="1900">
                <a:solidFill>
                  <a:srgbClr val="F8FAFC"/>
                </a:solidFill>
                <a:latin typeface="Arial"/>
              </a:rPr>
              <a:t>•  Restart fixes it</a:t>
            </a:r>
          </a:p>
        </p:txBody>
      </p:sp>
      <p:sp>
        <p:nvSpPr>
          <p:cNvPr id="8" name="TextBox 7"/>
          <p:cNvSpPr txBox="1"/>
          <p:nvPr/>
        </p:nvSpPr>
        <p:spPr>
          <a:xfrm>
            <a:off x="6172200" y="1984248"/>
            <a:ext cx="5349240" cy="365760"/>
          </a:xfrm>
          <a:prstGeom prst="rect">
            <a:avLst/>
          </a:prstGeom>
          <a:noFill/>
        </p:spPr>
        <p:txBody>
          <a:bodyPr wrap="square" lIns="0" rIns="0" tIns="0" bIns="0">
            <a:spAutoFit/>
          </a:bodyPr>
          <a:lstStyle/>
          <a:p>
            <a:pPr algn="l"/>
            <a:r>
              <a:rPr sz="1500" b="1">
                <a:solidFill>
                  <a:srgbClr val="BAFF70"/>
                </a:solidFill>
                <a:latin typeface="Arial"/>
              </a:rPr>
              <a:t>PRODUCTION</a:t>
            </a:r>
          </a:p>
        </p:txBody>
      </p:sp>
      <p:sp>
        <p:nvSpPr>
          <p:cNvPr id="9" name="Rounded Rectangle 8"/>
          <p:cNvSpPr/>
          <p:nvPr/>
        </p:nvSpPr>
        <p:spPr>
          <a:xfrm>
            <a:off x="617220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Secrets, inputs, authN/authZ</a:t>
            </a:r>
          </a:p>
          <a:p>
            <a:pPr algn="l">
              <a:spcAft>
                <a:spcPts val="800"/>
              </a:spcAft>
            </a:pPr>
            <a:r>
              <a:rPr sz="1900">
                <a:solidFill>
                  <a:srgbClr val="F8FAFC"/>
                </a:solidFill>
                <a:latin typeface="Arial"/>
              </a:rPr>
              <a:t>•  Errors and limits</a:t>
            </a:r>
          </a:p>
          <a:p>
            <a:pPr algn="l">
              <a:spcAft>
                <a:spcPts val="800"/>
              </a:spcAft>
            </a:pPr>
            <a:r>
              <a:rPr sz="1900">
                <a:solidFill>
                  <a:srgbClr val="F8FAFC"/>
                </a:solidFill>
                <a:latin typeface="Arial"/>
              </a:rPr>
              <a:t>•  Untrusted network</a:t>
            </a:r>
          </a:p>
          <a:p>
            <a:pPr algn="l">
              <a:spcAft>
                <a:spcPts val="800"/>
              </a:spcAft>
            </a:pPr>
            <a:r>
              <a:rPr sz="1900">
                <a:solidFill>
                  <a:srgbClr val="F8FAFC"/>
                </a:solidFill>
                <a:latin typeface="Arial"/>
              </a:rPr>
              <a:t>•  Rollback and observability</a:t>
            </a:r>
          </a:p>
        </p:txBody>
      </p:sp>
      <p:sp>
        <p:nvSpPr>
          <p:cNvPr id="10" name="TextBox 9"/>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158 / 198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VERIFIED FINDINGS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Every finding has evidence</a:t>
            </a:r>
          </a:p>
        </p:txBody>
      </p:sp>
      <p:graphicFrame>
        <p:nvGraphicFramePr>
          <p:cNvPr id="6" name="Table 5"/>
          <p:cNvGraphicFramePr>
            <a:graphicFrameLocks noGrp="1"/>
          </p:cNvGraphicFramePr>
          <p:nvPr/>
        </p:nvGraphicFramePr>
        <p:xfrm>
          <a:off x="640080" y="1984248"/>
          <a:ext cx="10881358" cy="2377440"/>
        </p:xfrm>
        <a:graphic>
          <a:graphicData uri="http://schemas.openxmlformats.org/drawingml/2006/table">
            <a:tbl>
              <a:tblPr>
                <a:tableStyleId>{5C22544A-7EE6-4342-B048-85BDC9FD1C3A}</a:tableStyleId>
              </a:tblPr>
              <a:tblGrid>
                <a:gridCol w="1287684"/>
                <a:gridCol w="3434772"/>
                <a:gridCol w="6158902"/>
              </a:tblGrid>
              <a:tr h="475488">
                <a:tc>
                  <a:txBody>
                    <a:bodyPr wrap="square"/>
                    <a:lstStyle/>
                    <a:p>
                      <a:r>
                        <a:rPr sz="1600" b="1">
                          <a:solidFill>
                            <a:srgbClr val="BAFF70"/>
                          </a:solidFill>
                          <a:latin typeface="Arial"/>
                        </a:rPr>
                        <a:t>Sev</a:t>
                      </a:r>
                    </a:p>
                  </a:txBody>
                  <a:tcPr marL="109728" marR="109728">
                    <a:solidFill>
                      <a:srgbClr val="22324A"/>
                    </a:solidFill>
                  </a:tcPr>
                </a:tc>
                <a:tc>
                  <a:txBody>
                    <a:bodyPr wrap="square"/>
                    <a:lstStyle/>
                    <a:p>
                      <a:r>
                        <a:rPr sz="1600" b="1">
                          <a:solidFill>
                            <a:srgbClr val="BAFF70"/>
                          </a:solidFill>
                          <a:latin typeface="Arial"/>
                        </a:rPr>
                        <a:t>Finding</a:t>
                      </a:r>
                    </a:p>
                  </a:txBody>
                  <a:tcPr marL="109728" marR="109728">
                    <a:solidFill>
                      <a:srgbClr val="22324A"/>
                    </a:solidFill>
                  </a:tcPr>
                </a:tc>
                <a:tc>
                  <a:txBody>
                    <a:bodyPr wrap="square"/>
                    <a:lstStyle/>
                    <a:p>
                      <a:r>
                        <a:rPr sz="1600" b="1">
                          <a:solidFill>
                            <a:srgbClr val="BAFF70"/>
                          </a:solidFill>
                          <a:latin typeface="Arial"/>
                        </a:rPr>
                        <a:t>Evidence</a:t>
                      </a:r>
                    </a:p>
                  </a:txBody>
                  <a:tcPr marL="109728" marR="109728">
                    <a:solidFill>
                      <a:srgbClr val="22324A"/>
                    </a:solidFill>
                  </a:tcPr>
                </a:tc>
              </a:tr>
              <a:tr h="475488">
                <a:tc>
                  <a:txBody>
                    <a:bodyPr wrap="square"/>
                    <a:lstStyle/>
                    <a:p>
                      <a:r>
                        <a:rPr sz="1600" b="1">
                          <a:solidFill>
                            <a:srgbClr val="F8FAFC"/>
                          </a:solidFill>
                          <a:latin typeface="Arial"/>
                        </a:rPr>
                        <a:t>High</a:t>
                      </a:r>
                    </a:p>
                  </a:txBody>
                  <a:tcPr marL="109728" marR="109728">
                    <a:solidFill>
                      <a:srgbClr val="1A283B"/>
                    </a:solidFill>
                  </a:tcPr>
                </a:tc>
                <a:tc>
                  <a:txBody>
                    <a:bodyPr wrap="square"/>
                    <a:lstStyle/>
                    <a:p>
                      <a:r>
                        <a:rPr sz="1600" b="0">
                          <a:solidFill>
                            <a:srgbClr val="ADBBCD"/>
                          </a:solidFill>
                          <a:latin typeface="Arial"/>
                        </a:rPr>
                        <a:t>Stored XSS in note bodies</a:t>
                      </a:r>
                    </a:p>
                  </a:txBody>
                  <a:tcPr marL="109728" marR="109728">
                    <a:solidFill>
                      <a:srgbClr val="1A283B"/>
                    </a:solidFill>
                  </a:tcPr>
                </a:tc>
                <a:tc>
                  <a:txBody>
                    <a:bodyPr wrap="square"/>
                    <a:lstStyle/>
                    <a:p>
                      <a:r>
                        <a:rPr sz="1600" b="0">
                          <a:solidFill>
                            <a:srgbClr val="ADBBCD"/>
                          </a:solidFill>
                          <a:latin typeface="Arial"/>
                        </a:rPr>
                        <a:t>render.js:46 · formatBody('&lt;img onerror&gt;') unchanged</a:t>
                      </a:r>
                    </a:p>
                  </a:txBody>
                  <a:tcPr marL="109728" marR="109728">
                    <a:solidFill>
                      <a:srgbClr val="1A283B"/>
                    </a:solidFill>
                  </a:tcPr>
                </a:tc>
              </a:tr>
              <a:tr h="475488">
                <a:tc>
                  <a:txBody>
                    <a:bodyPr wrap="square"/>
                    <a:lstStyle/>
                    <a:p>
                      <a:r>
                        <a:rPr sz="1600" b="1">
                          <a:solidFill>
                            <a:srgbClr val="F8FAFC"/>
                          </a:solidFill>
                          <a:latin typeface="Arial"/>
                        </a:rPr>
                        <a:t>High</a:t>
                      </a:r>
                    </a:p>
                  </a:txBody>
                  <a:tcPr marL="109728" marR="109728">
                    <a:solidFill>
                      <a:srgbClr val="15233A"/>
                    </a:solidFill>
                  </a:tcPr>
                </a:tc>
                <a:tc>
                  <a:txBody>
                    <a:bodyPr wrap="square"/>
                    <a:lstStyle/>
                    <a:p>
                      <a:r>
                        <a:rPr sz="1600" b="0">
                          <a:solidFill>
                            <a:srgbClr val="ADBBCD"/>
                          </a:solidFill>
                          <a:latin typeface="Arial"/>
                        </a:rPr>
                        <a:t>No auth, bind 0.0.0.0, CORS *</a:t>
                      </a:r>
                    </a:p>
                  </a:txBody>
                  <a:tcPr marL="109728" marR="109728">
                    <a:solidFill>
                      <a:srgbClr val="15233A"/>
                    </a:solidFill>
                  </a:tcPr>
                </a:tc>
                <a:tc>
                  <a:txBody>
                    <a:bodyPr wrap="square"/>
                    <a:lstStyle/>
                    <a:p>
                      <a:r>
                        <a:rPr sz="1600" b="0">
                          <a:solidFill>
                            <a:srgbClr val="ADBBCD"/>
                          </a:solidFill>
                          <a:latin typeface="Arial"/>
                        </a:rPr>
                        <a:t>server.py:128, :37 · probe output</a:t>
                      </a:r>
                    </a:p>
                  </a:txBody>
                  <a:tcPr marL="109728" marR="109728">
                    <a:solidFill>
                      <a:srgbClr val="15233A"/>
                    </a:solidFill>
                  </a:tcPr>
                </a:tc>
              </a:tr>
              <a:tr h="475488">
                <a:tc>
                  <a:txBody>
                    <a:bodyPr wrap="square"/>
                    <a:lstStyle/>
                    <a:p>
                      <a:r>
                        <a:rPr sz="1600" b="1">
                          <a:solidFill>
                            <a:srgbClr val="F8FAFC"/>
                          </a:solidFill>
                          <a:latin typeface="Arial"/>
                        </a:rPr>
                        <a:t>Medium</a:t>
                      </a:r>
                    </a:p>
                  </a:txBody>
                  <a:tcPr marL="109728" marR="109728">
                    <a:solidFill>
                      <a:srgbClr val="1A283B"/>
                    </a:solidFill>
                  </a:tcPr>
                </a:tc>
                <a:tc>
                  <a:txBody>
                    <a:bodyPr wrap="square"/>
                    <a:lstStyle/>
                    <a:p>
                      <a:r>
                        <a:rPr sz="1600" b="0">
                          <a:solidFill>
                            <a:srgbClr val="ADBBCD"/>
                          </a:solidFill>
                          <a:latin typeface="Arial"/>
                        </a:rPr>
                        <a:t>Unbounded request body</a:t>
                      </a:r>
                    </a:p>
                  </a:txBody>
                  <a:tcPr marL="109728" marR="109728">
                    <a:solidFill>
                      <a:srgbClr val="1A283B"/>
                    </a:solidFill>
                  </a:tcPr>
                </a:tc>
                <a:tc>
                  <a:txBody>
                    <a:bodyPr wrap="square"/>
                    <a:lstStyle/>
                    <a:p>
                      <a:r>
                        <a:rPr sz="1600" b="0">
                          <a:solidFill>
                            <a:srgbClr val="ADBBCD"/>
                          </a:solidFill>
                          <a:latin typeface="Arial"/>
                        </a:rPr>
                        <a:t>server.py:64 · 5 MB header blocks a worker</a:t>
                      </a:r>
                    </a:p>
                  </a:txBody>
                  <a:tcPr marL="109728" marR="109728">
                    <a:solidFill>
                      <a:srgbClr val="1A283B"/>
                    </a:solidFill>
                  </a:tcPr>
                </a:tc>
              </a:tr>
              <a:tr h="475488">
                <a:tc>
                  <a:txBody>
                    <a:bodyPr wrap="square"/>
                    <a:lstStyle/>
                    <a:p>
                      <a:r>
                        <a:rPr sz="1600" b="1">
                          <a:solidFill>
                            <a:srgbClr val="F8FAFC"/>
                          </a:solidFill>
                          <a:latin typeface="Arial"/>
                        </a:rPr>
                        <a:t>Low</a:t>
                      </a:r>
                    </a:p>
                  </a:txBody>
                  <a:tcPr marL="109728" marR="109728">
                    <a:solidFill>
                      <a:srgbClr val="15233A"/>
                    </a:solidFill>
                  </a:tcPr>
                </a:tc>
                <a:tc>
                  <a:txBody>
                    <a:bodyPr wrap="square"/>
                    <a:lstStyle/>
                    <a:p>
                      <a:r>
                        <a:rPr sz="1600" b="0">
                          <a:solidFill>
                            <a:srgbClr val="ADBBCD"/>
                          </a:solidFill>
                          <a:latin typeface="Arial"/>
                        </a:rPr>
                        <a:t>Exception details leaked</a:t>
                      </a:r>
                    </a:p>
                  </a:txBody>
                  <a:tcPr marL="109728" marR="109728">
                    <a:solidFill>
                      <a:srgbClr val="15233A"/>
                    </a:solidFill>
                  </a:tcPr>
                </a:tc>
                <a:tc>
                  <a:txBody>
                    <a:bodyPr wrap="square"/>
                    <a:lstStyle/>
                    <a:p>
                      <a:r>
                        <a:rPr sz="1600" b="0">
                          <a:solidFill>
                            <a:srgbClr val="ADBBCD"/>
                          </a:solidFill>
                          <a:latin typeface="Arial"/>
                        </a:rPr>
                        <a:t>server.py:111 repr(exc)</a:t>
                      </a:r>
                    </a:p>
                  </a:txBody>
                  <a:tcPr marL="109728" marR="109728">
                    <a:solidFill>
                      <a:srgbClr val="15233A"/>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159 / 198</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REVIEW TOOLS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Which review, when</a:t>
            </a:r>
          </a:p>
        </p:txBody>
      </p:sp>
      <p:graphicFrame>
        <p:nvGraphicFramePr>
          <p:cNvPr id="6" name="Table 5"/>
          <p:cNvGraphicFramePr>
            <a:graphicFrameLocks noGrp="1"/>
          </p:cNvGraphicFramePr>
          <p:nvPr/>
        </p:nvGraphicFramePr>
        <p:xfrm>
          <a:off x="640080" y="1984248"/>
          <a:ext cx="10881359" cy="2852928"/>
        </p:xfrm>
        <a:graphic>
          <a:graphicData uri="http://schemas.openxmlformats.org/drawingml/2006/table">
            <a:tbl>
              <a:tblPr>
                <a:tableStyleId>{5C22544A-7EE6-4342-B048-85BDC9FD1C3A}</a:tableStyleId>
              </a:tblPr>
              <a:tblGrid>
                <a:gridCol w="4330337"/>
                <a:gridCol w="6551022"/>
              </a:tblGrid>
              <a:tr h="475488">
                <a:tc>
                  <a:txBody>
                    <a:bodyPr wrap="square"/>
                    <a:lstStyle/>
                    <a:p>
                      <a:r>
                        <a:rPr sz="1600" b="1">
                          <a:solidFill>
                            <a:srgbClr val="BAFF70"/>
                          </a:solidFill>
                          <a:latin typeface="Arial"/>
                        </a:rPr>
                        <a:t>Tool</a:t>
                      </a:r>
                    </a:p>
                  </a:txBody>
                  <a:tcPr marL="109728" marR="109728">
                    <a:solidFill>
                      <a:srgbClr val="22324A"/>
                    </a:solidFill>
                  </a:tcPr>
                </a:tc>
                <a:tc>
                  <a:txBody>
                    <a:bodyPr wrap="square"/>
                    <a:lstStyle/>
                    <a:p>
                      <a:r>
                        <a:rPr sz="1600" b="1">
                          <a:solidFill>
                            <a:srgbClr val="BAFF70"/>
                          </a:solidFill>
                          <a:latin typeface="Arial"/>
                        </a:rPr>
                        <a:t>What it is</a:t>
                      </a:r>
                    </a:p>
                  </a:txBody>
                  <a:tcPr marL="109728" marR="109728">
                    <a:solidFill>
                      <a:srgbClr val="22324A"/>
                    </a:solidFill>
                  </a:tcPr>
                </a:tc>
              </a:tr>
              <a:tr h="475488">
                <a:tc>
                  <a:txBody>
                    <a:bodyPr wrap="square"/>
                    <a:lstStyle/>
                    <a:p>
                      <a:r>
                        <a:rPr sz="1600" b="1">
                          <a:solidFill>
                            <a:srgbClr val="F8FAFC"/>
                          </a:solidFill>
                          <a:latin typeface="Arial"/>
                        </a:rPr>
                        <a:t>/security-review</a:t>
                      </a:r>
                    </a:p>
                  </a:txBody>
                  <a:tcPr marL="109728" marR="109728">
                    <a:solidFill>
                      <a:srgbClr val="1A283B"/>
                    </a:solidFill>
                  </a:tcPr>
                </a:tc>
                <a:tc>
                  <a:txBody>
                    <a:bodyPr wrap="square"/>
                    <a:lstStyle/>
                    <a:p>
                      <a:r>
                        <a:rPr sz="1600" b="0">
                          <a:solidFill>
                            <a:srgbClr val="ADBBCD"/>
                          </a:solidFill>
                          <a:latin typeface="Arial"/>
                        </a:rPr>
                        <a:t>Security review of the branch diff (needs an origin remote)</a:t>
                      </a:r>
                    </a:p>
                  </a:txBody>
                  <a:tcPr marL="109728" marR="109728">
                    <a:solidFill>
                      <a:srgbClr val="1A283B"/>
                    </a:solidFill>
                  </a:tcPr>
                </a:tc>
              </a:tr>
              <a:tr h="475488">
                <a:tc>
                  <a:txBody>
                    <a:bodyPr wrap="square"/>
                    <a:lstStyle/>
                    <a:p>
                      <a:r>
                        <a:rPr sz="1600" b="1">
                          <a:solidFill>
                            <a:srgbClr val="F8FAFC"/>
                          </a:solidFill>
                          <a:latin typeface="Arial"/>
                        </a:rPr>
                        <a:t>/code-review (alias /review)</a:t>
                      </a:r>
                    </a:p>
                  </a:txBody>
                  <a:tcPr marL="109728" marR="109728">
                    <a:solidFill>
                      <a:srgbClr val="15233A"/>
                    </a:solidFill>
                  </a:tcPr>
                </a:tc>
                <a:tc>
                  <a:txBody>
                    <a:bodyPr wrap="square"/>
                    <a:lstStyle/>
                    <a:p>
                      <a:r>
                        <a:rPr sz="1600" b="0">
                          <a:solidFill>
                            <a:srgbClr val="ADBBCD"/>
                          </a:solidFill>
                          <a:latin typeface="Arial"/>
                        </a:rPr>
                        <a:t>Local multi-agent review: low…max, --fix, --comment</a:t>
                      </a:r>
                    </a:p>
                  </a:txBody>
                  <a:tcPr marL="109728" marR="109728">
                    <a:solidFill>
                      <a:srgbClr val="15233A"/>
                    </a:solidFill>
                  </a:tcPr>
                </a:tc>
              </a:tr>
              <a:tr h="475488">
                <a:tc>
                  <a:txBody>
                    <a:bodyPr wrap="square"/>
                    <a:lstStyle/>
                    <a:p>
                      <a:r>
                        <a:rPr sz="1600" b="1">
                          <a:solidFill>
                            <a:srgbClr val="F8FAFC"/>
                          </a:solidFill>
                          <a:latin typeface="Arial"/>
                        </a:rPr>
                        <a:t>/code-review ultra · claude ultrareview</a:t>
                      </a:r>
                    </a:p>
                  </a:txBody>
                  <a:tcPr marL="109728" marR="109728">
                    <a:solidFill>
                      <a:srgbClr val="1A283B"/>
                    </a:solidFill>
                  </a:tcPr>
                </a:tc>
                <a:tc>
                  <a:txBody>
                    <a:bodyPr wrap="square"/>
                    <a:lstStyle/>
                    <a:p>
                      <a:r>
                        <a:rPr sz="1600" b="0">
                          <a:solidFill>
                            <a:srgbClr val="ADBBCD"/>
                          </a:solidFill>
                          <a:latin typeface="Arial"/>
                        </a:rPr>
                        <a:t>Cloud multi-agent deep review (claude.ai login)</a:t>
                      </a:r>
                    </a:p>
                  </a:txBody>
                  <a:tcPr marL="109728" marR="109728">
                    <a:solidFill>
                      <a:srgbClr val="1A283B"/>
                    </a:solidFill>
                  </a:tcPr>
                </a:tc>
              </a:tr>
              <a:tr h="475488">
                <a:tc>
                  <a:txBody>
                    <a:bodyPr wrap="square"/>
                    <a:lstStyle/>
                    <a:p>
                      <a:r>
                        <a:rPr sz="1600" b="1">
                          <a:solidFill>
                            <a:srgbClr val="F8FAFC"/>
                          </a:solidFill>
                          <a:latin typeface="Arial"/>
                        </a:rPr>
                        <a:t>Code Review GitHub app</a:t>
                      </a:r>
                    </a:p>
                  </a:txBody>
                  <a:tcPr marL="109728" marR="109728">
                    <a:solidFill>
                      <a:srgbClr val="15233A"/>
                    </a:solidFill>
                  </a:tcPr>
                </a:tc>
                <a:tc>
                  <a:txBody>
                    <a:bodyPr wrap="square"/>
                    <a:lstStyle/>
                    <a:p>
                      <a:r>
                        <a:rPr sz="1600" b="0">
                          <a:solidFill>
                            <a:srgbClr val="ADBBCD"/>
                          </a:solidFill>
                          <a:latin typeface="Arial"/>
                        </a:rPr>
                        <a:t>Managed PR reviews (Team/Enterprise, research preview)</a:t>
                      </a:r>
                    </a:p>
                  </a:txBody>
                  <a:tcPr marL="109728" marR="109728">
                    <a:solidFill>
                      <a:srgbClr val="15233A"/>
                    </a:solidFill>
                  </a:tcPr>
                </a:tc>
              </a:tr>
              <a:tr h="475488">
                <a:tc>
                  <a:txBody>
                    <a:bodyPr wrap="square"/>
                    <a:lstStyle/>
                    <a:p>
                      <a:r>
                        <a:rPr sz="1600" b="1">
                          <a:solidFill>
                            <a:srgbClr val="F8FAFC"/>
                          </a:solidFill>
                          <a:latin typeface="Arial"/>
                        </a:rPr>
                        <a:t>Our plugin</a:t>
                      </a:r>
                    </a:p>
                  </a:txBody>
                  <a:tcPr marL="109728" marR="109728">
                    <a:solidFill>
                      <a:srgbClr val="1A283B"/>
                    </a:solidFill>
                  </a:tcPr>
                </a:tc>
                <a:tc>
                  <a:txBody>
                    <a:bodyPr wrap="square"/>
                    <a:lstStyle/>
                    <a:p>
                      <a:r>
                        <a:rPr sz="1600" b="0">
                          <a:solidFill>
                            <a:srgbClr val="ADBBCD"/>
                          </a:solidFill>
                          <a:latin typeface="Arial"/>
                        </a:rPr>
                        <a:t>/engineering-quality:security-review + read-only reviewer</a:t>
                      </a:r>
                    </a:p>
                  </a:txBody>
                  <a:tcPr marL="109728" marR="109728">
                    <a:solidFill>
                      <a:srgbClr val="1A283B"/>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160 / 198</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1645920"/>
            <a:ext cx="10058400" cy="365760"/>
          </a:xfrm>
          <a:prstGeom prst="rect">
            <a:avLst/>
          </a:prstGeom>
          <a:noFill/>
        </p:spPr>
        <p:txBody>
          <a:bodyPr wrap="square" lIns="0" rIns="0" tIns="0" bIns="0">
            <a:spAutoFit/>
          </a:bodyPr>
          <a:lstStyle/>
          <a:p>
            <a:pPr algn="l"/>
            <a:r>
              <a:rPr sz="1400" b="1">
                <a:solidFill>
                  <a:srgbClr val="BAFF70"/>
                </a:solidFill>
                <a:latin typeface="Arial"/>
              </a:rPr>
              <a:t>THE DECISION</a:t>
            </a:r>
          </a:p>
        </p:txBody>
      </p:sp>
      <p:sp>
        <p:nvSpPr>
          <p:cNvPr id="5" name="TextBox 4"/>
          <p:cNvSpPr txBox="1"/>
          <p:nvPr/>
        </p:nvSpPr>
        <p:spPr>
          <a:xfrm>
            <a:off x="640080" y="2194560"/>
            <a:ext cx="10789920" cy="2194560"/>
          </a:xfrm>
          <a:prstGeom prst="rect">
            <a:avLst/>
          </a:prstGeom>
          <a:noFill/>
        </p:spPr>
        <p:txBody>
          <a:bodyPr wrap="square" lIns="0" rIns="0" tIns="0" bIns="0">
            <a:spAutoFit/>
          </a:bodyPr>
          <a:lstStyle/>
          <a:p>
            <a:pPr algn="l"/>
            <a:r>
              <a:rPr sz="4000" b="1">
                <a:solidFill>
                  <a:srgbClr val="F8FAFC"/>
                </a:solidFill>
                <a:latin typeface="Arial"/>
              </a:rPr>
              <a:t>Conditional go.</a:t>
            </a:r>
          </a:p>
        </p:txBody>
      </p:sp>
      <p:sp>
        <p:nvSpPr>
          <p:cNvPr id="6" name="TextBox 5"/>
          <p:cNvSpPr txBox="1"/>
          <p:nvPr/>
        </p:nvSpPr>
        <p:spPr>
          <a:xfrm>
            <a:off x="640080" y="4572000"/>
            <a:ext cx="10789920" cy="1097280"/>
          </a:xfrm>
          <a:prstGeom prst="rect">
            <a:avLst/>
          </a:prstGeom>
          <a:noFill/>
        </p:spPr>
        <p:txBody>
          <a:bodyPr wrap="square" lIns="0" rIns="0" tIns="0" bIns="0">
            <a:spAutoFit/>
          </a:bodyPr>
          <a:lstStyle/>
          <a:p>
            <a:pPr algn="l"/>
            <a:r>
              <a:rPr sz="2000" b="0">
                <a:solidFill>
                  <a:srgbClr val="ADBBCD"/>
                </a:solidFill>
                <a:latin typeface="Arial"/>
              </a:rPr>
              <a:t>Reference report: internal rollout only after the top three fixes pass verification. The recorded review said No-go for the org-wide rollout. Which would you sign?</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161 / 198</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12 · PROMPT 1 OF 1</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Production review</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Read briefs/production-review.md. Run /engineering-quality:security-</a:t>
            </a:r>
          </a:p>
          <a:p>
            <a:pPr algn="l">
              <a:spcAft>
                <a:spcPts val="400"/>
              </a:spcAft>
            </a:pPr>
            <a:r>
              <a:rPr sz="2000">
                <a:solidFill>
                  <a:srgbClr val="BAFF70"/>
                </a:solidFill>
                <a:latin typeface="Consolas"/>
              </a:rPr>
              <a:t>review on notes_api/ and dashboard/js/, then review the rest</a:t>
            </a:r>
          </a:p>
          <a:p>
            <a:pPr algn="l">
              <a:spcAft>
                <a:spcPts val="400"/>
              </a:spcAft>
            </a:pPr>
            <a:r>
              <a:rPr sz="2000">
                <a:solidFill>
                  <a:srgbClr val="BAFF70"/>
                </a:solidFill>
                <a:latin typeface="Consolas"/>
              </a:rPr>
              <a:t>yourself. Write reports/production-readiness.md with: risk summary,</a:t>
            </a:r>
          </a:p>
          <a:p>
            <a:pPr algn="l">
              <a:spcAft>
                <a:spcPts val="400"/>
              </a:spcAft>
            </a:pPr>
            <a:r>
              <a:rPr sz="2000">
                <a:solidFill>
                  <a:srgbClr val="BAFF70"/>
                </a:solidFill>
                <a:latin typeface="Consolas"/>
              </a:rPr>
              <a:t>severity-ranked findings each with evidence (file:line, config, test</a:t>
            </a:r>
          </a:p>
          <a:p>
            <a:pPr algn="l">
              <a:spcAft>
                <a:spcPts val="400"/>
              </a:spcAft>
            </a:pPr>
            <a:r>
              <a:rPr sz="2000">
                <a:solidFill>
                  <a:srgbClr val="BAFF70"/>
                </a:solidFill>
                <a:latin typeface="Consolas"/>
              </a:rPr>
              <a:t>or runtime output you actually ran), a separate list of speculative</a:t>
            </a:r>
          </a:p>
          <a:p>
            <a:pPr algn="l">
              <a:spcAft>
                <a:spcPts val="400"/>
              </a:spcAft>
            </a:pPr>
            <a:r>
              <a:rPr sz="2000">
                <a:solidFill>
                  <a:srgbClr val="BAFF70"/>
                </a:solidFill>
                <a:latin typeface="Consolas"/>
              </a:rPr>
              <a:t>concerns, top three fixes with owner and verification action, and a</a:t>
            </a:r>
          </a:p>
          <a:p>
            <a:pPr algn="l">
              <a:spcAft>
                <a:spcPts val="400"/>
              </a:spcAft>
            </a:pPr>
            <a:r>
              <a:rPr sz="2000">
                <a:solidFill>
                  <a:srgbClr val="BAFF70"/>
                </a:solidFill>
                <a:latin typeface="Consolas"/>
              </a:rPr>
              <a:t>Go / Conditional go / No-go recommendation. Do not fix anything.</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parts/12-production-readiness/PROMPTS.md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162 / 198</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pic>
        <p:nvPicPr>
          <p:cNvPr id="2" name="12-production-readiness.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12 · EVIDENCE, NOT CLAIMS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the run proved</a:t>
            </a:r>
          </a:p>
        </p:txBody>
      </p:sp>
      <p:sp>
        <p:nvSpPr>
          <p:cNvPr id="6" name="TextBox 5"/>
          <p:cNvSpPr txBox="1"/>
          <p:nvPr/>
        </p:nvSpPr>
        <p:spPr>
          <a:xfrm>
            <a:off x="640080" y="1984248"/>
            <a:ext cx="5349240" cy="365760"/>
          </a:xfrm>
          <a:prstGeom prst="rect">
            <a:avLst/>
          </a:prstGeom>
          <a:noFill/>
        </p:spPr>
        <p:txBody>
          <a:bodyPr wrap="square" lIns="0" rIns="0" tIns="0" bIns="0">
            <a:spAutoFit/>
          </a:bodyPr>
          <a:lstStyle/>
          <a:p>
            <a:pPr algn="l"/>
            <a:r>
              <a:rPr sz="1500" b="1">
                <a:solidFill>
                  <a:srgbClr val="FBBF24"/>
                </a:solidFill>
                <a:latin typeface="Arial"/>
              </a:rPr>
              <a:t>WHAT TO LOOK FOR</a:t>
            </a:r>
          </a:p>
        </p:txBody>
      </p:sp>
      <p:sp>
        <p:nvSpPr>
          <p:cNvPr id="7" name="Rounded Rectangle 6"/>
          <p:cNvSpPr/>
          <p:nvPr/>
        </p:nvSpPr>
        <p:spPr>
          <a:xfrm>
            <a:off x="64008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Stored XSS proven at runtime</a:t>
            </a:r>
          </a:p>
          <a:p>
            <a:pPr algn="l">
              <a:spcAft>
                <a:spcPts val="800"/>
              </a:spcAft>
            </a:pPr>
            <a:r>
              <a:rPr sz="1900">
                <a:solidFill>
                  <a:srgbClr val="F8FAFC"/>
                </a:solidFill>
                <a:latin typeface="Arial"/>
              </a:rPr>
              <a:t>•  Bind 0.0.0.0 + CORS * proven by the probe</a:t>
            </a:r>
          </a:p>
          <a:p>
            <a:pPr algn="l">
              <a:spcAft>
                <a:spcPts val="800"/>
              </a:spcAft>
            </a:pPr>
            <a:r>
              <a:rPr sz="1900">
                <a:solidFill>
                  <a:srgbClr val="F8FAFC"/>
                </a:solidFill>
                <a:latin typeface="Arial"/>
              </a:rPr>
              <a:t>•  Oversized request blocks a worker</a:t>
            </a:r>
          </a:p>
          <a:p>
            <a:pPr algn="l">
              <a:spcAft>
                <a:spcPts val="800"/>
              </a:spcAft>
            </a:pPr>
            <a:r>
              <a:rPr sz="1900">
                <a:solidFill>
                  <a:srgbClr val="F8FAFC"/>
                </a:solidFill>
                <a:latin typeface="Arial"/>
              </a:rPr>
              <a:t>•  Top 3 fixes with owners and verification</a:t>
            </a:r>
          </a:p>
          <a:p>
            <a:pPr algn="l">
              <a:spcAft>
                <a:spcPts val="800"/>
              </a:spcAft>
            </a:pPr>
            <a:r>
              <a:rPr sz="1900">
                <a:solidFill>
                  <a:srgbClr val="F8FAFC"/>
                </a:solidFill>
                <a:latin typeface="Arial"/>
              </a:rPr>
              <a:t>•  A Go / Conditional go / No-go decision with reasons</a:t>
            </a:r>
          </a:p>
        </p:txBody>
      </p:sp>
      <p:sp>
        <p:nvSpPr>
          <p:cNvPr id="8" name="TextBox 7"/>
          <p:cNvSpPr txBox="1"/>
          <p:nvPr/>
        </p:nvSpPr>
        <p:spPr>
          <a:xfrm>
            <a:off x="6172200" y="1984248"/>
            <a:ext cx="5349240" cy="365760"/>
          </a:xfrm>
          <a:prstGeom prst="rect">
            <a:avLst/>
          </a:prstGeom>
          <a:noFill/>
        </p:spPr>
        <p:txBody>
          <a:bodyPr wrap="square" lIns="0" rIns="0" tIns="0" bIns="0">
            <a:spAutoFit/>
          </a:bodyPr>
          <a:lstStyle/>
          <a:p>
            <a:pPr algn="l"/>
            <a:r>
              <a:rPr sz="1500" b="1">
                <a:solidFill>
                  <a:srgbClr val="BAFF70"/>
                </a:solidFill>
                <a:latin typeface="Arial"/>
              </a:rPr>
              <a:t>WHAT THE RECORDED RUN PRODUCED</a:t>
            </a:r>
          </a:p>
        </p:txBody>
      </p:sp>
      <p:sp>
        <p:nvSpPr>
          <p:cNvPr id="9" name="Rounded Rectangle 8"/>
          <p:cNvSpPr/>
          <p:nvPr/>
        </p:nvSpPr>
        <p:spPr>
          <a:xfrm>
            <a:off x="617220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1 prompt(s) · 2 min 57 s · $0.47 · 39 tool calls</a:t>
            </a:r>
          </a:p>
          <a:p>
            <a:pPr algn="l">
              <a:spcAft>
                <a:spcPts val="800"/>
              </a:spcAft>
            </a:pPr>
            <a:r>
              <a:rPr sz="1900">
                <a:solidFill>
                  <a:srgbClr val="F8FAFC"/>
                </a:solidFill>
                <a:latin typeface="Arial"/>
              </a:rPr>
              <a:t>•  Tests seen in the run: Ran 54 tests in 3.650s · # pass 10</a:t>
            </a:r>
          </a:p>
          <a:p>
            <a:pPr algn="l">
              <a:spcAft>
                <a:spcPts val="800"/>
              </a:spcAft>
            </a:pPr>
            <a:r>
              <a:rPr sz="1900">
                <a:solidFill>
                  <a:srgbClr val="F8FAFC"/>
                </a:solidFill>
                <a:latin typeface="Arial"/>
              </a:rPr>
              <a:t>•  bin/bootcamp verify: 21 PASS · 0 FAIL</a:t>
            </a:r>
          </a:p>
          <a:p>
            <a:pPr algn="l">
              <a:spcAft>
                <a:spcPts val="800"/>
              </a:spcAft>
            </a:pPr>
            <a:r>
              <a:rPr sz="1900">
                <a:solidFill>
                  <a:srgbClr val="F8FAFC"/>
                </a:solidFill>
                <a:latin typeface="Arial"/>
              </a:rPr>
              <a:t>•  Changed: ?? reports/</a:t>
            </a:r>
          </a:p>
        </p:txBody>
      </p:sp>
      <p:sp>
        <p:nvSpPr>
          <p:cNvPr id="10" name="TextBox 9"/>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164 / 198</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12 · DISCUSS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Your turn to think</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Which finding would you have missed without runtime evidence?</a:t>
            </a:r>
          </a:p>
          <a:p>
            <a:pPr algn="l">
              <a:spcAft>
                <a:spcPts val="800"/>
              </a:spcAft>
            </a:pPr>
            <a:r>
              <a:rPr sz="2200">
                <a:solidFill>
                  <a:srgbClr val="F8FAFC"/>
                </a:solidFill>
                <a:latin typeface="Arial"/>
              </a:rPr>
              <a:t>•  What turns a speculative concern into a verified finding?</a:t>
            </a:r>
          </a:p>
          <a:p>
            <a:pPr algn="l">
              <a:spcAft>
                <a:spcPts val="800"/>
              </a:spcAft>
            </a:pPr>
            <a:r>
              <a:rPr sz="2200">
                <a:solidFill>
                  <a:srgbClr val="F8FAFC"/>
                </a:solidFill>
                <a:latin typeface="Arial"/>
              </a:rPr>
              <a:t>•  Would you sign the conditional go?</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165 / 198</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12 · LAB</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Hands-on</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Run the review on your own project. Every High finding needs a command and its output.</a:t>
            </a:r>
          </a:p>
          <a:p>
            <a:pPr algn="l">
              <a:spcAft>
                <a:spcPts val="800"/>
              </a:spcAft>
            </a:pPr>
            <a:r>
              <a:rPr sz="2200">
                <a:solidFill>
                  <a:srgbClr val="F8FAFC"/>
                </a:solidFill>
                <a:latin typeface="Arial"/>
              </a:rPr>
              <a:t>•  Start: bin/bootcamp stage 12</a:t>
            </a:r>
          </a:p>
          <a:p>
            <a:pPr algn="l">
              <a:spcAft>
                <a:spcPts val="800"/>
              </a:spcAft>
            </a:pPr>
            <a:r>
              <a:rPr sz="2200">
                <a:solidFill>
                  <a:srgbClr val="F8FAFC"/>
                </a:solidFill>
                <a:latin typeface="Arial"/>
              </a:rPr>
              <a:t>•  Prompts: parts/12-production-readiness/PROMPTS.md</a:t>
            </a:r>
          </a:p>
          <a:p>
            <a:pPr algn="l">
              <a:spcAft>
                <a:spcPts val="800"/>
              </a:spcAft>
            </a:pPr>
            <a:r>
              <a:rPr sz="2200">
                <a:solidFill>
                  <a:srgbClr val="F8FAFC"/>
                </a:solidFill>
                <a:latin typeface="Arial"/>
              </a:rPr>
              <a:t>•  Check: bin/bootcamp verify</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166 / 198</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12 · CHECKPOINT</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 now have</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Security review</a:t>
            </a:r>
          </a:p>
          <a:p>
            <a:pPr algn="l">
              <a:spcAft>
                <a:spcPts val="800"/>
              </a:spcAft>
            </a:pPr>
            <a:r>
              <a:rPr sz="2200">
                <a:solidFill>
                  <a:srgbClr val="F8FAFC"/>
                </a:solidFill>
                <a:latin typeface="Arial"/>
              </a:rPr>
              <a:t>✓  Code review findings</a:t>
            </a:r>
          </a:p>
          <a:p>
            <a:pPr algn="l">
              <a:spcAft>
                <a:spcPts val="800"/>
              </a:spcAft>
            </a:pPr>
            <a:r>
              <a:rPr sz="2200">
                <a:solidFill>
                  <a:srgbClr val="F8FAFC"/>
                </a:solidFill>
                <a:latin typeface="Arial"/>
              </a:rPr>
              <a:t>✓  Top three prioritized fixes</a:t>
            </a:r>
          </a:p>
          <a:p>
            <a:pPr algn="l">
              <a:spcAft>
                <a:spcPts val="800"/>
              </a:spcAft>
            </a:pPr>
            <a:r>
              <a:rPr sz="2200">
                <a:solidFill>
                  <a:srgbClr val="F8FAFC"/>
                </a:solidFill>
                <a:latin typeface="Arial"/>
              </a:rPr>
              <a:t>✓  Named owner</a:t>
            </a:r>
          </a:p>
          <a:p>
            <a:pPr algn="l">
              <a:spcAft>
                <a:spcPts val="800"/>
              </a:spcAft>
            </a:pPr>
            <a:r>
              <a:rPr sz="2200">
                <a:solidFill>
                  <a:srgbClr val="F8FAFC"/>
                </a:solidFill>
                <a:latin typeface="Arial"/>
              </a:rPr>
              <a:t>✓  Verification plan</a:t>
            </a:r>
          </a:p>
          <a:p>
            <a:pPr algn="l">
              <a:spcAft>
                <a:spcPts val="800"/>
              </a:spcAft>
            </a:pPr>
            <a:r>
              <a:rPr sz="2200">
                <a:solidFill>
                  <a:srgbClr val="F8FAFC"/>
                </a:solidFill>
                <a:latin typeface="Arial"/>
              </a:rPr>
              <a:t>✓  Production readiness decision</a:t>
            </a:r>
          </a:p>
          <a:p>
            <a:pPr algn="l">
              <a:spcAft>
                <a:spcPts val="800"/>
              </a:spcAft>
            </a:pPr>
            <a:r>
              <a:rPr sz="2200">
                <a:solidFill>
                  <a:srgbClr val="F8FAFC"/>
                </a:solidFill>
                <a:latin typeface="Arial"/>
              </a:rPr>
              <a:t>•  Behind? bin/bootcamp checkpoint 12 --force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167 / 198</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2194560"/>
            <a:ext cx="10058400" cy="365760"/>
          </a:xfrm>
          <a:prstGeom prst="rect">
            <a:avLst/>
          </a:prstGeom>
          <a:noFill/>
        </p:spPr>
        <p:txBody>
          <a:bodyPr wrap="square" lIns="0" rIns="0" tIns="0" bIns="0">
            <a:spAutoFit/>
          </a:bodyPr>
          <a:lstStyle/>
          <a:p>
            <a:pPr algn="l"/>
            <a:r>
              <a:rPr sz="1600" b="1">
                <a:solidFill>
                  <a:srgbClr val="BAFF70"/>
                </a:solidFill>
                <a:latin typeface="Arial"/>
              </a:rPr>
              <a:t>PART 13 · 15:25–15:45 · 20 MIN</a:t>
            </a:r>
          </a:p>
        </p:txBody>
      </p:sp>
      <p:sp>
        <p:nvSpPr>
          <p:cNvPr id="5" name="TextBox 4"/>
          <p:cNvSpPr txBox="1"/>
          <p:nvPr/>
        </p:nvSpPr>
        <p:spPr>
          <a:xfrm>
            <a:off x="640080" y="2697480"/>
            <a:ext cx="10789920" cy="1463040"/>
          </a:xfrm>
          <a:prstGeom prst="rect">
            <a:avLst/>
          </a:prstGeom>
          <a:noFill/>
        </p:spPr>
        <p:txBody>
          <a:bodyPr wrap="square" lIns="0" rIns="0" tIns="0" bIns="0">
            <a:spAutoFit/>
          </a:bodyPr>
          <a:lstStyle/>
          <a:p>
            <a:pPr algn="l"/>
            <a:r>
              <a:rPr sz="4600" b="1">
                <a:solidFill>
                  <a:srgbClr val="F8FAFC"/>
                </a:solidFill>
                <a:latin typeface="Arial"/>
              </a:rPr>
              <a:t>Claude Cowork: engineering output to stakeholder update</a:t>
            </a:r>
          </a:p>
        </p:txBody>
      </p:sp>
      <p:sp>
        <p:nvSpPr>
          <p:cNvPr id="6" name="TextBox 5"/>
          <p:cNvSpPr txBox="1"/>
          <p:nvPr/>
        </p:nvSpPr>
        <p:spPr>
          <a:xfrm>
            <a:off x="640080" y="4297680"/>
            <a:ext cx="10789920" cy="914400"/>
          </a:xfrm>
          <a:prstGeom prst="rect">
            <a:avLst/>
          </a:prstGeom>
          <a:noFill/>
        </p:spPr>
        <p:txBody>
          <a:bodyPr wrap="square" lIns="0" rIns="0" tIns="0" bIns="0">
            <a:spAutoFit/>
          </a:bodyPr>
          <a:lstStyle/>
          <a:p>
            <a:pPr algn="l"/>
            <a:r>
              <a:rPr sz="2000" b="0">
                <a:solidFill>
                  <a:srgbClr val="ADBBCD"/>
                </a:solidFill>
                <a:latin typeface="Arial"/>
              </a:rPr>
              <a:t>Project 10B: Stakeholder Handoff</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168 / 198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13 · GOALS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you will be able to do</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Extend agentic work beyond code: reports, spreadsheets, presentations, documents</a:t>
            </a:r>
          </a:p>
          <a:p>
            <a:pPr algn="l">
              <a:spcAft>
                <a:spcPts val="800"/>
              </a:spcAft>
            </a:pPr>
            <a:r>
              <a:rPr sz="2200">
                <a:solidFill>
                  <a:srgbClr val="F8FAFC"/>
                </a:solidFill>
                <a:latin typeface="Arial"/>
              </a:rPr>
              <a:t>•  Keep technical accuracy while translating risk into business impact</a:t>
            </a:r>
          </a:p>
          <a:p>
            <a:pPr algn="l">
              <a:spcAft>
                <a:spcPts val="800"/>
              </a:spcAft>
            </a:pPr>
            <a:r>
              <a:rPr sz="2200">
                <a:solidFill>
                  <a:srgbClr val="F8FAFC"/>
                </a:solidFill>
                <a:latin typeface="Arial"/>
              </a:rPr>
              <a:t>•  Cowork permissions, local file access, reviewing browser and connector actions</a:t>
            </a:r>
          </a:p>
          <a:p>
            <a:pPr algn="l">
              <a:spcAft>
                <a:spcPts val="800"/>
              </a:spcAft>
            </a:pPr>
            <a:r>
              <a:rPr sz="2200">
                <a:solidFill>
                  <a:srgbClr val="F8FAFC"/>
                </a:solidFill>
                <a:latin typeface="Arial"/>
              </a:rPr>
              <a:t>•  Manual, automatic and skipped approval modes</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169 / 198</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COWORK</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Agentic work beyond code</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Agentic workspace in Claude Desktop, built on the Claude Code architecture</a:t>
            </a:r>
          </a:p>
          <a:p>
            <a:pPr algn="l">
              <a:spcAft>
                <a:spcPts val="800"/>
              </a:spcAft>
            </a:pPr>
            <a:r>
              <a:rPr sz="2200">
                <a:solidFill>
                  <a:srgbClr val="F8FAFC"/>
                </a:solidFill>
                <a:latin typeface="Arial"/>
              </a:rPr>
              <a:t>•  Reads local files you grant; produces documents, spreadsheets, presentations</a:t>
            </a:r>
          </a:p>
          <a:p>
            <a:pPr algn="l">
              <a:spcAft>
                <a:spcPts val="800"/>
              </a:spcAft>
            </a:pPr>
            <a:r>
              <a:rPr sz="2200">
                <a:solidFill>
                  <a:srgbClr val="F8FAFC"/>
                </a:solidFill>
                <a:latin typeface="Arial"/>
              </a:rPr>
              <a:t>•  Uses the skills and plugins enabled on your claude.ai account</a:t>
            </a:r>
          </a:p>
          <a:p>
            <a:pPr algn="l">
              <a:spcAft>
                <a:spcPts val="800"/>
              </a:spcAft>
            </a:pPr>
            <a:r>
              <a:rPr sz="2200">
                <a:solidFill>
                  <a:srgbClr val="F8FAFC"/>
                </a:solidFill>
                <a:latin typeface="Arial"/>
              </a:rPr>
              <a:t>•  Review every browser and connector action; choose the approval mode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170 / 198</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TRANSLATE, DON'T SOFTEN</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Technical risk → business impact</a:t>
            </a:r>
          </a:p>
        </p:txBody>
      </p:sp>
      <p:graphicFrame>
        <p:nvGraphicFramePr>
          <p:cNvPr id="6" name="Table 5"/>
          <p:cNvGraphicFramePr>
            <a:graphicFrameLocks noGrp="1"/>
          </p:cNvGraphicFramePr>
          <p:nvPr/>
        </p:nvGraphicFramePr>
        <p:xfrm>
          <a:off x="640080" y="1984248"/>
          <a:ext cx="10881359" cy="1901952"/>
        </p:xfrm>
        <a:graphic>
          <a:graphicData uri="http://schemas.openxmlformats.org/drawingml/2006/table">
            <a:tbl>
              <a:tblPr>
                <a:tableStyleId>{5C22544A-7EE6-4342-B048-85BDC9FD1C3A}</a:tableStyleId>
              </a:tblPr>
              <a:tblGrid>
                <a:gridCol w="3311718"/>
                <a:gridCol w="7569641"/>
              </a:tblGrid>
              <a:tr h="475488">
                <a:tc>
                  <a:txBody>
                    <a:bodyPr wrap="square"/>
                    <a:lstStyle/>
                    <a:p>
                      <a:r>
                        <a:rPr sz="1600" b="1">
                          <a:solidFill>
                            <a:srgbClr val="BAFF70"/>
                          </a:solidFill>
                          <a:latin typeface="Arial"/>
                        </a:rPr>
                        <a:t>Engineering finding</a:t>
                      </a:r>
                    </a:p>
                  </a:txBody>
                  <a:tcPr marL="109728" marR="109728">
                    <a:solidFill>
                      <a:srgbClr val="22324A"/>
                    </a:solidFill>
                  </a:tcPr>
                </a:tc>
                <a:tc>
                  <a:txBody>
                    <a:bodyPr wrap="square"/>
                    <a:lstStyle/>
                    <a:p>
                      <a:r>
                        <a:rPr sz="1600" b="1">
                          <a:solidFill>
                            <a:srgbClr val="BAFF70"/>
                          </a:solidFill>
                          <a:latin typeface="Arial"/>
                        </a:rPr>
                        <a:t>Stakeholder language</a:t>
                      </a:r>
                    </a:p>
                  </a:txBody>
                  <a:tcPr marL="109728" marR="109728">
                    <a:solidFill>
                      <a:srgbClr val="22324A"/>
                    </a:solidFill>
                  </a:tcPr>
                </a:tc>
              </a:tr>
              <a:tr h="475488">
                <a:tc>
                  <a:txBody>
                    <a:bodyPr wrap="square"/>
                    <a:lstStyle/>
                    <a:p>
                      <a:r>
                        <a:rPr sz="1600" b="1">
                          <a:solidFill>
                            <a:srgbClr val="F8FAFC"/>
                          </a:solidFill>
                          <a:latin typeface="Arial"/>
                        </a:rPr>
                        <a:t>Stored XSS (High)</a:t>
                      </a:r>
                    </a:p>
                  </a:txBody>
                  <a:tcPr marL="109728" marR="109728">
                    <a:solidFill>
                      <a:srgbClr val="1A283B"/>
                    </a:solidFill>
                  </a:tcPr>
                </a:tc>
                <a:tc>
                  <a:txBody>
                    <a:bodyPr wrap="square"/>
                    <a:lstStyle/>
                    <a:p>
                      <a:r>
                        <a:rPr sz="1600" b="0">
                          <a:solidFill>
                            <a:srgbClr val="ADBBCD"/>
                          </a:solidFill>
                          <a:latin typeface="Arial"/>
                        </a:rPr>
                        <a:t>A note with hidden script could run in every colleague's browser</a:t>
                      </a:r>
                    </a:p>
                  </a:txBody>
                  <a:tcPr marL="109728" marR="109728">
                    <a:solidFill>
                      <a:srgbClr val="1A283B"/>
                    </a:solidFill>
                  </a:tcPr>
                </a:tc>
              </a:tr>
              <a:tr h="475488">
                <a:tc>
                  <a:txBody>
                    <a:bodyPr wrap="square"/>
                    <a:lstStyle/>
                    <a:p>
                      <a:r>
                        <a:rPr sz="1600" b="1">
                          <a:solidFill>
                            <a:srgbClr val="F8FAFC"/>
                          </a:solidFill>
                          <a:latin typeface="Arial"/>
                        </a:rPr>
                        <a:t>No auth, bind 0.0.0.0 (High)</a:t>
                      </a:r>
                    </a:p>
                  </a:txBody>
                  <a:tcPr marL="109728" marR="109728">
                    <a:solidFill>
                      <a:srgbClr val="15233A"/>
                    </a:solidFill>
                  </a:tcPr>
                </a:tc>
                <a:tc>
                  <a:txBody>
                    <a:bodyPr wrap="square"/>
                    <a:lstStyle/>
                    <a:p>
                      <a:r>
                        <a:rPr sz="1600" b="0">
                          <a:solidFill>
                            <a:srgbClr val="ADBBCD"/>
                          </a:solidFill>
                          <a:latin typeface="Arial"/>
                        </a:rPr>
                        <a:t>Anyone on the network can edit or delete notes</a:t>
                      </a:r>
                    </a:p>
                  </a:txBody>
                  <a:tcPr marL="109728" marR="109728">
                    <a:solidFill>
                      <a:srgbClr val="15233A"/>
                    </a:solidFill>
                  </a:tcPr>
                </a:tc>
              </a:tr>
              <a:tr h="475488">
                <a:tc>
                  <a:txBody>
                    <a:bodyPr wrap="square"/>
                    <a:lstStyle/>
                    <a:p>
                      <a:r>
                        <a:rPr sz="1600" b="1">
                          <a:solidFill>
                            <a:srgbClr val="F8FAFC"/>
                          </a:solidFill>
                          <a:latin typeface="Arial"/>
                        </a:rPr>
                        <a:t>Unbounded body (Medium)</a:t>
                      </a:r>
                    </a:p>
                  </a:txBody>
                  <a:tcPr marL="109728" marR="109728">
                    <a:solidFill>
                      <a:srgbClr val="1A283B"/>
                    </a:solidFill>
                  </a:tcPr>
                </a:tc>
                <a:tc>
                  <a:txBody>
                    <a:bodyPr wrap="square"/>
                    <a:lstStyle/>
                    <a:p>
                      <a:r>
                        <a:rPr sz="1600" b="0">
                          <a:solidFill>
                            <a:srgbClr val="ADBBCD"/>
                          </a:solidFill>
                          <a:latin typeface="Arial"/>
                        </a:rPr>
                        <a:t>One malformed request can slow the service for everyone</a:t>
                      </a:r>
                    </a:p>
                  </a:txBody>
                  <a:tcPr marL="109728" marR="109728">
                    <a:solidFill>
                      <a:srgbClr val="1A283B"/>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171 / 198</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ONE PAGE</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The stakeholder update</a:t>
            </a:r>
          </a:p>
        </p:txBody>
      </p:sp>
      <p:graphicFrame>
        <p:nvGraphicFramePr>
          <p:cNvPr id="6" name="Table 5"/>
          <p:cNvGraphicFramePr>
            <a:graphicFrameLocks noGrp="1"/>
          </p:cNvGraphicFramePr>
          <p:nvPr/>
        </p:nvGraphicFramePr>
        <p:xfrm>
          <a:off x="640080" y="1984248"/>
          <a:ext cx="10881359" cy="3803904"/>
        </p:xfrm>
        <a:graphic>
          <a:graphicData uri="http://schemas.openxmlformats.org/drawingml/2006/table">
            <a:tbl>
              <a:tblPr>
                <a:tableStyleId>{5C22544A-7EE6-4342-B048-85BDC9FD1C3A}</a:tableStyleId>
              </a:tblPr>
              <a:tblGrid>
                <a:gridCol w="3610405"/>
                <a:gridCol w="7270954"/>
              </a:tblGrid>
              <a:tr h="475488">
                <a:tc>
                  <a:txBody>
                    <a:bodyPr wrap="square"/>
                    <a:lstStyle/>
                    <a:p>
                      <a:r>
                        <a:rPr sz="1400" b="1">
                          <a:solidFill>
                            <a:srgbClr val="BAFF70"/>
                          </a:solidFill>
                          <a:latin typeface="Arial"/>
                        </a:rPr>
                        <a:t>Section</a:t>
                      </a:r>
                    </a:p>
                  </a:txBody>
                  <a:tcPr marL="109728" marR="109728">
                    <a:solidFill>
                      <a:srgbClr val="22324A"/>
                    </a:solidFill>
                  </a:tcPr>
                </a:tc>
                <a:tc>
                  <a:txBody>
                    <a:bodyPr wrap="square"/>
                    <a:lstStyle/>
                    <a:p>
                      <a:r>
                        <a:rPr sz="1400" b="1">
                          <a:solidFill>
                            <a:srgbClr val="BAFF70"/>
                          </a:solidFill>
                          <a:latin typeface="Arial"/>
                        </a:rPr>
                        <a:t>Rule</a:t>
                      </a:r>
                    </a:p>
                  </a:txBody>
                  <a:tcPr marL="109728" marR="109728">
                    <a:solidFill>
                      <a:srgbClr val="22324A"/>
                    </a:solidFill>
                  </a:tcPr>
                </a:tc>
              </a:tr>
              <a:tr h="475488">
                <a:tc>
                  <a:txBody>
                    <a:bodyPr wrap="square"/>
                    <a:lstStyle/>
                    <a:p>
                      <a:r>
                        <a:rPr sz="1400" b="1">
                          <a:solidFill>
                            <a:srgbClr val="F8FAFC"/>
                          </a:solidFill>
                          <a:latin typeface="Arial"/>
                        </a:rPr>
                        <a:t>Status</a:t>
                      </a:r>
                    </a:p>
                  </a:txBody>
                  <a:tcPr marL="109728" marR="109728">
                    <a:solidFill>
                      <a:srgbClr val="1A283B"/>
                    </a:solidFill>
                  </a:tcPr>
                </a:tc>
                <a:tc>
                  <a:txBody>
                    <a:bodyPr wrap="square"/>
                    <a:lstStyle/>
                    <a:p>
                      <a:r>
                        <a:rPr sz="1400" b="0">
                          <a:solidFill>
                            <a:srgbClr val="ADBBCD"/>
                          </a:solidFill>
                          <a:latin typeface="Arial"/>
                        </a:rPr>
                        <a:t>Conditional go, one sentence</a:t>
                      </a:r>
                    </a:p>
                  </a:txBody>
                  <a:tcPr marL="109728" marR="109728">
                    <a:solidFill>
                      <a:srgbClr val="1A283B"/>
                    </a:solidFill>
                  </a:tcPr>
                </a:tc>
              </a:tr>
              <a:tr h="475488">
                <a:tc>
                  <a:txBody>
                    <a:bodyPr wrap="square"/>
                    <a:lstStyle/>
                    <a:p>
                      <a:r>
                        <a:rPr sz="1400" b="1">
                          <a:solidFill>
                            <a:srgbClr val="F8FAFC"/>
                          </a:solidFill>
                          <a:latin typeface="Arial"/>
                        </a:rPr>
                        <a:t>Completed</a:t>
                      </a:r>
                    </a:p>
                  </a:txBody>
                  <a:tcPr marL="109728" marR="109728">
                    <a:solidFill>
                      <a:srgbClr val="15233A"/>
                    </a:solidFill>
                  </a:tcPr>
                </a:tc>
                <a:tc>
                  <a:txBody>
                    <a:bodyPr wrap="square"/>
                    <a:lstStyle/>
                    <a:p>
                      <a:r>
                        <a:rPr sz="1400" b="0">
                          <a:solidFill>
                            <a:srgbClr val="ADBBCD"/>
                          </a:solidFill>
                          <a:latin typeface="Arial"/>
                        </a:rPr>
                        <a:t>Features, not tickets</a:t>
                      </a:r>
                    </a:p>
                  </a:txBody>
                  <a:tcPr marL="109728" marR="109728">
                    <a:solidFill>
                      <a:srgbClr val="15233A"/>
                    </a:solidFill>
                  </a:tcPr>
                </a:tc>
              </a:tr>
              <a:tr h="475488">
                <a:tc>
                  <a:txBody>
                    <a:bodyPr wrap="square"/>
                    <a:lstStyle/>
                    <a:p>
                      <a:r>
                        <a:rPr sz="1400" b="1">
                          <a:solidFill>
                            <a:srgbClr val="F8FAFC"/>
                          </a:solidFill>
                          <a:latin typeface="Arial"/>
                        </a:rPr>
                        <a:t>Impact</a:t>
                      </a:r>
                    </a:p>
                  </a:txBody>
                  <a:tcPr marL="109728" marR="109728">
                    <a:solidFill>
                      <a:srgbClr val="1A283B"/>
                    </a:solidFill>
                  </a:tcPr>
                </a:tc>
                <a:tc>
                  <a:txBody>
                    <a:bodyPr wrap="square"/>
                    <a:lstStyle/>
                    <a:p>
                      <a:r>
                        <a:rPr sz="1400" b="0">
                          <a:solidFill>
                            <a:srgbClr val="ADBBCD"/>
                          </a:solidFill>
                          <a:latin typeface="Arial"/>
                        </a:rPr>
                        <a:t>For customers or the business</a:t>
                      </a:r>
                    </a:p>
                  </a:txBody>
                  <a:tcPr marL="109728" marR="109728">
                    <a:solidFill>
                      <a:srgbClr val="1A283B"/>
                    </a:solidFill>
                  </a:tcPr>
                </a:tc>
              </a:tr>
              <a:tr h="475488">
                <a:tc>
                  <a:txBody>
                    <a:bodyPr wrap="square"/>
                    <a:lstStyle/>
                    <a:p>
                      <a:r>
                        <a:rPr sz="1400" b="1">
                          <a:solidFill>
                            <a:srgbClr val="F8FAFC"/>
                          </a:solidFill>
                          <a:latin typeface="Arial"/>
                        </a:rPr>
                        <a:t>Risks</a:t>
                      </a:r>
                    </a:p>
                  </a:txBody>
                  <a:tcPr marL="109728" marR="109728">
                    <a:solidFill>
                      <a:srgbClr val="15233A"/>
                    </a:solidFill>
                  </a:tcPr>
                </a:tc>
                <a:tc>
                  <a:txBody>
                    <a:bodyPr wrap="square"/>
                    <a:lstStyle/>
                    <a:p>
                      <a:r>
                        <a:rPr sz="1400" b="0">
                          <a:solidFill>
                            <a:srgbClr val="ADBBCD"/>
                          </a:solidFill>
                          <a:latin typeface="Arial"/>
                        </a:rPr>
                        <a:t>Plain language, same severity</a:t>
                      </a:r>
                    </a:p>
                  </a:txBody>
                  <a:tcPr marL="109728" marR="109728">
                    <a:solidFill>
                      <a:srgbClr val="15233A"/>
                    </a:solidFill>
                  </a:tcPr>
                </a:tc>
              </a:tr>
              <a:tr h="475488">
                <a:tc>
                  <a:txBody>
                    <a:bodyPr wrap="square"/>
                    <a:lstStyle/>
                    <a:p>
                      <a:r>
                        <a:rPr sz="1400" b="1">
                          <a:solidFill>
                            <a:srgbClr val="F8FAFC"/>
                          </a:solidFill>
                          <a:latin typeface="Arial"/>
                        </a:rPr>
                        <a:t>Decisions</a:t>
                      </a:r>
                    </a:p>
                  </a:txBody>
                  <a:tcPr marL="109728" marR="109728">
                    <a:solidFill>
                      <a:srgbClr val="1A283B"/>
                    </a:solidFill>
                  </a:tcPr>
                </a:tc>
                <a:tc>
                  <a:txBody>
                    <a:bodyPr wrap="square"/>
                    <a:lstStyle/>
                    <a:p>
                      <a:r>
                        <a:rPr sz="1400" b="0">
                          <a:solidFill>
                            <a:srgbClr val="ADBBCD"/>
                          </a:solidFill>
                          <a:latin typeface="Arial"/>
                        </a:rPr>
                        <a:t>Who decides what, by when</a:t>
                      </a:r>
                    </a:p>
                  </a:txBody>
                  <a:tcPr marL="109728" marR="109728">
                    <a:solidFill>
                      <a:srgbClr val="1A283B"/>
                    </a:solidFill>
                  </a:tcPr>
                </a:tc>
              </a:tr>
              <a:tr h="475488">
                <a:tc>
                  <a:txBody>
                    <a:bodyPr wrap="square"/>
                    <a:lstStyle/>
                    <a:p>
                      <a:r>
                        <a:rPr sz="1400" b="1">
                          <a:solidFill>
                            <a:srgbClr val="F8FAFC"/>
                          </a:solidFill>
                          <a:latin typeface="Arial"/>
                        </a:rPr>
                        <a:t>Fixes + owners</a:t>
                      </a:r>
                    </a:p>
                  </a:txBody>
                  <a:tcPr marL="109728" marR="109728">
                    <a:solidFill>
                      <a:srgbClr val="15233A"/>
                    </a:solidFill>
                  </a:tcPr>
                </a:tc>
                <a:tc>
                  <a:txBody>
                    <a:bodyPr wrap="square"/>
                    <a:lstStyle/>
                    <a:p>
                      <a:r>
                        <a:rPr sz="1400" b="0">
                          <a:solidFill>
                            <a:srgbClr val="ADBBCD"/>
                          </a:solidFill>
                          <a:latin typeface="Arial"/>
                        </a:rPr>
                        <a:t>No invented dates</a:t>
                      </a:r>
                    </a:p>
                  </a:txBody>
                  <a:tcPr marL="109728" marR="109728">
                    <a:solidFill>
                      <a:srgbClr val="15233A"/>
                    </a:solidFill>
                  </a:tcPr>
                </a:tc>
              </a:tr>
              <a:tr h="475488">
                <a:tc>
                  <a:txBody>
                    <a:bodyPr wrap="square"/>
                    <a:lstStyle/>
                    <a:p>
                      <a:r>
                        <a:rPr sz="1400" b="1">
                          <a:solidFill>
                            <a:srgbClr val="F8FAFC"/>
                          </a:solidFill>
                          <a:latin typeface="Arial"/>
                        </a:rPr>
                        <a:t>Next step</a:t>
                      </a:r>
                    </a:p>
                  </a:txBody>
                  <a:tcPr marL="109728" marR="109728">
                    <a:solidFill>
                      <a:srgbClr val="1A283B"/>
                    </a:solidFill>
                  </a:tcPr>
                </a:tc>
                <a:tc>
                  <a:txBody>
                    <a:bodyPr wrap="square"/>
                    <a:lstStyle/>
                    <a:p>
                      <a:r>
                        <a:rPr sz="1400" b="0">
                          <a:solidFill>
                            <a:srgbClr val="ADBBCD"/>
                          </a:solidFill>
                          <a:latin typeface="Arial"/>
                        </a:rPr>
                        <a:t>One action</a:t>
                      </a:r>
                    </a:p>
                  </a:txBody>
                  <a:tcPr marL="109728" marR="109728">
                    <a:solidFill>
                      <a:srgbClr val="1A283B"/>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172 / 198</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13 · PROMPT 1 OF 1</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Cowork (or the stakeholder-update skill)</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Read reports/production-readiness.md, docs/HANDOFF.md and docs/team-</a:t>
            </a:r>
          </a:p>
          <a:p>
            <a:pPr algn="l">
              <a:spcAft>
                <a:spcPts val="400"/>
              </a:spcAft>
            </a:pPr>
            <a:r>
              <a:rPr sz="2000">
                <a:solidFill>
                  <a:srgbClr val="BAFF70"/>
                </a:solidFill>
                <a:latin typeface="Consolas"/>
              </a:rPr>
              <a:t>plan.md. Write reports/stakeholder-update.md: one page for a VP of</a:t>
            </a:r>
          </a:p>
          <a:p>
            <a:pPr algn="l">
              <a:spcAft>
                <a:spcPts val="400"/>
              </a:spcAft>
            </a:pPr>
            <a:r>
              <a:rPr sz="2000">
                <a:solidFill>
                  <a:srgbClr val="BAFF70"/>
                </a:solidFill>
                <a:latin typeface="Consolas"/>
              </a:rPr>
              <a:t>Engineering reading on a phone, with exactly these sections: current</a:t>
            </a:r>
          </a:p>
          <a:p>
            <a:pPr algn="l">
              <a:spcAft>
                <a:spcPts val="400"/>
              </a:spcAft>
            </a:pPr>
            <a:r>
              <a:rPr sz="2000">
                <a:solidFill>
                  <a:srgbClr val="BAFF70"/>
                </a:solidFill>
                <a:latin typeface="Consolas"/>
              </a:rPr>
              <a:t>release status, features completed, customer or business impact,</a:t>
            </a:r>
          </a:p>
          <a:p>
            <a:pPr algn="l">
              <a:spcAft>
                <a:spcPts val="400"/>
              </a:spcAft>
            </a:pPr>
            <a:r>
              <a:rPr sz="2000">
                <a:solidFill>
                  <a:srgbClr val="BAFF70"/>
                </a:solidFill>
                <a:latin typeface="Consolas"/>
              </a:rPr>
              <a:t>major risks (plain language, severities unchanged), decisions</a:t>
            </a:r>
          </a:p>
          <a:p>
            <a:pPr algn="l">
              <a:spcAft>
                <a:spcPts val="400"/>
              </a:spcAft>
            </a:pPr>
            <a:r>
              <a:rPr sz="2000">
                <a:solidFill>
                  <a:srgbClr val="BAFF70"/>
                </a:solidFill>
                <a:latin typeface="Consolas"/>
              </a:rPr>
              <a:t>required, top three fixes, owners and deadlines (no invented dates),</a:t>
            </a:r>
          </a:p>
          <a:p>
            <a:pPr algn="l">
              <a:spcAft>
                <a:spcPts val="400"/>
              </a:spcAft>
            </a:pPr>
            <a:r>
              <a:rPr sz="2000">
                <a:solidFill>
                  <a:srgbClr val="BAFF70"/>
                </a:solidFill>
                <a:latin typeface="Consolas"/>
              </a:rPr>
              <a:t>recommended next step.</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parts/13-cowork-handoff/PROMPTS.md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173 / 198</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pic>
        <p:nvPicPr>
          <p:cNvPr id="2" name="13-cowork-handoff.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13 · EVIDENCE, NOT CLAIMS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the run proved</a:t>
            </a:r>
          </a:p>
        </p:txBody>
      </p:sp>
      <p:sp>
        <p:nvSpPr>
          <p:cNvPr id="6" name="TextBox 5"/>
          <p:cNvSpPr txBox="1"/>
          <p:nvPr/>
        </p:nvSpPr>
        <p:spPr>
          <a:xfrm>
            <a:off x="640080" y="1984248"/>
            <a:ext cx="5349240" cy="365760"/>
          </a:xfrm>
          <a:prstGeom prst="rect">
            <a:avLst/>
          </a:prstGeom>
          <a:noFill/>
        </p:spPr>
        <p:txBody>
          <a:bodyPr wrap="square" lIns="0" rIns="0" tIns="0" bIns="0">
            <a:spAutoFit/>
          </a:bodyPr>
          <a:lstStyle/>
          <a:p>
            <a:pPr algn="l"/>
            <a:r>
              <a:rPr sz="1500" b="1">
                <a:solidFill>
                  <a:srgbClr val="FBBF24"/>
                </a:solidFill>
                <a:latin typeface="Arial"/>
              </a:rPr>
              <a:t>WHAT TO LOOK FOR</a:t>
            </a:r>
          </a:p>
        </p:txBody>
      </p:sp>
      <p:sp>
        <p:nvSpPr>
          <p:cNvPr id="7" name="Rounded Rectangle 6"/>
          <p:cNvSpPr/>
          <p:nvPr/>
        </p:nvSpPr>
        <p:spPr>
          <a:xfrm>
            <a:off x="64008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One page, eight sections</a:t>
            </a:r>
          </a:p>
          <a:p>
            <a:pPr algn="l">
              <a:spcAft>
                <a:spcPts val="800"/>
              </a:spcAft>
            </a:pPr>
            <a:r>
              <a:rPr sz="1900">
                <a:solidFill>
                  <a:srgbClr val="F8FAFC"/>
                </a:solidFill>
                <a:latin typeface="Arial"/>
              </a:rPr>
              <a:t>•  Severities match the readiness report</a:t>
            </a:r>
          </a:p>
          <a:p>
            <a:pPr algn="l">
              <a:spcAft>
                <a:spcPts val="800"/>
              </a:spcAft>
            </a:pPr>
            <a:r>
              <a:rPr sz="1900">
                <a:solidFill>
                  <a:srgbClr val="F8FAFC"/>
                </a:solidFill>
                <a:latin typeface="Arial"/>
              </a:rPr>
              <a:t>•  No invented dates</a:t>
            </a:r>
          </a:p>
          <a:p>
            <a:pPr algn="l">
              <a:spcAft>
                <a:spcPts val="800"/>
              </a:spcAft>
            </a:pPr>
            <a:r>
              <a:rPr sz="1900">
                <a:solidFill>
                  <a:srgbClr val="F8FAFC"/>
                </a:solidFill>
                <a:latin typeface="Arial"/>
              </a:rPr>
              <a:t>•  Every connector/browser action reviewed before approval</a:t>
            </a:r>
          </a:p>
        </p:txBody>
      </p:sp>
      <p:sp>
        <p:nvSpPr>
          <p:cNvPr id="8" name="TextBox 7"/>
          <p:cNvSpPr txBox="1"/>
          <p:nvPr/>
        </p:nvSpPr>
        <p:spPr>
          <a:xfrm>
            <a:off x="6172200" y="1984248"/>
            <a:ext cx="5349240" cy="365760"/>
          </a:xfrm>
          <a:prstGeom prst="rect">
            <a:avLst/>
          </a:prstGeom>
          <a:noFill/>
        </p:spPr>
        <p:txBody>
          <a:bodyPr wrap="square" lIns="0" rIns="0" tIns="0" bIns="0">
            <a:spAutoFit/>
          </a:bodyPr>
          <a:lstStyle/>
          <a:p>
            <a:pPr algn="l"/>
            <a:r>
              <a:rPr sz="1500" b="1">
                <a:solidFill>
                  <a:srgbClr val="BAFF70"/>
                </a:solidFill>
                <a:latin typeface="Arial"/>
              </a:rPr>
              <a:t>WHAT THE RECORDED RUN PRODUCED</a:t>
            </a:r>
          </a:p>
        </p:txBody>
      </p:sp>
      <p:sp>
        <p:nvSpPr>
          <p:cNvPr id="9" name="Rounded Rectangle 8"/>
          <p:cNvSpPr/>
          <p:nvPr/>
        </p:nvSpPr>
        <p:spPr>
          <a:xfrm>
            <a:off x="617220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1 prompt(s) · 1 min 11 s · $0.10 · 4 tool calls</a:t>
            </a:r>
          </a:p>
          <a:p>
            <a:pPr algn="l">
              <a:spcAft>
                <a:spcPts val="800"/>
              </a:spcAft>
            </a:pPr>
            <a:r>
              <a:rPr sz="1900">
                <a:solidFill>
                  <a:srgbClr val="F8FAFC"/>
                </a:solidFill>
                <a:latin typeface="Arial"/>
              </a:rPr>
              <a:t>•  bin/bootcamp verify: 21 PASS · 0 FAIL</a:t>
            </a:r>
          </a:p>
          <a:p>
            <a:pPr algn="l">
              <a:spcAft>
                <a:spcPts val="800"/>
              </a:spcAft>
            </a:pPr>
            <a:r>
              <a:rPr sz="1900">
                <a:solidFill>
                  <a:srgbClr val="F8FAFC"/>
                </a:solidFill>
                <a:latin typeface="Arial"/>
              </a:rPr>
              <a:t>•  Changed: ?? reports/stakeholder-update.md</a:t>
            </a:r>
          </a:p>
        </p:txBody>
      </p:sp>
      <p:sp>
        <p:nvSpPr>
          <p:cNvPr id="10" name="TextBox 9"/>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175 / 198</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13 · DISCUSS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Your turn to think</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What did the update leave out on purpose?</a:t>
            </a:r>
          </a:p>
          <a:p>
            <a:pPr algn="l">
              <a:spcAft>
                <a:spcPts val="800"/>
              </a:spcAft>
            </a:pPr>
            <a:r>
              <a:rPr sz="2200">
                <a:solidFill>
                  <a:srgbClr val="F8FAFC"/>
                </a:solidFill>
                <a:latin typeface="Arial"/>
              </a:rPr>
              <a:t>•  How do you keep severity honest in business language?</a:t>
            </a:r>
          </a:p>
          <a:p>
            <a:pPr algn="l">
              <a:spcAft>
                <a:spcPts val="800"/>
              </a:spcAft>
            </a:pPr>
            <a:r>
              <a:rPr sz="2200">
                <a:solidFill>
                  <a:srgbClr val="F8FAFC"/>
                </a:solidFill>
                <a:latin typeface="Arial"/>
              </a:rPr>
              <a:t>•  Which approval mode would you use for Cowork in your company?</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176 / 198</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13 · LAB</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Hands-on</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Give Cowork the folder and the prompt. No Cowork? Run /stakeholder-update from the Skills Pack with the same inputs.</a:t>
            </a:r>
          </a:p>
          <a:p>
            <a:pPr algn="l">
              <a:spcAft>
                <a:spcPts val="800"/>
              </a:spcAft>
            </a:pPr>
            <a:r>
              <a:rPr sz="2200">
                <a:solidFill>
                  <a:srgbClr val="F8FAFC"/>
                </a:solidFill>
                <a:latin typeface="Arial"/>
              </a:rPr>
              <a:t>•  Start: bin/bootcamp stage 13</a:t>
            </a:r>
          </a:p>
          <a:p>
            <a:pPr algn="l">
              <a:spcAft>
                <a:spcPts val="800"/>
              </a:spcAft>
            </a:pPr>
            <a:r>
              <a:rPr sz="2200">
                <a:solidFill>
                  <a:srgbClr val="F8FAFC"/>
                </a:solidFill>
                <a:latin typeface="Arial"/>
              </a:rPr>
              <a:t>•  Prompts: parts/13-cowork-handoff/PROMPTS.md</a:t>
            </a:r>
          </a:p>
          <a:p>
            <a:pPr algn="l">
              <a:spcAft>
                <a:spcPts val="800"/>
              </a:spcAft>
            </a:pPr>
            <a:r>
              <a:rPr sz="2200">
                <a:solidFill>
                  <a:srgbClr val="F8FAFC"/>
                </a:solidFill>
                <a:latin typeface="Arial"/>
              </a:rPr>
              <a:t>•  Check: bin/bootcamp verify</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177 / 198</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13 · CHECKPOINT</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 now have</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Stakeholder-ready release update</a:t>
            </a:r>
          </a:p>
          <a:p>
            <a:pPr algn="l">
              <a:spcAft>
                <a:spcPts val="800"/>
              </a:spcAft>
            </a:pPr>
            <a:r>
              <a:rPr sz="2200">
                <a:solidFill>
                  <a:srgbClr val="F8FAFC"/>
                </a:solidFill>
                <a:latin typeface="Arial"/>
              </a:rPr>
              <a:t>✓  Risk and decision summary</a:t>
            </a:r>
          </a:p>
          <a:p>
            <a:pPr algn="l">
              <a:spcAft>
                <a:spcPts val="800"/>
              </a:spcAft>
            </a:pPr>
            <a:r>
              <a:rPr sz="2200">
                <a:solidFill>
                  <a:srgbClr val="F8FAFC"/>
                </a:solidFill>
                <a:latin typeface="Arial"/>
              </a:rPr>
              <a:t>✓  Follow-up action list</a:t>
            </a:r>
          </a:p>
          <a:p>
            <a:pPr algn="l">
              <a:spcAft>
                <a:spcPts val="800"/>
              </a:spcAft>
            </a:pPr>
            <a:r>
              <a:rPr sz="2200">
                <a:solidFill>
                  <a:srgbClr val="F8FAFC"/>
                </a:solidFill>
                <a:latin typeface="Arial"/>
              </a:rPr>
              <a:t>✓  Named owners and next steps</a:t>
            </a:r>
          </a:p>
          <a:p>
            <a:pPr algn="l">
              <a:spcAft>
                <a:spcPts val="800"/>
              </a:spcAft>
            </a:pPr>
            <a:r>
              <a:rPr sz="2200">
                <a:solidFill>
                  <a:srgbClr val="F8FAFC"/>
                </a:solidFill>
                <a:latin typeface="Arial"/>
              </a:rPr>
              <a:t>•  Behind? bin/bootcamp checkpoint 13 --force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178 / 198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2194560"/>
            <a:ext cx="10058400" cy="365760"/>
          </a:xfrm>
          <a:prstGeom prst="rect">
            <a:avLst/>
          </a:prstGeom>
          <a:noFill/>
        </p:spPr>
        <p:txBody>
          <a:bodyPr wrap="square" lIns="0" rIns="0" tIns="0" bIns="0">
            <a:spAutoFit/>
          </a:bodyPr>
          <a:lstStyle/>
          <a:p>
            <a:pPr algn="l"/>
            <a:r>
              <a:rPr sz="1600" b="1">
                <a:solidFill>
                  <a:srgbClr val="BAFF70"/>
                </a:solidFill>
                <a:latin typeface="Arial"/>
              </a:rPr>
              <a:t>PART 14 · 15:45–16:05 · 20 MIN</a:t>
            </a:r>
          </a:p>
        </p:txBody>
      </p:sp>
      <p:sp>
        <p:nvSpPr>
          <p:cNvPr id="5" name="TextBox 4"/>
          <p:cNvSpPr txBox="1"/>
          <p:nvPr/>
        </p:nvSpPr>
        <p:spPr>
          <a:xfrm>
            <a:off x="640080" y="2697480"/>
            <a:ext cx="10789920" cy="1463040"/>
          </a:xfrm>
          <a:prstGeom prst="rect">
            <a:avLst/>
          </a:prstGeom>
          <a:noFill/>
        </p:spPr>
        <p:txBody>
          <a:bodyPr wrap="square" lIns="0" rIns="0" tIns="0" bIns="0">
            <a:spAutoFit/>
          </a:bodyPr>
          <a:lstStyle/>
          <a:p>
            <a:pPr algn="l"/>
            <a:r>
              <a:rPr sz="4600" b="1">
                <a:solidFill>
                  <a:srgbClr val="F8FAFC"/>
                </a:solidFill>
                <a:latin typeface="Arial"/>
              </a:rPr>
              <a:t>Web, mobile, Remote Control and work that continues</a:t>
            </a:r>
          </a:p>
        </p:txBody>
      </p:sp>
      <p:sp>
        <p:nvSpPr>
          <p:cNvPr id="6" name="TextBox 5"/>
          <p:cNvSpPr txBox="1"/>
          <p:nvPr/>
        </p:nvSpPr>
        <p:spPr>
          <a:xfrm>
            <a:off x="640080" y="4297680"/>
            <a:ext cx="10789920" cy="914400"/>
          </a:xfrm>
          <a:prstGeom prst="rect">
            <a:avLst/>
          </a:prstGeom>
          <a:noFill/>
        </p:spPr>
        <p:txBody>
          <a:bodyPr wrap="square" lIns="0" rIns="0" tIns="0" bIns="0">
            <a:spAutoFit/>
          </a:bodyPr>
          <a:lstStyle/>
          <a:p>
            <a:pPr algn="l"/>
            <a:r>
              <a:rPr sz="2000" b="0">
                <a:solidFill>
                  <a:srgbClr val="ADBBCD"/>
                </a:solidFill>
                <a:latin typeface="Arial"/>
              </a:rPr>
              <a:t>Project 10C: Cross-Device Continuation</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179 / 198</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14 · GOALS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you will be able to do</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Move between terminal, desktop, web and mobile</a:t>
            </a:r>
          </a:p>
          <a:p>
            <a:pPr algn="l">
              <a:spcAft>
                <a:spcPts val="800"/>
              </a:spcAft>
            </a:pPr>
            <a:r>
              <a:rPr sz="2200">
                <a:solidFill>
                  <a:srgbClr val="F8FAFC"/>
                </a:solidFill>
                <a:latin typeface="Arial"/>
              </a:rPr>
              <a:t>•  Continue a local session with Remote Control; monitor and steer from another device</a:t>
            </a:r>
          </a:p>
          <a:p>
            <a:pPr algn="l">
              <a:spcAft>
                <a:spcPts val="800"/>
              </a:spcAft>
            </a:pPr>
            <a:r>
              <a:rPr sz="2200">
                <a:solidFill>
                  <a:srgbClr val="F8FAFC"/>
                </a:solidFill>
                <a:latin typeface="Arial"/>
              </a:rPr>
              <a:t>•  Local sessions versus cloud sessions; when local context or credentials are required</a:t>
            </a:r>
          </a:p>
          <a:p>
            <a:pPr algn="l">
              <a:spcAft>
                <a:spcPts val="800"/>
              </a:spcAft>
            </a:pPr>
            <a:r>
              <a:rPr sz="2200">
                <a:solidFill>
                  <a:srgbClr val="F8FAFC"/>
                </a:solidFill>
                <a:latin typeface="Arial"/>
              </a:rPr>
              <a:t>•  Routines and scheduled work; safe automation with clear stop conditions</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180 / 198</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LOCAL VS CLOUD</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Where should this session run?</a:t>
            </a:r>
          </a:p>
        </p:txBody>
      </p:sp>
      <p:graphicFrame>
        <p:nvGraphicFramePr>
          <p:cNvPr id="6" name="Table 5"/>
          <p:cNvGraphicFramePr>
            <a:graphicFrameLocks noGrp="1"/>
          </p:cNvGraphicFramePr>
          <p:nvPr/>
        </p:nvGraphicFramePr>
        <p:xfrm>
          <a:off x="640080" y="1984248"/>
          <a:ext cx="10881359" cy="2852928"/>
        </p:xfrm>
        <a:graphic>
          <a:graphicData uri="http://schemas.openxmlformats.org/drawingml/2006/table">
            <a:tbl>
              <a:tblPr>
                <a:tableStyleId>{5C22544A-7EE6-4342-B048-85BDC9FD1C3A}</a:tableStyleId>
              </a:tblPr>
              <a:tblGrid>
                <a:gridCol w="1624083"/>
                <a:gridCol w="4709842"/>
                <a:gridCol w="4547434"/>
              </a:tblGrid>
              <a:tr h="475488">
                <a:tc>
                  <a:txBody>
                    <a:bodyPr wrap="square"/>
                    <a:lstStyle/>
                    <a:p>
                      <a:r>
                        <a:rPr sz="1600" b="1">
                          <a:solidFill>
                            <a:srgbClr val="BAFF70"/>
                          </a:solidFill>
                          <a:latin typeface="Arial"/>
                        </a:rPr>
                        <a:t/>
                      </a:r>
                    </a:p>
                  </a:txBody>
                  <a:tcPr marL="109728" marR="109728">
                    <a:solidFill>
                      <a:srgbClr val="22324A"/>
                    </a:solidFill>
                  </a:tcPr>
                </a:tc>
                <a:tc>
                  <a:txBody>
                    <a:bodyPr wrap="square"/>
                    <a:lstStyle/>
                    <a:p>
                      <a:r>
                        <a:rPr sz="1600" b="1">
                          <a:solidFill>
                            <a:srgbClr val="BAFF70"/>
                          </a:solidFill>
                          <a:latin typeface="Arial"/>
                        </a:rPr>
                        <a:t>Remote Control (local)</a:t>
                      </a:r>
                    </a:p>
                  </a:txBody>
                  <a:tcPr marL="109728" marR="109728">
                    <a:solidFill>
                      <a:srgbClr val="22324A"/>
                    </a:solidFill>
                  </a:tcPr>
                </a:tc>
                <a:tc>
                  <a:txBody>
                    <a:bodyPr wrap="square"/>
                    <a:lstStyle/>
                    <a:p>
                      <a:r>
                        <a:rPr sz="1600" b="1">
                          <a:solidFill>
                            <a:srgbClr val="BAFF70"/>
                          </a:solidFill>
                          <a:latin typeface="Arial"/>
                        </a:rPr>
                        <a:t>Cloud session / routine</a:t>
                      </a:r>
                    </a:p>
                  </a:txBody>
                  <a:tcPr marL="109728" marR="109728">
                    <a:solidFill>
                      <a:srgbClr val="22324A"/>
                    </a:solidFill>
                  </a:tcPr>
                </a:tc>
              </a:tr>
              <a:tr h="475488">
                <a:tc>
                  <a:txBody>
                    <a:bodyPr wrap="square"/>
                    <a:lstStyle/>
                    <a:p>
                      <a:r>
                        <a:rPr sz="1600" b="1">
                          <a:solidFill>
                            <a:srgbClr val="F8FAFC"/>
                          </a:solidFill>
                          <a:latin typeface="Arial"/>
                        </a:rPr>
                        <a:t>Runs on</a:t>
                      </a:r>
                    </a:p>
                  </a:txBody>
                  <a:tcPr marL="109728" marR="109728">
                    <a:solidFill>
                      <a:srgbClr val="1A283B"/>
                    </a:solidFill>
                  </a:tcPr>
                </a:tc>
                <a:tc>
                  <a:txBody>
                    <a:bodyPr wrap="square"/>
                    <a:lstStyle/>
                    <a:p>
                      <a:r>
                        <a:rPr sz="1600" b="0">
                          <a:solidFill>
                            <a:srgbClr val="ADBBCD"/>
                          </a:solidFill>
                          <a:latin typeface="Arial"/>
                        </a:rPr>
                        <a:t>Your machine</a:t>
                      </a:r>
                    </a:p>
                  </a:txBody>
                  <a:tcPr marL="109728" marR="109728">
                    <a:solidFill>
                      <a:srgbClr val="1A283B"/>
                    </a:solidFill>
                  </a:tcPr>
                </a:tc>
                <a:tc>
                  <a:txBody>
                    <a:bodyPr wrap="square"/>
                    <a:lstStyle/>
                    <a:p>
                      <a:r>
                        <a:rPr sz="1600" b="0">
                          <a:solidFill>
                            <a:srgbClr val="ADBBCD"/>
                          </a:solidFill>
                          <a:latin typeface="Arial"/>
                        </a:rPr>
                        <a:t>Anthropic cloud, fresh clone</a:t>
                      </a:r>
                    </a:p>
                  </a:txBody>
                  <a:tcPr marL="109728" marR="109728">
                    <a:solidFill>
                      <a:srgbClr val="1A283B"/>
                    </a:solidFill>
                  </a:tcPr>
                </a:tc>
              </a:tr>
              <a:tr h="475488">
                <a:tc>
                  <a:txBody>
                    <a:bodyPr wrap="square"/>
                    <a:lstStyle/>
                    <a:p>
                      <a:r>
                        <a:rPr sz="1600" b="1">
                          <a:solidFill>
                            <a:srgbClr val="F8FAFC"/>
                          </a:solidFill>
                          <a:latin typeface="Arial"/>
                        </a:rPr>
                        <a:t>Has</a:t>
                      </a:r>
                    </a:p>
                  </a:txBody>
                  <a:tcPr marL="109728" marR="109728">
                    <a:solidFill>
                      <a:srgbClr val="15233A"/>
                    </a:solidFill>
                  </a:tcPr>
                </a:tc>
                <a:tc>
                  <a:txBody>
                    <a:bodyPr wrap="square"/>
                    <a:lstStyle/>
                    <a:p>
                      <a:r>
                        <a:rPr sz="1600" b="0">
                          <a:solidFill>
                            <a:srgbClr val="ADBBCD"/>
                          </a:solidFill>
                          <a:latin typeface="Arial"/>
                        </a:rPr>
                        <a:t>Local files, credentials, VPN</a:t>
                      </a:r>
                    </a:p>
                  </a:txBody>
                  <a:tcPr marL="109728" marR="109728">
                    <a:solidFill>
                      <a:srgbClr val="15233A"/>
                    </a:solidFill>
                  </a:tcPr>
                </a:tc>
                <a:tc>
                  <a:txBody>
                    <a:bodyPr wrap="square"/>
                    <a:lstStyle/>
                    <a:p>
                      <a:r>
                        <a:rPr sz="1600" b="0">
                          <a:solidFill>
                            <a:srgbClr val="ADBBCD"/>
                          </a:solidFill>
                          <a:latin typeface="Arial"/>
                        </a:rPr>
                        <a:t>Only the GitHub repo</a:t>
                      </a:r>
                    </a:p>
                  </a:txBody>
                  <a:tcPr marL="109728" marR="109728">
                    <a:solidFill>
                      <a:srgbClr val="15233A"/>
                    </a:solidFill>
                  </a:tcPr>
                </a:tc>
              </a:tr>
              <a:tr h="475488">
                <a:tc>
                  <a:txBody>
                    <a:bodyPr wrap="square"/>
                    <a:lstStyle/>
                    <a:p>
                      <a:r>
                        <a:rPr sz="1600" b="1">
                          <a:solidFill>
                            <a:srgbClr val="F8FAFC"/>
                          </a:solidFill>
                          <a:latin typeface="Arial"/>
                        </a:rPr>
                        <a:t>Start</a:t>
                      </a:r>
                    </a:p>
                  </a:txBody>
                  <a:tcPr marL="109728" marR="109728">
                    <a:solidFill>
                      <a:srgbClr val="1A283B"/>
                    </a:solidFill>
                  </a:tcPr>
                </a:tc>
                <a:tc>
                  <a:txBody>
                    <a:bodyPr wrap="square"/>
                    <a:lstStyle/>
                    <a:p>
                      <a:r>
                        <a:rPr sz="1600" b="0">
                          <a:solidFill>
                            <a:srgbClr val="ADBBCD"/>
                          </a:solidFill>
                          <a:latin typeface="Arial"/>
                        </a:rPr>
                        <a:t>claude --remote-control / /rc</a:t>
                      </a:r>
                    </a:p>
                  </a:txBody>
                  <a:tcPr marL="109728" marR="109728">
                    <a:solidFill>
                      <a:srgbClr val="1A283B"/>
                    </a:solidFill>
                  </a:tcPr>
                </a:tc>
                <a:tc>
                  <a:txBody>
                    <a:bodyPr wrap="square"/>
                    <a:lstStyle/>
                    <a:p>
                      <a:r>
                        <a:rPr sz="1600" b="0">
                          <a:solidFill>
                            <a:srgbClr val="ADBBCD"/>
                          </a:solidFill>
                          <a:latin typeface="Arial"/>
                        </a:rPr>
                        <a:t>claude --cloud · /schedule</a:t>
                      </a:r>
                    </a:p>
                  </a:txBody>
                  <a:tcPr marL="109728" marR="109728">
                    <a:solidFill>
                      <a:srgbClr val="1A283B"/>
                    </a:solidFill>
                  </a:tcPr>
                </a:tc>
              </a:tr>
              <a:tr h="475488">
                <a:tc>
                  <a:txBody>
                    <a:bodyPr wrap="square"/>
                    <a:lstStyle/>
                    <a:p>
                      <a:r>
                        <a:rPr sz="1600" b="1">
                          <a:solidFill>
                            <a:srgbClr val="F8FAFC"/>
                          </a:solidFill>
                          <a:latin typeface="Arial"/>
                        </a:rPr>
                        <a:t>Steer from</a:t>
                      </a:r>
                    </a:p>
                  </a:txBody>
                  <a:tcPr marL="109728" marR="109728">
                    <a:solidFill>
                      <a:srgbClr val="15233A"/>
                    </a:solidFill>
                  </a:tcPr>
                </a:tc>
                <a:tc>
                  <a:txBody>
                    <a:bodyPr wrap="square"/>
                    <a:lstStyle/>
                    <a:p>
                      <a:r>
                        <a:rPr sz="1600" b="0">
                          <a:solidFill>
                            <a:srgbClr val="ADBBCD"/>
                          </a:solidFill>
                          <a:latin typeface="Arial"/>
                        </a:rPr>
                        <a:t>claude.ai/code, mobile app</a:t>
                      </a:r>
                    </a:p>
                  </a:txBody>
                  <a:tcPr marL="109728" marR="109728">
                    <a:solidFill>
                      <a:srgbClr val="15233A"/>
                    </a:solidFill>
                  </a:tcPr>
                </a:tc>
                <a:tc>
                  <a:txBody>
                    <a:bodyPr wrap="square"/>
                    <a:lstStyle/>
                    <a:p>
                      <a:r>
                        <a:rPr sz="1600" b="0">
                          <a:solidFill>
                            <a:srgbClr val="ADBBCD"/>
                          </a:solidFill>
                          <a:latin typeface="Arial"/>
                        </a:rPr>
                        <a:t>claude.ai/code</a:t>
                      </a:r>
                    </a:p>
                  </a:txBody>
                  <a:tcPr marL="109728" marR="109728">
                    <a:solidFill>
                      <a:srgbClr val="15233A"/>
                    </a:solidFill>
                  </a:tcPr>
                </a:tc>
              </a:tr>
              <a:tr h="475488">
                <a:tc>
                  <a:txBody>
                    <a:bodyPr wrap="square"/>
                    <a:lstStyle/>
                    <a:p>
                      <a:r>
                        <a:rPr sz="1600" b="1">
                          <a:solidFill>
                            <a:srgbClr val="F8FAFC"/>
                          </a:solidFill>
                          <a:latin typeface="Arial"/>
                        </a:rPr>
                        <a:t>Needs</a:t>
                      </a:r>
                    </a:p>
                  </a:txBody>
                  <a:tcPr marL="109728" marR="109728">
                    <a:solidFill>
                      <a:srgbClr val="1A283B"/>
                    </a:solidFill>
                  </a:tcPr>
                </a:tc>
                <a:tc>
                  <a:txBody>
                    <a:bodyPr wrap="square"/>
                    <a:lstStyle/>
                    <a:p>
                      <a:r>
                        <a:rPr sz="1600" b="0">
                          <a:solidFill>
                            <a:srgbClr val="ADBBCD"/>
                          </a:solidFill>
                          <a:latin typeface="Arial"/>
                        </a:rPr>
                        <a:t>The claude process alive</a:t>
                      </a:r>
                    </a:p>
                  </a:txBody>
                  <a:tcPr marL="109728" marR="109728">
                    <a:solidFill>
                      <a:srgbClr val="1A283B"/>
                    </a:solidFill>
                  </a:tcPr>
                </a:tc>
                <a:tc>
                  <a:txBody>
                    <a:bodyPr wrap="square"/>
                    <a:lstStyle/>
                    <a:p>
                      <a:r>
                        <a:rPr sz="1600" b="0">
                          <a:solidFill>
                            <a:srgbClr val="ADBBCD"/>
                          </a:solidFill>
                          <a:latin typeface="Arial"/>
                        </a:rPr>
                        <a:t>A pushed branch</a:t>
                      </a:r>
                    </a:p>
                  </a:txBody>
                  <a:tcPr marL="109728" marR="109728">
                    <a:solidFill>
                      <a:srgbClr val="1A283B"/>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181 / 198</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CONTINUE ANYWHERE</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Start locally, steer from the phone</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claude --remote-control "Shipyard v1.4 verification"</a:t>
            </a:r>
          </a:p>
          <a:p>
            <a:pPr algn="l">
              <a:spcAft>
                <a:spcPts val="400"/>
              </a:spcAft>
            </a:pPr>
            <a:r>
              <a:rPr sz="2000">
                <a:solidFill>
                  <a:srgbClr val="BAFF70"/>
                </a:solidFill>
                <a:latin typeface="Consolas"/>
              </a:rPr>
              <a:t># or inside a running session:</a:t>
            </a:r>
          </a:p>
          <a:p>
            <a:pPr algn="l">
              <a:spcAft>
                <a:spcPts val="400"/>
              </a:spcAft>
            </a:pPr>
            <a:r>
              <a:rPr sz="2000">
                <a:solidFill>
                  <a:srgbClr val="BAFF70"/>
                </a:solidFill>
                <a:latin typeface="Consolas"/>
              </a:rPr>
              <a:t>/remote-control</a:t>
            </a:r>
          </a:p>
          <a:p>
            <a:pPr algn="l">
              <a:spcAft>
                <a:spcPts val="400"/>
              </a:spcAft>
            </a:pPr>
            <a:r>
              <a:rPr sz="2000">
                <a:solidFill>
                  <a:srgbClr val="BAFF70"/>
                </a:solidFill>
                <a:latin typeface="Consolas"/>
              </a:rPr>
              <a:t># → open the session URL or scan the QR code (spacebar)</a:t>
            </a:r>
          </a:p>
          <a:p>
            <a:pPr algn="l">
              <a:spcAft>
                <a:spcPts val="400"/>
              </a:spcAft>
            </a:pPr>
            <a:r>
              <a:rPr sz="2000">
                <a:solidFill>
                  <a:srgbClr val="BAFF70"/>
                </a:solidFill>
                <a:latin typeface="Consolas"/>
              </a:rPr>
              <a:t># → claude.ai/code or the Claude app's Code tab</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Pro/Max/Team/Enterprise with a claude.ai login; Team/Enterprise owners enable it in admin settings.</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182 / 198</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SAFE AUTOMATION</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Every routine needs these six answers</a:t>
            </a:r>
          </a:p>
        </p:txBody>
      </p:sp>
      <p:graphicFrame>
        <p:nvGraphicFramePr>
          <p:cNvPr id="6" name="Table 5"/>
          <p:cNvGraphicFramePr>
            <a:graphicFrameLocks noGrp="1"/>
          </p:cNvGraphicFramePr>
          <p:nvPr/>
        </p:nvGraphicFramePr>
        <p:xfrm>
          <a:off x="640080" y="1984248"/>
          <a:ext cx="10881359" cy="3328416"/>
        </p:xfrm>
        <a:graphic>
          <a:graphicData uri="http://schemas.openxmlformats.org/drawingml/2006/table">
            <a:tbl>
              <a:tblPr>
                <a:tableStyleId>{5C22544A-7EE6-4342-B048-85BDC9FD1C3A}</a:tableStyleId>
              </a:tblPr>
              <a:tblGrid>
                <a:gridCol w="2712633"/>
                <a:gridCol w="8168726"/>
              </a:tblGrid>
              <a:tr h="475488">
                <a:tc>
                  <a:txBody>
                    <a:bodyPr wrap="square"/>
                    <a:lstStyle/>
                    <a:p>
                      <a:r>
                        <a:rPr sz="1600" b="1">
                          <a:solidFill>
                            <a:srgbClr val="BAFF70"/>
                          </a:solidFill>
                          <a:latin typeface="Arial"/>
                        </a:rPr>
                        <a:t>Field</a:t>
                      </a:r>
                    </a:p>
                  </a:txBody>
                  <a:tcPr marL="109728" marR="109728">
                    <a:solidFill>
                      <a:srgbClr val="22324A"/>
                    </a:solidFill>
                  </a:tcPr>
                </a:tc>
                <a:tc>
                  <a:txBody>
                    <a:bodyPr wrap="square"/>
                    <a:lstStyle/>
                    <a:p>
                      <a:r>
                        <a:rPr sz="1600" b="1">
                          <a:solidFill>
                            <a:srgbClr val="BAFF70"/>
                          </a:solidFill>
                          <a:latin typeface="Arial"/>
                        </a:rPr>
                        <a:t>Shipyard routine</a:t>
                      </a:r>
                    </a:p>
                  </a:txBody>
                  <a:tcPr marL="109728" marR="109728">
                    <a:solidFill>
                      <a:srgbClr val="22324A"/>
                    </a:solidFill>
                  </a:tcPr>
                </a:tc>
              </a:tr>
              <a:tr h="475488">
                <a:tc>
                  <a:txBody>
                    <a:bodyPr wrap="square"/>
                    <a:lstStyle/>
                    <a:p>
                      <a:r>
                        <a:rPr sz="1600" b="1">
                          <a:solidFill>
                            <a:srgbClr val="F8FAFC"/>
                          </a:solidFill>
                          <a:latin typeface="Arial"/>
                        </a:rPr>
                        <a:t>Trigger</a:t>
                      </a:r>
                    </a:p>
                  </a:txBody>
                  <a:tcPr marL="109728" marR="109728">
                    <a:solidFill>
                      <a:srgbClr val="1A283B"/>
                    </a:solidFill>
                  </a:tcPr>
                </a:tc>
                <a:tc>
                  <a:txBody>
                    <a:bodyPr wrap="square"/>
                    <a:lstStyle/>
                    <a:p>
                      <a:r>
                        <a:rPr sz="1600" b="0">
                          <a:solidFill>
                            <a:srgbClr val="ADBBCD"/>
                          </a:solidFill>
                          <a:latin typeface="Arial"/>
                        </a:rPr>
                        <a:t>Daily 08:45 for 7 days post-release; on merge to main</a:t>
                      </a:r>
                    </a:p>
                  </a:txBody>
                  <a:tcPr marL="109728" marR="109728">
                    <a:solidFill>
                      <a:srgbClr val="1A283B"/>
                    </a:solidFill>
                  </a:tcPr>
                </a:tc>
              </a:tr>
              <a:tr h="475488">
                <a:tc>
                  <a:txBody>
                    <a:bodyPr wrap="square"/>
                    <a:lstStyle/>
                    <a:p>
                      <a:r>
                        <a:rPr sz="1600" b="1">
                          <a:solidFill>
                            <a:srgbClr val="F8FAFC"/>
                          </a:solidFill>
                          <a:latin typeface="Arial"/>
                        </a:rPr>
                        <a:t>Scope</a:t>
                      </a:r>
                    </a:p>
                  </a:txBody>
                  <a:tcPr marL="109728" marR="109728">
                    <a:solidFill>
                      <a:srgbClr val="15233A"/>
                    </a:solidFill>
                  </a:tcPr>
                </a:tc>
                <a:tc>
                  <a:txBody>
                    <a:bodyPr wrap="square"/>
                    <a:lstStyle/>
                    <a:p>
                      <a:r>
                        <a:rPr sz="1600" b="0">
                          <a:solidFill>
                            <a:srgbClr val="ADBBCD"/>
                          </a:solidFill>
                          <a:latin typeface="Arial"/>
                        </a:rPr>
                        <a:t>Repo shipyard, branch main, read-only</a:t>
                      </a:r>
                    </a:p>
                  </a:txBody>
                  <a:tcPr marL="109728" marR="109728">
                    <a:solidFill>
                      <a:srgbClr val="15233A"/>
                    </a:solidFill>
                  </a:tcPr>
                </a:tc>
              </a:tr>
              <a:tr h="475488">
                <a:tc>
                  <a:txBody>
                    <a:bodyPr wrap="square"/>
                    <a:lstStyle/>
                    <a:p>
                      <a:r>
                        <a:rPr sz="1600" b="1">
                          <a:solidFill>
                            <a:srgbClr val="F8FAFC"/>
                          </a:solidFill>
                          <a:latin typeface="Arial"/>
                        </a:rPr>
                        <a:t>Permissions</a:t>
                      </a:r>
                    </a:p>
                  </a:txBody>
                  <a:tcPr marL="109728" marR="109728">
                    <a:solidFill>
                      <a:srgbClr val="1A283B"/>
                    </a:solidFill>
                  </a:tcPr>
                </a:tc>
                <a:tc>
                  <a:txBody>
                    <a:bodyPr wrap="square"/>
                    <a:lstStyle/>
                    <a:p>
                      <a:r>
                        <a:rPr sz="1600" b="0">
                          <a:solidFill>
                            <a:srgbClr val="ADBBCD"/>
                          </a:solidFill>
                          <a:latin typeface="Arial"/>
                        </a:rPr>
                        <a:t>Run tests and probe; draft issue/PR only</a:t>
                      </a:r>
                    </a:p>
                  </a:txBody>
                  <a:tcPr marL="109728" marR="109728">
                    <a:solidFill>
                      <a:srgbClr val="1A283B"/>
                    </a:solidFill>
                  </a:tcPr>
                </a:tc>
              </a:tr>
              <a:tr h="475488">
                <a:tc>
                  <a:txBody>
                    <a:bodyPr wrap="square"/>
                    <a:lstStyle/>
                    <a:p>
                      <a:r>
                        <a:rPr sz="1600" b="1">
                          <a:solidFill>
                            <a:srgbClr val="F8FAFC"/>
                          </a:solidFill>
                          <a:latin typeface="Arial"/>
                        </a:rPr>
                        <a:t>Output</a:t>
                      </a:r>
                    </a:p>
                  </a:txBody>
                  <a:tcPr marL="109728" marR="109728">
                    <a:solidFill>
                      <a:srgbClr val="15233A"/>
                    </a:solidFill>
                  </a:tcPr>
                </a:tc>
                <a:tc>
                  <a:txBody>
                    <a:bodyPr wrap="square"/>
                    <a:lstStyle/>
                    <a:p>
                      <a:r>
                        <a:rPr sz="1600" b="0">
                          <a:solidFill>
                            <a:srgbClr val="ADBBCD"/>
                          </a:solidFill>
                          <a:latin typeface="Arial"/>
                        </a:rPr>
                        <a:t>Totals + probe + GREEN/YELLOW/RED</a:t>
                      </a:r>
                    </a:p>
                  </a:txBody>
                  <a:tcPr marL="109728" marR="109728">
                    <a:solidFill>
                      <a:srgbClr val="15233A"/>
                    </a:solidFill>
                  </a:tcPr>
                </a:tc>
              </a:tr>
              <a:tr h="475488">
                <a:tc>
                  <a:txBody>
                    <a:bodyPr wrap="square"/>
                    <a:lstStyle/>
                    <a:p>
                      <a:r>
                        <a:rPr sz="1600" b="1">
                          <a:solidFill>
                            <a:srgbClr val="F8FAFC"/>
                          </a:solidFill>
                          <a:latin typeface="Arial"/>
                        </a:rPr>
                        <a:t>Approval point</a:t>
                      </a:r>
                    </a:p>
                  </a:txBody>
                  <a:tcPr marL="109728" marR="109728">
                    <a:solidFill>
                      <a:srgbClr val="1A283B"/>
                    </a:solidFill>
                  </a:tcPr>
                </a:tc>
                <a:tc>
                  <a:txBody>
                    <a:bodyPr wrap="square"/>
                    <a:lstStyle/>
                    <a:p>
                      <a:r>
                        <a:rPr sz="1600" b="0">
                          <a:solidFill>
                            <a:srgbClr val="ADBBCD"/>
                          </a:solidFill>
                          <a:latin typeface="Arial"/>
                        </a:rPr>
                        <a:t>Engineer of record on any proposed fix</a:t>
                      </a:r>
                    </a:p>
                  </a:txBody>
                  <a:tcPr marL="109728" marR="109728">
                    <a:solidFill>
                      <a:srgbClr val="1A283B"/>
                    </a:solidFill>
                  </a:tcPr>
                </a:tc>
              </a:tr>
              <a:tr h="475488">
                <a:tc>
                  <a:txBody>
                    <a:bodyPr wrap="square"/>
                    <a:lstStyle/>
                    <a:p>
                      <a:r>
                        <a:rPr sz="1600" b="1">
                          <a:solidFill>
                            <a:srgbClr val="F8FAFC"/>
                          </a:solidFill>
                          <a:latin typeface="Arial"/>
                        </a:rPr>
                        <a:t>Stop</a:t>
                      </a:r>
                    </a:p>
                  </a:txBody>
                  <a:tcPr marL="109728" marR="109728">
                    <a:solidFill>
                      <a:srgbClr val="15233A"/>
                    </a:solidFill>
                  </a:tcPr>
                </a:tc>
                <a:tc>
                  <a:txBody>
                    <a:bodyPr wrap="square"/>
                    <a:lstStyle/>
                    <a:p>
                      <a:r>
                        <a:rPr sz="1600" b="0">
                          <a:solidFill>
                            <a:srgbClr val="ADBBCD"/>
                          </a:solidFill>
                          <a:latin typeface="Arial"/>
                        </a:rPr>
                        <a:t>After 7 GREEN, or first RED → issue + disable</a:t>
                      </a:r>
                    </a:p>
                  </a:txBody>
                  <a:tcPr marL="109728" marR="109728">
                    <a:solidFill>
                      <a:srgbClr val="15233A"/>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183 / 198</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14 · PROMPT 1 OF 2</a:t>
            </a:r>
          </a:p>
        </p:txBody>
      </p:sp>
      <p:sp>
        <p:nvSpPr>
          <p:cNvPr id="5" name="TextBox 4"/>
          <p:cNvSpPr txBox="1"/>
          <p:nvPr/>
        </p:nvSpPr>
        <p:spPr>
          <a:xfrm>
            <a:off x="640080" y="1280160"/>
            <a:ext cx="10881360" cy="1097280"/>
          </a:xfrm>
          <a:prstGeom prst="rect">
            <a:avLst/>
          </a:prstGeom>
          <a:noFill/>
        </p:spPr>
        <p:txBody>
          <a:bodyPr wrap="square" lIns="0" rIns="0" tIns="0" bIns="0">
            <a:spAutoFit/>
          </a:bodyPr>
          <a:lstStyle/>
          <a:p>
            <a:pPr algn="l"/>
            <a:r>
              <a:rPr sz="3000" b="1">
                <a:solidFill>
                  <a:srgbClr val="F8FAFC"/>
                </a:solidFill>
                <a:latin typeface="Arial"/>
              </a:rPr>
              <a:t>Remote Control (claude --remote-control "Shipyard v1.4 verification")</a:t>
            </a:r>
          </a:p>
        </p:txBody>
      </p:sp>
      <p:sp>
        <p:nvSpPr>
          <p:cNvPr id="6" name="Rounded Rectangle 5"/>
          <p:cNvSpPr/>
          <p:nvPr/>
        </p:nvSpPr>
        <p:spPr>
          <a:xfrm>
            <a:off x="640080" y="2551176"/>
            <a:ext cx="10881360" cy="3300984"/>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Run both test suites and python3 scripts/readiness_probe.py (it</a:t>
            </a:r>
          </a:p>
          <a:p>
            <a:pPr algn="l">
              <a:spcAft>
                <a:spcPts val="400"/>
              </a:spcAft>
            </a:pPr>
            <a:r>
              <a:rPr sz="2000">
                <a:solidFill>
                  <a:srgbClr val="BAFF70"/>
                </a:solidFill>
                <a:latin typeface="Consolas"/>
              </a:rPr>
              <a:t>starts its own server), then write a five-line verification status</a:t>
            </a:r>
          </a:p>
          <a:p>
            <a:pPr algn="l">
              <a:spcAft>
                <a:spcPts val="400"/>
              </a:spcAft>
            </a:pPr>
            <a:r>
              <a:rPr sz="2000">
                <a:solidFill>
                  <a:srgbClr val="BAFF70"/>
                </a:solidFill>
                <a:latin typeface="Consolas"/>
              </a:rPr>
              <a:t>to ops/remote-verification-status.md: test totals with the raw</a:t>
            </a:r>
          </a:p>
          <a:p>
            <a:pPr algn="l">
              <a:spcAft>
                <a:spcPts val="400"/>
              </a:spcAft>
            </a:pPr>
            <a:r>
              <a:rPr sz="2000">
                <a:solidFill>
                  <a:srgbClr val="BAFF70"/>
                </a:solidFill>
                <a:latin typeface="Consolas"/>
              </a:rPr>
              <a:t>summary lines, probe results, verdict GREEN/YELLOW/RED and the next</a:t>
            </a:r>
          </a:p>
          <a:p>
            <a:pPr algn="l">
              <a:spcAft>
                <a:spcPts val="400"/>
              </a:spcAft>
            </a:pPr>
            <a:r>
              <a:rPr sz="2000">
                <a:solidFill>
                  <a:srgbClr val="BAFF70"/>
                </a:solidFill>
                <a:latin typeface="Consolas"/>
              </a:rPr>
              <a:t>step. Stop after writing the file; do not edit anything else.</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parts/14-remote-routine/PROMPTS.md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184 / 198</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14 · PROMPT 2 OF 2</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Design the routine</a:t>
            </a:r>
          </a:p>
        </p:txBody>
      </p:sp>
      <p:sp>
        <p:nvSpPr>
          <p:cNvPr id="6" name="Rounded Rectangle 5"/>
          <p:cNvSpPr/>
          <p:nvPr/>
        </p:nvSpPr>
        <p:spPr>
          <a:xfrm>
            <a:off x="640080" y="1984248"/>
            <a:ext cx="1088136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400"/>
              </a:spcAft>
            </a:pPr>
            <a:r>
              <a:rPr sz="2000">
                <a:solidFill>
                  <a:srgbClr val="BAFF70"/>
                </a:solidFill>
                <a:latin typeface="Consolas"/>
              </a:rPr>
              <a:t>Write ops/post-release-routine.md using templates/post-release-</a:t>
            </a:r>
          </a:p>
          <a:p>
            <a:pPr algn="l">
              <a:spcAft>
                <a:spcPts val="400"/>
              </a:spcAft>
            </a:pPr>
            <a:r>
              <a:rPr sz="2000">
                <a:solidFill>
                  <a:srgbClr val="BAFF70"/>
                </a:solidFill>
                <a:latin typeface="Consolas"/>
              </a:rPr>
              <a:t>routine-brief.md: a recurring post-release check for this repository</a:t>
            </a:r>
          </a:p>
          <a:p>
            <a:pPr algn="l">
              <a:spcAft>
                <a:spcPts val="400"/>
              </a:spcAft>
            </a:pPr>
            <a:r>
              <a:rPr sz="2000">
                <a:solidFill>
                  <a:srgbClr val="BAFF70"/>
                </a:solidFill>
                <a:latin typeface="Consolas"/>
              </a:rPr>
              <a:t>with trigger, repository scope, required permissions (least</a:t>
            </a:r>
          </a:p>
          <a:p>
            <a:pPr algn="l">
              <a:spcAft>
                <a:spcPts val="400"/>
              </a:spcAft>
            </a:pPr>
            <a:r>
              <a:rPr sz="2000">
                <a:solidFill>
                  <a:srgbClr val="BAFF70"/>
                </a:solidFill>
                <a:latin typeface="Consolas"/>
              </a:rPr>
              <a:t>privilege), expected output, the human approval point, and the</a:t>
            </a:r>
          </a:p>
          <a:p>
            <a:pPr algn="l">
              <a:spcAft>
                <a:spcPts val="400"/>
              </a:spcAft>
            </a:pPr>
            <a:r>
              <a:rPr sz="2000">
                <a:solidFill>
                  <a:srgbClr val="BAFF70"/>
                </a:solidFill>
                <a:latin typeface="Consolas"/>
              </a:rPr>
              <a:t>completion or stop condition. Say what must stay local and what can</a:t>
            </a:r>
          </a:p>
          <a:p>
            <a:pPr algn="l">
              <a:spcAft>
                <a:spcPts val="400"/>
              </a:spcAft>
            </a:pPr>
            <a:r>
              <a:rPr sz="2000">
                <a:solidFill>
                  <a:srgbClr val="BAFF70"/>
                </a:solidFill>
                <a:latin typeface="Consolas"/>
              </a:rPr>
              <a:t>run as a cloud routine.</a:t>
            </a:r>
          </a:p>
        </p:txBody>
      </p:sp>
      <p:sp>
        <p:nvSpPr>
          <p:cNvPr id="7" name="TextBox 6"/>
          <p:cNvSpPr txBox="1"/>
          <p:nvPr/>
        </p:nvSpPr>
        <p:spPr>
          <a:xfrm>
            <a:off x="640080" y="6035040"/>
            <a:ext cx="10881360" cy="365760"/>
          </a:xfrm>
          <a:prstGeom prst="rect">
            <a:avLst/>
          </a:prstGeom>
          <a:noFill/>
        </p:spPr>
        <p:txBody>
          <a:bodyPr wrap="square" lIns="0" rIns="0" tIns="0" bIns="0">
            <a:spAutoFit/>
          </a:bodyPr>
          <a:lstStyle/>
          <a:p>
            <a:pPr algn="l"/>
            <a:r>
              <a:rPr sz="1400" b="0">
                <a:solidFill>
                  <a:srgbClr val="ADBBCD"/>
                </a:solidFill>
                <a:latin typeface="Arial"/>
              </a:rPr>
              <a:t>Copy from parts/14-remote-routine/PROMPTS.md</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185 / 198</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pic>
        <p:nvPicPr>
          <p:cNvPr id="2" name="14-remote-routine.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14 · EVIDENCE, NOT CLAIMS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the run proved</a:t>
            </a:r>
          </a:p>
        </p:txBody>
      </p:sp>
      <p:sp>
        <p:nvSpPr>
          <p:cNvPr id="6" name="TextBox 5"/>
          <p:cNvSpPr txBox="1"/>
          <p:nvPr/>
        </p:nvSpPr>
        <p:spPr>
          <a:xfrm>
            <a:off x="640080" y="1984248"/>
            <a:ext cx="5349240" cy="365760"/>
          </a:xfrm>
          <a:prstGeom prst="rect">
            <a:avLst/>
          </a:prstGeom>
          <a:noFill/>
        </p:spPr>
        <p:txBody>
          <a:bodyPr wrap="square" lIns="0" rIns="0" tIns="0" bIns="0">
            <a:spAutoFit/>
          </a:bodyPr>
          <a:lstStyle/>
          <a:p>
            <a:pPr algn="l"/>
            <a:r>
              <a:rPr sz="1500" b="1">
                <a:solidFill>
                  <a:srgbClr val="FBBF24"/>
                </a:solidFill>
                <a:latin typeface="Arial"/>
              </a:rPr>
              <a:t>WHAT TO LOOK FOR</a:t>
            </a:r>
          </a:p>
        </p:txBody>
      </p:sp>
      <p:sp>
        <p:nvSpPr>
          <p:cNvPr id="7" name="Rounded Rectangle 6"/>
          <p:cNvSpPr/>
          <p:nvPr/>
        </p:nvSpPr>
        <p:spPr>
          <a:xfrm>
            <a:off x="64008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Session visible on claude.ai/code and the mobile app</a:t>
            </a:r>
          </a:p>
          <a:p>
            <a:pPr algn="l">
              <a:spcAft>
                <a:spcPts val="800"/>
              </a:spcAft>
            </a:pPr>
            <a:r>
              <a:rPr sz="1900">
                <a:solidFill>
                  <a:srgbClr val="F8FAFC"/>
                </a:solidFill>
                <a:latin typeface="Arial"/>
              </a:rPr>
              <a:t>•  Steered once from the phone</a:t>
            </a:r>
          </a:p>
          <a:p>
            <a:pPr algn="l">
              <a:spcAft>
                <a:spcPts val="800"/>
              </a:spcAft>
            </a:pPr>
            <a:r>
              <a:rPr sz="1900">
                <a:solidFill>
                  <a:srgbClr val="F8FAFC"/>
                </a:solidFill>
                <a:latin typeface="Arial"/>
              </a:rPr>
              <a:t>•  Status file written by the remote session</a:t>
            </a:r>
          </a:p>
          <a:p>
            <a:pPr algn="l">
              <a:spcAft>
                <a:spcPts val="800"/>
              </a:spcAft>
            </a:pPr>
            <a:r>
              <a:rPr sz="1900">
                <a:solidFill>
                  <a:srgbClr val="F8FAFC"/>
                </a:solidFill>
                <a:latin typeface="Arial"/>
              </a:rPr>
              <a:t>•  Routine brief with stop conditions</a:t>
            </a:r>
          </a:p>
        </p:txBody>
      </p:sp>
      <p:sp>
        <p:nvSpPr>
          <p:cNvPr id="8" name="TextBox 7"/>
          <p:cNvSpPr txBox="1"/>
          <p:nvPr/>
        </p:nvSpPr>
        <p:spPr>
          <a:xfrm>
            <a:off x="6172200" y="1984248"/>
            <a:ext cx="5349240" cy="365760"/>
          </a:xfrm>
          <a:prstGeom prst="rect">
            <a:avLst/>
          </a:prstGeom>
          <a:noFill/>
        </p:spPr>
        <p:txBody>
          <a:bodyPr wrap="square" lIns="0" rIns="0" tIns="0" bIns="0">
            <a:spAutoFit/>
          </a:bodyPr>
          <a:lstStyle/>
          <a:p>
            <a:pPr algn="l"/>
            <a:r>
              <a:rPr sz="1500" b="1">
                <a:solidFill>
                  <a:srgbClr val="BAFF70"/>
                </a:solidFill>
                <a:latin typeface="Arial"/>
              </a:rPr>
              <a:t>WHAT THE RECORDED RUN PRODUCED</a:t>
            </a:r>
          </a:p>
        </p:txBody>
      </p:sp>
      <p:sp>
        <p:nvSpPr>
          <p:cNvPr id="9" name="Rounded Rectangle 8"/>
          <p:cNvSpPr/>
          <p:nvPr/>
        </p:nvSpPr>
        <p:spPr>
          <a:xfrm>
            <a:off x="6172200" y="2441448"/>
            <a:ext cx="5349240" cy="38679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1900">
                <a:solidFill>
                  <a:srgbClr val="F8FAFC"/>
                </a:solidFill>
                <a:latin typeface="Arial"/>
              </a:rPr>
              <a:t>•  2 prompt(s) · 4 min 12 s · $0.25 · 8 tool calls</a:t>
            </a:r>
          </a:p>
          <a:p>
            <a:pPr algn="l">
              <a:spcAft>
                <a:spcPts val="800"/>
              </a:spcAft>
            </a:pPr>
            <a:r>
              <a:rPr sz="1900">
                <a:solidFill>
                  <a:srgbClr val="F8FAFC"/>
                </a:solidFill>
                <a:latin typeface="Arial"/>
              </a:rPr>
              <a:t>•  Tests seen in the run: Ran 54 tests in 1.904s</a:t>
            </a:r>
          </a:p>
          <a:p>
            <a:pPr algn="l">
              <a:spcAft>
                <a:spcPts val="800"/>
              </a:spcAft>
            </a:pPr>
            <a:r>
              <a:rPr sz="1900">
                <a:solidFill>
                  <a:srgbClr val="F8FAFC"/>
                </a:solidFill>
                <a:latin typeface="Arial"/>
              </a:rPr>
              <a:t>•  bin/bootcamp verify: 21 PASS · 0 FAIL</a:t>
            </a:r>
          </a:p>
          <a:p>
            <a:pPr algn="l">
              <a:spcAft>
                <a:spcPts val="800"/>
              </a:spcAft>
            </a:pPr>
            <a:r>
              <a:rPr sz="1900">
                <a:solidFill>
                  <a:srgbClr val="F8FAFC"/>
                </a:solidFill>
                <a:latin typeface="Arial"/>
              </a:rPr>
              <a:t>•  Changed: ?? ops/</a:t>
            </a:r>
          </a:p>
        </p:txBody>
      </p:sp>
      <p:sp>
        <p:nvSpPr>
          <p:cNvPr id="10" name="TextBox 9"/>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187 / 198</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14 · DISCUSS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Your turn to think</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What must never run unattended?</a:t>
            </a:r>
          </a:p>
          <a:p>
            <a:pPr algn="l">
              <a:spcAft>
                <a:spcPts val="800"/>
              </a:spcAft>
            </a:pPr>
            <a:r>
              <a:rPr sz="2200">
                <a:solidFill>
                  <a:srgbClr val="F8FAFC"/>
                </a:solidFill>
                <a:latin typeface="Arial"/>
              </a:rPr>
              <a:t>•  What stays local, and why?</a:t>
            </a:r>
          </a:p>
          <a:p>
            <a:pPr algn="l">
              <a:spcAft>
                <a:spcPts val="800"/>
              </a:spcAft>
            </a:pPr>
            <a:r>
              <a:rPr sz="2200">
                <a:solidFill>
                  <a:srgbClr val="F8FAFC"/>
                </a:solidFill>
                <a:latin typeface="Arial"/>
              </a:rPr>
              <a:t>•  What is your stop condition for a routine that fails twice?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188 / 198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14 · LAB</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Hands-on</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Design your own post-release routine with the template; trade it with a neighbour and find one missing stop condition.</a:t>
            </a:r>
          </a:p>
          <a:p>
            <a:pPr algn="l">
              <a:spcAft>
                <a:spcPts val="800"/>
              </a:spcAft>
            </a:pPr>
            <a:r>
              <a:rPr sz="2200">
                <a:solidFill>
                  <a:srgbClr val="F8FAFC"/>
                </a:solidFill>
                <a:latin typeface="Arial"/>
              </a:rPr>
              <a:t>•  Start: bin/bootcamp stage 14</a:t>
            </a:r>
          </a:p>
          <a:p>
            <a:pPr algn="l">
              <a:spcAft>
                <a:spcPts val="800"/>
              </a:spcAft>
            </a:pPr>
            <a:r>
              <a:rPr sz="2200">
                <a:solidFill>
                  <a:srgbClr val="F8FAFC"/>
                </a:solidFill>
                <a:latin typeface="Arial"/>
              </a:rPr>
              <a:t>•  Prompts: parts/14-remote-routine/PROMPTS.md</a:t>
            </a:r>
          </a:p>
          <a:p>
            <a:pPr algn="l">
              <a:spcAft>
                <a:spcPts val="800"/>
              </a:spcAft>
            </a:pPr>
            <a:r>
              <a:rPr sz="2200">
                <a:solidFill>
                  <a:srgbClr val="F8FAFC"/>
                </a:solidFill>
                <a:latin typeface="Arial"/>
              </a:rPr>
              <a:t>•  Check: bin/bootcamp verify</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189 / 198</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PART 14 · CHECKPOINT</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You now have</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Cross-device continuation checklist</a:t>
            </a:r>
          </a:p>
          <a:p>
            <a:pPr algn="l">
              <a:spcAft>
                <a:spcPts val="800"/>
              </a:spcAft>
            </a:pPr>
            <a:r>
              <a:rPr sz="2200">
                <a:solidFill>
                  <a:srgbClr val="F8FAFC"/>
                </a:solidFill>
                <a:latin typeface="Arial"/>
              </a:rPr>
              <a:t>✓  Remote verification status update</a:t>
            </a:r>
          </a:p>
          <a:p>
            <a:pPr algn="l">
              <a:spcAft>
                <a:spcPts val="800"/>
              </a:spcAft>
            </a:pPr>
            <a:r>
              <a:rPr sz="2200">
                <a:solidFill>
                  <a:srgbClr val="F8FAFC"/>
                </a:solidFill>
                <a:latin typeface="Arial"/>
              </a:rPr>
              <a:t>✓  Post-release routine brief</a:t>
            </a:r>
          </a:p>
          <a:p>
            <a:pPr algn="l">
              <a:spcAft>
                <a:spcPts val="800"/>
              </a:spcAft>
            </a:pPr>
            <a:r>
              <a:rPr sz="2200">
                <a:solidFill>
                  <a:srgbClr val="F8FAFC"/>
                </a:solidFill>
                <a:latin typeface="Arial"/>
              </a:rPr>
              <a:t>•  Behind? bin/bootcamp checkpoint 14 --force</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190 / 198</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2194560"/>
            <a:ext cx="10058400" cy="365760"/>
          </a:xfrm>
          <a:prstGeom prst="rect">
            <a:avLst/>
          </a:prstGeom>
          <a:noFill/>
        </p:spPr>
        <p:txBody>
          <a:bodyPr wrap="square" lIns="0" rIns="0" tIns="0" bIns="0">
            <a:spAutoFit/>
          </a:bodyPr>
          <a:lstStyle/>
          <a:p>
            <a:pPr algn="l"/>
            <a:r>
              <a:rPr sz="1600" b="1">
                <a:solidFill>
                  <a:srgbClr val="BAFF70"/>
                </a:solidFill>
                <a:latin typeface="Arial"/>
              </a:rPr>
              <a:t>16:05–16:30</a:t>
            </a:r>
          </a:p>
        </p:txBody>
      </p:sp>
      <p:sp>
        <p:nvSpPr>
          <p:cNvPr id="5" name="TextBox 4"/>
          <p:cNvSpPr txBox="1"/>
          <p:nvPr/>
        </p:nvSpPr>
        <p:spPr>
          <a:xfrm>
            <a:off x="640080" y="2697480"/>
            <a:ext cx="10789920" cy="1463040"/>
          </a:xfrm>
          <a:prstGeom prst="rect">
            <a:avLst/>
          </a:prstGeom>
          <a:noFill/>
        </p:spPr>
        <p:txBody>
          <a:bodyPr wrap="square" lIns="0" rIns="0" tIns="0" bIns="0">
            <a:spAutoFit/>
          </a:bodyPr>
          <a:lstStyle/>
          <a:p>
            <a:pPr algn="l"/>
            <a:r>
              <a:rPr sz="4600" b="1">
                <a:solidFill>
                  <a:srgbClr val="F8FAFC"/>
                </a:solidFill>
                <a:latin typeface="Arial"/>
              </a:rPr>
              <a:t>Final Q&amp;A and exam briefing</a:t>
            </a:r>
          </a:p>
        </p:txBody>
      </p:sp>
      <p:sp>
        <p:nvSpPr>
          <p:cNvPr id="6" name="TextBox 5"/>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191 / 198</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COMMON MISTAKES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Anti-patterns we avoided today</a:t>
            </a:r>
          </a:p>
        </p:txBody>
      </p:sp>
      <p:graphicFrame>
        <p:nvGraphicFramePr>
          <p:cNvPr id="6" name="Table 5"/>
          <p:cNvGraphicFramePr>
            <a:graphicFrameLocks noGrp="1"/>
          </p:cNvGraphicFramePr>
          <p:nvPr/>
        </p:nvGraphicFramePr>
        <p:xfrm>
          <a:off x="640080" y="1984248"/>
          <a:ext cx="10881359" cy="3803904"/>
        </p:xfrm>
        <a:graphic>
          <a:graphicData uri="http://schemas.openxmlformats.org/drawingml/2006/table">
            <a:tbl>
              <a:tblPr>
                <a:tableStyleId>{5C22544A-7EE6-4342-B048-85BDC9FD1C3A}</a:tableStyleId>
              </a:tblPr>
              <a:tblGrid>
                <a:gridCol w="4930616"/>
                <a:gridCol w="5950743"/>
              </a:tblGrid>
              <a:tr h="475488">
                <a:tc>
                  <a:txBody>
                    <a:bodyPr wrap="square"/>
                    <a:lstStyle/>
                    <a:p>
                      <a:r>
                        <a:rPr sz="1400" b="1">
                          <a:solidFill>
                            <a:srgbClr val="BAFF70"/>
                          </a:solidFill>
                          <a:latin typeface="Arial"/>
                        </a:rPr>
                        <a:t>Anti-pattern</a:t>
                      </a:r>
                    </a:p>
                  </a:txBody>
                  <a:tcPr marL="109728" marR="109728">
                    <a:solidFill>
                      <a:srgbClr val="22324A"/>
                    </a:solidFill>
                  </a:tcPr>
                </a:tc>
                <a:tc>
                  <a:txBody>
                    <a:bodyPr wrap="square"/>
                    <a:lstStyle/>
                    <a:p>
                      <a:r>
                        <a:rPr sz="1400" b="1">
                          <a:solidFill>
                            <a:srgbClr val="BAFF70"/>
                          </a:solidFill>
                          <a:latin typeface="Arial"/>
                        </a:rPr>
                        <a:t>Instead</a:t>
                      </a:r>
                    </a:p>
                  </a:txBody>
                  <a:tcPr marL="109728" marR="109728">
                    <a:solidFill>
                      <a:srgbClr val="22324A"/>
                    </a:solidFill>
                  </a:tcPr>
                </a:tc>
              </a:tr>
              <a:tr h="475488">
                <a:tc>
                  <a:txBody>
                    <a:bodyPr wrap="square"/>
                    <a:lstStyle/>
                    <a:p>
                      <a:r>
                        <a:rPr sz="1400" b="1">
                          <a:solidFill>
                            <a:srgbClr val="F8FAFC"/>
                          </a:solidFill>
                          <a:latin typeface="Arial"/>
                        </a:rPr>
                        <a:t>Accepting 'done'</a:t>
                      </a:r>
                    </a:p>
                  </a:txBody>
                  <a:tcPr marL="109728" marR="109728">
                    <a:solidFill>
                      <a:srgbClr val="1A283B"/>
                    </a:solidFill>
                  </a:tcPr>
                </a:tc>
                <a:tc>
                  <a:txBody>
                    <a:bodyPr wrap="square"/>
                    <a:lstStyle/>
                    <a:p>
                      <a:r>
                        <a:rPr sz="1400" b="0">
                          <a:solidFill>
                            <a:srgbClr val="ADBBCD"/>
                          </a:solidFill>
                          <a:latin typeface="Arial"/>
                        </a:rPr>
                        <a:t>Command + raw output</a:t>
                      </a:r>
                    </a:p>
                  </a:txBody>
                  <a:tcPr marL="109728" marR="109728">
                    <a:solidFill>
                      <a:srgbClr val="1A283B"/>
                    </a:solidFill>
                  </a:tcPr>
                </a:tc>
              </a:tr>
              <a:tr h="475488">
                <a:tc>
                  <a:txBody>
                    <a:bodyPr wrap="square"/>
                    <a:lstStyle/>
                    <a:p>
                      <a:r>
                        <a:rPr sz="1400" b="1">
                          <a:solidFill>
                            <a:srgbClr val="F8FAFC"/>
                          </a:solidFill>
                          <a:latin typeface="Arial"/>
                        </a:rPr>
                        <a:t>Huge CLAUDE.md</a:t>
                      </a:r>
                    </a:p>
                  </a:txBody>
                  <a:tcPr marL="109728" marR="109728">
                    <a:solidFill>
                      <a:srgbClr val="15233A"/>
                    </a:solidFill>
                  </a:tcPr>
                </a:tc>
                <a:tc>
                  <a:txBody>
                    <a:bodyPr wrap="square"/>
                    <a:lstStyle/>
                    <a:p>
                      <a:r>
                        <a:rPr sz="1400" b="0">
                          <a:solidFill>
                            <a:srgbClr val="ADBBCD"/>
                          </a:solidFill>
                          <a:latin typeface="Arial"/>
                        </a:rPr>
                        <a:t>Rules, Skills, auto memory</a:t>
                      </a:r>
                    </a:p>
                  </a:txBody>
                  <a:tcPr marL="109728" marR="109728">
                    <a:solidFill>
                      <a:srgbClr val="15233A"/>
                    </a:solidFill>
                  </a:tcPr>
                </a:tc>
              </a:tr>
              <a:tr h="475488">
                <a:tc>
                  <a:txBody>
                    <a:bodyPr wrap="square"/>
                    <a:lstStyle/>
                    <a:p>
                      <a:r>
                        <a:rPr sz="1400" b="1">
                          <a:solidFill>
                            <a:srgbClr val="F8FAFC"/>
                          </a:solidFill>
                          <a:latin typeface="Arial"/>
                        </a:rPr>
                        <a:t>First answer wins</a:t>
                      </a:r>
                    </a:p>
                  </a:txBody>
                  <a:tcPr marL="109728" marR="109728">
                    <a:solidFill>
                      <a:srgbClr val="1A283B"/>
                    </a:solidFill>
                  </a:tcPr>
                </a:tc>
                <a:tc>
                  <a:txBody>
                    <a:bodyPr wrap="square"/>
                    <a:lstStyle/>
                    <a:p>
                      <a:r>
                        <a:rPr sz="1400" b="0">
                          <a:solidFill>
                            <a:srgbClr val="ADBBCD"/>
                          </a:solidFill>
                          <a:latin typeface="Arial"/>
                        </a:rPr>
                        <a:t>Best-of-N with a fixed matrix</a:t>
                      </a:r>
                    </a:p>
                  </a:txBody>
                  <a:tcPr marL="109728" marR="109728">
                    <a:solidFill>
                      <a:srgbClr val="1A283B"/>
                    </a:solidFill>
                  </a:tcPr>
                </a:tc>
              </a:tr>
              <a:tr h="475488">
                <a:tc>
                  <a:txBody>
                    <a:bodyPr wrap="square"/>
                    <a:lstStyle/>
                    <a:p>
                      <a:r>
                        <a:rPr sz="1400" b="1">
                          <a:solidFill>
                            <a:srgbClr val="F8FAFC"/>
                          </a:solidFill>
                          <a:latin typeface="Arial"/>
                        </a:rPr>
                        <a:t>Editing before reproducing</a:t>
                      </a:r>
                    </a:p>
                  </a:txBody>
                  <a:tcPr marL="109728" marR="109728">
                    <a:solidFill>
                      <a:srgbClr val="15233A"/>
                    </a:solidFill>
                  </a:tcPr>
                </a:tc>
                <a:tc>
                  <a:txBody>
                    <a:bodyPr wrap="square"/>
                    <a:lstStyle/>
                    <a:p>
                      <a:r>
                        <a:rPr sz="1400" b="0">
                          <a:solidFill>
                            <a:srgbClr val="ADBBCD"/>
                          </a:solidFill>
                          <a:latin typeface="Arial"/>
                        </a:rPr>
                        <a:t>Failing test first</a:t>
                      </a:r>
                    </a:p>
                  </a:txBody>
                  <a:tcPr marL="109728" marR="109728">
                    <a:solidFill>
                      <a:srgbClr val="15233A"/>
                    </a:solidFill>
                  </a:tcPr>
                </a:tc>
              </a:tr>
              <a:tr h="475488">
                <a:tc>
                  <a:txBody>
                    <a:bodyPr wrap="square"/>
                    <a:lstStyle/>
                    <a:p>
                      <a:r>
                        <a:rPr sz="1400" b="1">
                          <a:solidFill>
                            <a:srgbClr val="F8FAFC"/>
                          </a:solidFill>
                          <a:latin typeface="Arial"/>
                        </a:rPr>
                        <a:t>Agent Team for a small change</a:t>
                      </a:r>
                    </a:p>
                  </a:txBody>
                  <a:tcPr marL="109728" marR="109728">
                    <a:solidFill>
                      <a:srgbClr val="1A283B"/>
                    </a:solidFill>
                  </a:tcPr>
                </a:tc>
                <a:tc>
                  <a:txBody>
                    <a:bodyPr wrap="square"/>
                    <a:lstStyle/>
                    <a:p>
                      <a:r>
                        <a:rPr sz="1400" b="0">
                          <a:solidFill>
                            <a:srgbClr val="ADBBCD"/>
                          </a:solidFill>
                          <a:latin typeface="Arial"/>
                        </a:rPr>
                        <a:t>One session + subagent</a:t>
                      </a:r>
                    </a:p>
                  </a:txBody>
                  <a:tcPr marL="109728" marR="109728">
                    <a:solidFill>
                      <a:srgbClr val="1A283B"/>
                    </a:solidFill>
                  </a:tcPr>
                </a:tc>
              </a:tr>
              <a:tr h="475488">
                <a:tc>
                  <a:txBody>
                    <a:bodyPr wrap="square"/>
                    <a:lstStyle/>
                    <a:p>
                      <a:r>
                        <a:rPr sz="1400" b="1">
                          <a:solidFill>
                            <a:srgbClr val="F8FAFC"/>
                          </a:solidFill>
                          <a:latin typeface="Arial"/>
                        </a:rPr>
                        <a:t>Instruction for a hard rule</a:t>
                      </a:r>
                    </a:p>
                  </a:txBody>
                  <a:tcPr marL="109728" marR="109728">
                    <a:solidFill>
                      <a:srgbClr val="15233A"/>
                    </a:solidFill>
                  </a:tcPr>
                </a:tc>
                <a:tc>
                  <a:txBody>
                    <a:bodyPr wrap="square"/>
                    <a:lstStyle/>
                    <a:p>
                      <a:r>
                        <a:rPr sz="1400" b="0">
                          <a:solidFill>
                            <a:srgbClr val="ADBBCD"/>
                          </a:solidFill>
                          <a:latin typeface="Arial"/>
                        </a:rPr>
                        <a:t>A hook</a:t>
                      </a:r>
                    </a:p>
                  </a:txBody>
                  <a:tcPr marL="109728" marR="109728">
                    <a:solidFill>
                      <a:srgbClr val="15233A"/>
                    </a:solidFill>
                  </a:tcPr>
                </a:tc>
              </a:tr>
              <a:tr h="475488">
                <a:tc>
                  <a:txBody>
                    <a:bodyPr wrap="square"/>
                    <a:lstStyle/>
                    <a:p>
                      <a:r>
                        <a:rPr sz="1400" b="1">
                          <a:solidFill>
                            <a:srgbClr val="F8FAFC"/>
                          </a:solidFill>
                          <a:latin typeface="Arial"/>
                        </a:rPr>
                        <a:t>Autonomy on main</a:t>
                      </a:r>
                    </a:p>
                  </a:txBody>
                  <a:tcPr marL="109728" marR="109728">
                    <a:solidFill>
                      <a:srgbClr val="1A283B"/>
                    </a:solidFill>
                  </a:tcPr>
                </a:tc>
                <a:tc>
                  <a:txBody>
                    <a:bodyPr wrap="square"/>
                    <a:lstStyle/>
                    <a:p>
                      <a:r>
                        <a:rPr sz="1400" b="0">
                          <a:solidFill>
                            <a:srgbClr val="ADBBCD"/>
                          </a:solidFill>
                          <a:latin typeface="Arial"/>
                        </a:rPr>
                        <a:t>Worktree + sandbox + recovery point</a:t>
                      </a:r>
                    </a:p>
                  </a:txBody>
                  <a:tcPr marL="109728" marR="109728">
                    <a:solidFill>
                      <a:srgbClr val="1A283B"/>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192 / 198</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ASSESSMENT</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How you are assessed</a:t>
            </a:r>
          </a:p>
        </p:txBody>
      </p:sp>
      <p:graphicFrame>
        <p:nvGraphicFramePr>
          <p:cNvPr id="6" name="Table 5"/>
          <p:cNvGraphicFramePr>
            <a:graphicFrameLocks noGrp="1"/>
          </p:cNvGraphicFramePr>
          <p:nvPr/>
        </p:nvGraphicFramePr>
        <p:xfrm>
          <a:off x="640080" y="1984248"/>
          <a:ext cx="10881358" cy="1901952"/>
        </p:xfrm>
        <a:graphic>
          <a:graphicData uri="http://schemas.openxmlformats.org/drawingml/2006/table">
            <a:tbl>
              <a:tblPr>
                <a:tableStyleId>{5C22544A-7EE6-4342-B048-85BDC9FD1C3A}</a:tableStyleId>
              </a:tblPr>
              <a:tblGrid>
                <a:gridCol w="3164708"/>
                <a:gridCol w="6438545"/>
                <a:gridCol w="1278105"/>
              </a:tblGrid>
              <a:tr h="475488">
                <a:tc>
                  <a:txBody>
                    <a:bodyPr wrap="square"/>
                    <a:lstStyle/>
                    <a:p>
                      <a:r>
                        <a:rPr sz="1600" b="1">
                          <a:solidFill>
                            <a:srgbClr val="BAFF70"/>
                          </a:solidFill>
                          <a:latin typeface="Arial"/>
                        </a:rPr>
                        <a:t>Component</a:t>
                      </a:r>
                    </a:p>
                  </a:txBody>
                  <a:tcPr marL="109728" marR="109728">
                    <a:solidFill>
                      <a:srgbClr val="22324A"/>
                    </a:solidFill>
                  </a:tcPr>
                </a:tc>
                <a:tc>
                  <a:txBody>
                    <a:bodyPr wrap="square"/>
                    <a:lstStyle/>
                    <a:p>
                      <a:r>
                        <a:rPr sz="1600" b="1">
                          <a:solidFill>
                            <a:srgbClr val="BAFF70"/>
                          </a:solidFill>
                          <a:latin typeface="Arial"/>
                        </a:rPr>
                        <a:t>Evidence</a:t>
                      </a:r>
                    </a:p>
                  </a:txBody>
                  <a:tcPr marL="109728" marR="109728">
                    <a:solidFill>
                      <a:srgbClr val="22324A"/>
                    </a:solidFill>
                  </a:tcPr>
                </a:tc>
                <a:tc>
                  <a:txBody>
                    <a:bodyPr wrap="square"/>
                    <a:lstStyle/>
                    <a:p>
                      <a:r>
                        <a:rPr sz="1600" b="1">
                          <a:solidFill>
                            <a:srgbClr val="BAFF70"/>
                          </a:solidFill>
                          <a:latin typeface="Arial"/>
                        </a:rPr>
                        <a:t>Weight</a:t>
                      </a:r>
                    </a:p>
                  </a:txBody>
                  <a:tcPr marL="109728" marR="109728">
                    <a:solidFill>
                      <a:srgbClr val="22324A"/>
                    </a:solidFill>
                  </a:tcPr>
                </a:tc>
              </a:tr>
              <a:tr h="475488">
                <a:tc>
                  <a:txBody>
                    <a:bodyPr wrap="square"/>
                    <a:lstStyle/>
                    <a:p>
                      <a:r>
                        <a:rPr sz="1600" b="1">
                          <a:solidFill>
                            <a:srgbClr val="F8FAFC"/>
                          </a:solidFill>
                          <a:latin typeface="Arial"/>
                        </a:rPr>
                        <a:t>Scenario-based knowledge quiz</a:t>
                      </a:r>
                    </a:p>
                  </a:txBody>
                  <a:tcPr marL="109728" marR="109728">
                    <a:solidFill>
                      <a:srgbClr val="1A283B"/>
                    </a:solidFill>
                  </a:tcPr>
                </a:tc>
                <a:tc>
                  <a:txBody>
                    <a:bodyPr wrap="square"/>
                    <a:lstStyle/>
                    <a:p>
                      <a:r>
                        <a:rPr sz="1600" b="0">
                          <a:solidFill>
                            <a:srgbClr val="ADBBCD"/>
                          </a:solidFill>
                          <a:latin typeface="Arial"/>
                        </a:rPr>
                        <a:t>Permissions, feature selection, context, security, workflow</a:t>
                      </a:r>
                    </a:p>
                  </a:txBody>
                  <a:tcPr marL="109728" marR="109728">
                    <a:solidFill>
                      <a:srgbClr val="1A283B"/>
                    </a:solidFill>
                  </a:tcPr>
                </a:tc>
                <a:tc>
                  <a:txBody>
                    <a:bodyPr wrap="square"/>
                    <a:lstStyle/>
                    <a:p>
                      <a:r>
                        <a:rPr sz="1600" b="0">
                          <a:solidFill>
                            <a:srgbClr val="ADBBCD"/>
                          </a:solidFill>
                          <a:latin typeface="Arial"/>
                        </a:rPr>
                        <a:t>30%</a:t>
                      </a:r>
                    </a:p>
                  </a:txBody>
                  <a:tcPr marL="109728" marR="109728">
                    <a:solidFill>
                      <a:srgbClr val="1A283B"/>
                    </a:solidFill>
                  </a:tcPr>
                </a:tc>
              </a:tr>
              <a:tr h="475488">
                <a:tc>
                  <a:txBody>
                    <a:bodyPr wrap="square"/>
                    <a:lstStyle/>
                    <a:p>
                      <a:r>
                        <a:rPr sz="1600" b="1">
                          <a:solidFill>
                            <a:srgbClr val="F8FAFC"/>
                          </a:solidFill>
                          <a:latin typeface="Arial"/>
                        </a:rPr>
                        <a:t>Practical capstone</a:t>
                      </a:r>
                    </a:p>
                  </a:txBody>
                  <a:tcPr marL="109728" marR="109728">
                    <a:solidFill>
                      <a:srgbClr val="15233A"/>
                    </a:solidFill>
                  </a:tcPr>
                </a:tc>
                <a:tc>
                  <a:txBody>
                    <a:bodyPr wrap="square"/>
                    <a:lstStyle/>
                    <a:p>
                      <a:r>
                        <a:rPr sz="1600" b="0">
                          <a:solidFill>
                            <a:srgbClr val="ADBBCD"/>
                          </a:solidFill>
                          <a:latin typeface="Arial"/>
                        </a:rPr>
                        <a:t>Working change, tests, diff, verification, readiness report</a:t>
                      </a:r>
                    </a:p>
                  </a:txBody>
                  <a:tcPr marL="109728" marR="109728">
                    <a:solidFill>
                      <a:srgbClr val="15233A"/>
                    </a:solidFill>
                  </a:tcPr>
                </a:tc>
                <a:tc>
                  <a:txBody>
                    <a:bodyPr wrap="square"/>
                    <a:lstStyle/>
                    <a:p>
                      <a:r>
                        <a:rPr sz="1600" b="0">
                          <a:solidFill>
                            <a:srgbClr val="ADBBCD"/>
                          </a:solidFill>
                          <a:latin typeface="Arial"/>
                        </a:rPr>
                        <a:t>50%</a:t>
                      </a:r>
                    </a:p>
                  </a:txBody>
                  <a:tcPr marL="109728" marR="109728">
                    <a:solidFill>
                      <a:srgbClr val="15233A"/>
                    </a:solidFill>
                  </a:tcPr>
                </a:tc>
              </a:tr>
              <a:tr h="475488">
                <a:tc>
                  <a:txBody>
                    <a:bodyPr wrap="square"/>
                    <a:lstStyle/>
                    <a:p>
                      <a:r>
                        <a:rPr sz="1600" b="1">
                          <a:solidFill>
                            <a:srgbClr val="F8FAFC"/>
                          </a:solidFill>
                          <a:latin typeface="Arial"/>
                        </a:rPr>
                        <a:t>Engineering reflection</a:t>
                      </a:r>
                    </a:p>
                  </a:txBody>
                  <a:tcPr marL="109728" marR="109728">
                    <a:solidFill>
                      <a:srgbClr val="1A283B"/>
                    </a:solidFill>
                  </a:tcPr>
                </a:tc>
                <a:tc>
                  <a:txBody>
                    <a:bodyPr wrap="square"/>
                    <a:lstStyle/>
                    <a:p>
                      <a:r>
                        <a:rPr sz="1600" b="0">
                          <a:solidFill>
                            <a:srgbClr val="ADBBCD"/>
                          </a:solidFill>
                          <a:latin typeface="Arial"/>
                        </a:rPr>
                        <a:t>Rejected approach, human checkpoint, unresolved risk</a:t>
                      </a:r>
                    </a:p>
                  </a:txBody>
                  <a:tcPr marL="109728" marR="109728">
                    <a:solidFill>
                      <a:srgbClr val="1A283B"/>
                    </a:solidFill>
                  </a:tcPr>
                </a:tc>
                <a:tc>
                  <a:txBody>
                    <a:bodyPr wrap="square"/>
                    <a:lstStyle/>
                    <a:p>
                      <a:r>
                        <a:rPr sz="1600" b="0">
                          <a:solidFill>
                            <a:srgbClr val="ADBBCD"/>
                          </a:solidFill>
                          <a:latin typeface="Arial"/>
                        </a:rPr>
                        <a:t>20%</a:t>
                      </a:r>
                    </a:p>
                  </a:txBody>
                  <a:tcPr marL="109728" marR="109728">
                    <a:solidFill>
                      <a:srgbClr val="1A283B"/>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193 / 198</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PASSING CRITERIA</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What it takes to pass</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70% or higher overall; at least 60% on the practical capstone</a:t>
            </a:r>
          </a:p>
          <a:p>
            <a:pPr algn="l">
              <a:spcAft>
                <a:spcPts val="800"/>
              </a:spcAft>
            </a:pPr>
            <a:r>
              <a:rPr sz="2200">
                <a:solidFill>
                  <a:srgbClr val="F8FAFC"/>
                </a:solidFill>
                <a:latin typeface="Arial"/>
              </a:rPr>
              <a:t>•  Genuine test or runtime evidence</a:t>
            </a:r>
          </a:p>
          <a:p>
            <a:pPr algn="l">
              <a:spcAft>
                <a:spcPts val="800"/>
              </a:spcAft>
            </a:pPr>
            <a:r>
              <a:rPr sz="2200">
                <a:solidFill>
                  <a:srgbClr val="F8FAFC"/>
                </a:solidFill>
                <a:latin typeface="Arial"/>
              </a:rPr>
              <a:t>•  Risk summary, top three fixes, named owner, verification step</a:t>
            </a:r>
          </a:p>
          <a:p>
            <a:pPr algn="l">
              <a:spcAft>
                <a:spcPts val="800"/>
              </a:spcAft>
            </a:pPr>
            <a:r>
              <a:rPr sz="2200">
                <a:solidFill>
                  <a:srgbClr val="F8FAFC"/>
                </a:solidFill>
                <a:latin typeface="Arial"/>
              </a:rPr>
              <a:t>•  Automatic fail: exposed credentials, fabricated test results, unsafe irreversible actions</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194 / 198</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CERTIFICATION READINESS</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Free mock test: 60 questions, 7 domains</a:t>
            </a:r>
          </a:p>
        </p:txBody>
      </p:sp>
      <p:graphicFrame>
        <p:nvGraphicFramePr>
          <p:cNvPr id="6" name="Table 5"/>
          <p:cNvGraphicFramePr>
            <a:graphicFrameLocks noGrp="1"/>
          </p:cNvGraphicFramePr>
          <p:nvPr/>
        </p:nvGraphicFramePr>
        <p:xfrm>
          <a:off x="640080" y="1984248"/>
          <a:ext cx="10881360" cy="3803904"/>
        </p:xfrm>
        <a:graphic>
          <a:graphicData uri="http://schemas.openxmlformats.org/drawingml/2006/table">
            <a:tbl>
              <a:tblPr>
                <a:tableStyleId>{5C22544A-7EE6-4342-B048-85BDC9FD1C3A}</a:tableStyleId>
              </a:tblPr>
              <a:tblGrid>
                <a:gridCol w="7556500"/>
                <a:gridCol w="1813560"/>
                <a:gridCol w="1511300"/>
              </a:tblGrid>
              <a:tr h="475488">
                <a:tc>
                  <a:txBody>
                    <a:bodyPr wrap="square"/>
                    <a:lstStyle/>
                    <a:p>
                      <a:r>
                        <a:rPr sz="1400" b="1">
                          <a:solidFill>
                            <a:srgbClr val="BAFF70"/>
                          </a:solidFill>
                          <a:latin typeface="Arial"/>
                        </a:rPr>
                        <a:t>Domain</a:t>
                      </a:r>
                    </a:p>
                  </a:txBody>
                  <a:tcPr marL="109728" marR="109728">
                    <a:solidFill>
                      <a:srgbClr val="22324A"/>
                    </a:solidFill>
                  </a:tcPr>
                </a:tc>
                <a:tc>
                  <a:txBody>
                    <a:bodyPr wrap="square"/>
                    <a:lstStyle/>
                    <a:p>
                      <a:r>
                        <a:rPr sz="1400" b="1">
                          <a:solidFill>
                            <a:srgbClr val="BAFF70"/>
                          </a:solidFill>
                          <a:latin typeface="Arial"/>
                        </a:rPr>
                        <a:t>Weight</a:t>
                      </a:r>
                    </a:p>
                  </a:txBody>
                  <a:tcPr marL="109728" marR="109728">
                    <a:solidFill>
                      <a:srgbClr val="22324A"/>
                    </a:solidFill>
                  </a:tcPr>
                </a:tc>
                <a:tc>
                  <a:txBody>
                    <a:bodyPr wrap="square"/>
                    <a:lstStyle/>
                    <a:p>
                      <a:r>
                        <a:rPr sz="1400" b="1">
                          <a:solidFill>
                            <a:srgbClr val="BAFF70"/>
                          </a:solidFill>
                          <a:latin typeface="Arial"/>
                        </a:rPr>
                        <a:t>Q</a:t>
                      </a:r>
                    </a:p>
                  </a:txBody>
                  <a:tcPr marL="109728" marR="109728">
                    <a:solidFill>
                      <a:srgbClr val="22324A"/>
                    </a:solidFill>
                  </a:tcPr>
                </a:tc>
              </a:tr>
              <a:tr h="475488">
                <a:tc>
                  <a:txBody>
                    <a:bodyPr wrap="square"/>
                    <a:lstStyle/>
                    <a:p>
                      <a:r>
                        <a:rPr sz="1400" b="1">
                          <a:solidFill>
                            <a:srgbClr val="F8FAFC"/>
                          </a:solidFill>
                          <a:latin typeface="Arial"/>
                        </a:rPr>
                        <a:t>Prompting and Task Execution</a:t>
                      </a:r>
                    </a:p>
                  </a:txBody>
                  <a:tcPr marL="109728" marR="109728">
                    <a:solidFill>
                      <a:srgbClr val="1A283B"/>
                    </a:solidFill>
                  </a:tcPr>
                </a:tc>
                <a:tc>
                  <a:txBody>
                    <a:bodyPr wrap="square"/>
                    <a:lstStyle/>
                    <a:p>
                      <a:r>
                        <a:rPr sz="1400" b="0">
                          <a:solidFill>
                            <a:srgbClr val="ADBBCD"/>
                          </a:solidFill>
                          <a:latin typeface="Arial"/>
                        </a:rPr>
                        <a:t>14%</a:t>
                      </a:r>
                    </a:p>
                  </a:txBody>
                  <a:tcPr marL="109728" marR="109728">
                    <a:solidFill>
                      <a:srgbClr val="1A283B"/>
                    </a:solidFill>
                  </a:tcPr>
                </a:tc>
                <a:tc>
                  <a:txBody>
                    <a:bodyPr wrap="square"/>
                    <a:lstStyle/>
                    <a:p>
                      <a:r>
                        <a:rPr sz="1400" b="0">
                          <a:solidFill>
                            <a:srgbClr val="ADBBCD"/>
                          </a:solidFill>
                          <a:latin typeface="Arial"/>
                        </a:rPr>
                        <a:t>8</a:t>
                      </a:r>
                    </a:p>
                  </a:txBody>
                  <a:tcPr marL="109728" marR="109728">
                    <a:solidFill>
                      <a:srgbClr val="1A283B"/>
                    </a:solidFill>
                  </a:tcPr>
                </a:tc>
              </a:tr>
              <a:tr h="475488">
                <a:tc>
                  <a:txBody>
                    <a:bodyPr wrap="square"/>
                    <a:lstStyle/>
                    <a:p>
                      <a:r>
                        <a:rPr sz="1400" b="1">
                          <a:solidFill>
                            <a:srgbClr val="F8FAFC"/>
                          </a:solidFill>
                          <a:latin typeface="Arial"/>
                        </a:rPr>
                        <a:t>Output Evaluation and Validation</a:t>
                      </a:r>
                    </a:p>
                  </a:txBody>
                  <a:tcPr marL="109728" marR="109728">
                    <a:solidFill>
                      <a:srgbClr val="15233A"/>
                    </a:solidFill>
                  </a:tcPr>
                </a:tc>
                <a:tc>
                  <a:txBody>
                    <a:bodyPr wrap="square"/>
                    <a:lstStyle/>
                    <a:p>
                      <a:r>
                        <a:rPr sz="1400" b="0">
                          <a:solidFill>
                            <a:srgbClr val="ADBBCD"/>
                          </a:solidFill>
                          <a:latin typeface="Arial"/>
                        </a:rPr>
                        <a:t>21%</a:t>
                      </a:r>
                    </a:p>
                  </a:txBody>
                  <a:tcPr marL="109728" marR="109728">
                    <a:solidFill>
                      <a:srgbClr val="15233A"/>
                    </a:solidFill>
                  </a:tcPr>
                </a:tc>
                <a:tc>
                  <a:txBody>
                    <a:bodyPr wrap="square"/>
                    <a:lstStyle/>
                    <a:p>
                      <a:r>
                        <a:rPr sz="1400" b="0">
                          <a:solidFill>
                            <a:srgbClr val="ADBBCD"/>
                          </a:solidFill>
                          <a:latin typeface="Arial"/>
                        </a:rPr>
                        <a:t>13</a:t>
                      </a:r>
                    </a:p>
                  </a:txBody>
                  <a:tcPr marL="109728" marR="109728">
                    <a:solidFill>
                      <a:srgbClr val="15233A"/>
                    </a:solidFill>
                  </a:tcPr>
                </a:tc>
              </a:tr>
              <a:tr h="475488">
                <a:tc>
                  <a:txBody>
                    <a:bodyPr wrap="square"/>
                    <a:lstStyle/>
                    <a:p>
                      <a:r>
                        <a:rPr sz="1400" b="1">
                          <a:solidFill>
                            <a:srgbClr val="F8FAFC"/>
                          </a:solidFill>
                          <a:latin typeface="Arial"/>
                        </a:rPr>
                        <a:t>Product and Model Selection</a:t>
                      </a:r>
                    </a:p>
                  </a:txBody>
                  <a:tcPr marL="109728" marR="109728">
                    <a:solidFill>
                      <a:srgbClr val="1A283B"/>
                    </a:solidFill>
                  </a:tcPr>
                </a:tc>
                <a:tc>
                  <a:txBody>
                    <a:bodyPr wrap="square"/>
                    <a:lstStyle/>
                    <a:p>
                      <a:r>
                        <a:rPr sz="1400" b="0">
                          <a:solidFill>
                            <a:srgbClr val="ADBBCD"/>
                          </a:solidFill>
                          <a:latin typeface="Arial"/>
                        </a:rPr>
                        <a:t>12%</a:t>
                      </a:r>
                    </a:p>
                  </a:txBody>
                  <a:tcPr marL="109728" marR="109728">
                    <a:solidFill>
                      <a:srgbClr val="1A283B"/>
                    </a:solidFill>
                  </a:tcPr>
                </a:tc>
                <a:tc>
                  <a:txBody>
                    <a:bodyPr wrap="square"/>
                    <a:lstStyle/>
                    <a:p>
                      <a:r>
                        <a:rPr sz="1400" b="0">
                          <a:solidFill>
                            <a:srgbClr val="ADBBCD"/>
                          </a:solidFill>
                          <a:latin typeface="Arial"/>
                        </a:rPr>
                        <a:t>7</a:t>
                      </a:r>
                    </a:p>
                  </a:txBody>
                  <a:tcPr marL="109728" marR="109728">
                    <a:solidFill>
                      <a:srgbClr val="1A283B"/>
                    </a:solidFill>
                  </a:tcPr>
                </a:tc>
              </a:tr>
              <a:tr h="475488">
                <a:tc>
                  <a:txBody>
                    <a:bodyPr wrap="square"/>
                    <a:lstStyle/>
                    <a:p>
                      <a:r>
                        <a:rPr sz="1400" b="1">
                          <a:solidFill>
                            <a:srgbClr val="F8FAFC"/>
                          </a:solidFill>
                          <a:latin typeface="Arial"/>
                        </a:rPr>
                        <a:t>Workflow Integration and Solution Design</a:t>
                      </a:r>
                    </a:p>
                  </a:txBody>
                  <a:tcPr marL="109728" marR="109728">
                    <a:solidFill>
                      <a:srgbClr val="15233A"/>
                    </a:solidFill>
                  </a:tcPr>
                </a:tc>
                <a:tc>
                  <a:txBody>
                    <a:bodyPr wrap="square"/>
                    <a:lstStyle/>
                    <a:p>
                      <a:r>
                        <a:rPr sz="1400" b="0">
                          <a:solidFill>
                            <a:srgbClr val="ADBBCD"/>
                          </a:solidFill>
                          <a:latin typeface="Arial"/>
                        </a:rPr>
                        <a:t>16%</a:t>
                      </a:r>
                    </a:p>
                  </a:txBody>
                  <a:tcPr marL="109728" marR="109728">
                    <a:solidFill>
                      <a:srgbClr val="15233A"/>
                    </a:solidFill>
                  </a:tcPr>
                </a:tc>
                <a:tc>
                  <a:txBody>
                    <a:bodyPr wrap="square"/>
                    <a:lstStyle/>
                    <a:p>
                      <a:r>
                        <a:rPr sz="1400" b="0">
                          <a:solidFill>
                            <a:srgbClr val="ADBBCD"/>
                          </a:solidFill>
                          <a:latin typeface="Arial"/>
                        </a:rPr>
                        <a:t>10</a:t>
                      </a:r>
                    </a:p>
                  </a:txBody>
                  <a:tcPr marL="109728" marR="109728">
                    <a:solidFill>
                      <a:srgbClr val="15233A"/>
                    </a:solidFill>
                  </a:tcPr>
                </a:tc>
              </a:tr>
              <a:tr h="475488">
                <a:tc>
                  <a:txBody>
                    <a:bodyPr wrap="square"/>
                    <a:lstStyle/>
                    <a:p>
                      <a:r>
                        <a:rPr sz="1400" b="1">
                          <a:solidFill>
                            <a:srgbClr val="F8FAFC"/>
                          </a:solidFill>
                          <a:latin typeface="Arial"/>
                        </a:rPr>
                        <a:t>Configuration and Knowledge Management</a:t>
                      </a:r>
                    </a:p>
                  </a:txBody>
                  <a:tcPr marL="109728" marR="109728">
                    <a:solidFill>
                      <a:srgbClr val="1A283B"/>
                    </a:solidFill>
                  </a:tcPr>
                </a:tc>
                <a:tc>
                  <a:txBody>
                    <a:bodyPr wrap="square"/>
                    <a:lstStyle/>
                    <a:p>
                      <a:r>
                        <a:rPr sz="1400" b="0">
                          <a:solidFill>
                            <a:srgbClr val="ADBBCD"/>
                          </a:solidFill>
                          <a:latin typeface="Arial"/>
                        </a:rPr>
                        <a:t>12%</a:t>
                      </a:r>
                    </a:p>
                  </a:txBody>
                  <a:tcPr marL="109728" marR="109728">
                    <a:solidFill>
                      <a:srgbClr val="1A283B"/>
                    </a:solidFill>
                  </a:tcPr>
                </a:tc>
                <a:tc>
                  <a:txBody>
                    <a:bodyPr wrap="square"/>
                    <a:lstStyle/>
                    <a:p>
                      <a:r>
                        <a:rPr sz="1400" b="0">
                          <a:solidFill>
                            <a:srgbClr val="ADBBCD"/>
                          </a:solidFill>
                          <a:latin typeface="Arial"/>
                        </a:rPr>
                        <a:t>7</a:t>
                      </a:r>
                    </a:p>
                  </a:txBody>
                  <a:tcPr marL="109728" marR="109728">
                    <a:solidFill>
                      <a:srgbClr val="1A283B"/>
                    </a:solidFill>
                  </a:tcPr>
                </a:tc>
              </a:tr>
              <a:tr h="475488">
                <a:tc>
                  <a:txBody>
                    <a:bodyPr wrap="square"/>
                    <a:lstStyle/>
                    <a:p>
                      <a:r>
                        <a:rPr sz="1400" b="1">
                          <a:solidFill>
                            <a:srgbClr val="F8FAFC"/>
                          </a:solidFill>
                          <a:latin typeface="Arial"/>
                        </a:rPr>
                        <a:t>Governance, Risk, and Responsible Use</a:t>
                      </a:r>
                    </a:p>
                  </a:txBody>
                  <a:tcPr marL="109728" marR="109728">
                    <a:solidFill>
                      <a:srgbClr val="15233A"/>
                    </a:solidFill>
                  </a:tcPr>
                </a:tc>
                <a:tc>
                  <a:txBody>
                    <a:bodyPr wrap="square"/>
                    <a:lstStyle/>
                    <a:p>
                      <a:r>
                        <a:rPr sz="1400" b="0">
                          <a:solidFill>
                            <a:srgbClr val="ADBBCD"/>
                          </a:solidFill>
                          <a:latin typeface="Arial"/>
                        </a:rPr>
                        <a:t>15%</a:t>
                      </a:r>
                    </a:p>
                  </a:txBody>
                  <a:tcPr marL="109728" marR="109728">
                    <a:solidFill>
                      <a:srgbClr val="15233A"/>
                    </a:solidFill>
                  </a:tcPr>
                </a:tc>
                <a:tc>
                  <a:txBody>
                    <a:bodyPr wrap="square"/>
                    <a:lstStyle/>
                    <a:p>
                      <a:r>
                        <a:rPr sz="1400" b="0">
                          <a:solidFill>
                            <a:srgbClr val="ADBBCD"/>
                          </a:solidFill>
                          <a:latin typeface="Arial"/>
                        </a:rPr>
                        <a:t>9</a:t>
                      </a:r>
                    </a:p>
                  </a:txBody>
                  <a:tcPr marL="109728" marR="109728">
                    <a:solidFill>
                      <a:srgbClr val="15233A"/>
                    </a:solidFill>
                  </a:tcPr>
                </a:tc>
              </a:tr>
              <a:tr h="475488">
                <a:tc>
                  <a:txBody>
                    <a:bodyPr wrap="square"/>
                    <a:lstStyle/>
                    <a:p>
                      <a:r>
                        <a:rPr sz="1400" b="1">
                          <a:solidFill>
                            <a:srgbClr val="F8FAFC"/>
                          </a:solidFill>
                          <a:latin typeface="Arial"/>
                        </a:rPr>
                        <a:t>Troubleshooting and Optimization</a:t>
                      </a:r>
                    </a:p>
                  </a:txBody>
                  <a:tcPr marL="109728" marR="109728">
                    <a:solidFill>
                      <a:srgbClr val="1A283B"/>
                    </a:solidFill>
                  </a:tcPr>
                </a:tc>
                <a:tc>
                  <a:txBody>
                    <a:bodyPr wrap="square"/>
                    <a:lstStyle/>
                    <a:p>
                      <a:r>
                        <a:rPr sz="1400" b="0">
                          <a:solidFill>
                            <a:srgbClr val="ADBBCD"/>
                          </a:solidFill>
                          <a:latin typeface="Arial"/>
                        </a:rPr>
                        <a:t>10%</a:t>
                      </a:r>
                    </a:p>
                  </a:txBody>
                  <a:tcPr marL="109728" marR="109728">
                    <a:solidFill>
                      <a:srgbClr val="1A283B"/>
                    </a:solidFill>
                  </a:tcPr>
                </a:tc>
                <a:tc>
                  <a:txBody>
                    <a:bodyPr wrap="square"/>
                    <a:lstStyle/>
                    <a:p>
                      <a:r>
                        <a:rPr sz="1400" b="0">
                          <a:solidFill>
                            <a:srgbClr val="ADBBCD"/>
                          </a:solidFill>
                          <a:latin typeface="Arial"/>
                        </a:rPr>
                        <a:t>6</a:t>
                      </a:r>
                    </a:p>
                  </a:txBody>
                  <a:tcPr marL="109728" marR="109728">
                    <a:solidFill>
                      <a:srgbClr val="1A283B"/>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195 / 198</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IMPORTANT DISCLAIMER</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400" b="1">
                <a:solidFill>
                  <a:srgbClr val="F8FAFC"/>
                </a:solidFill>
                <a:latin typeface="Arial"/>
              </a:rPr>
              <a:t>Independent preparation material</a:t>
            </a:r>
          </a:p>
        </p:txBody>
      </p:sp>
      <p:sp>
        <p:nvSpPr>
          <p:cNvPr id="6" name="Rounded Rectangle 5"/>
          <p:cNvSpPr/>
          <p:nvPr/>
        </p:nvSpPr>
        <p:spPr>
          <a:xfrm>
            <a:off x="640080" y="1984248"/>
            <a:ext cx="10881360" cy="4325112"/>
          </a:xfrm>
          <a:prstGeom prst="roundRect">
            <a:avLst>
              <a:gd name="adj" fmla="val 4000"/>
            </a:avLst>
          </a:prstGeom>
          <a:solidFill>
            <a:srgbClr val="1A28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spcAft>
                <a:spcPts val="800"/>
              </a:spcAft>
            </a:pPr>
            <a:r>
              <a:rPr sz="2200">
                <a:solidFill>
                  <a:srgbClr val="F8FAFC"/>
                </a:solidFill>
                <a:latin typeface="Arial"/>
              </a:rPr>
              <a:t>•  This workshop and mock test are independently created by Packt</a:t>
            </a:r>
          </a:p>
          <a:p>
            <a:pPr algn="l">
              <a:spcAft>
                <a:spcPts val="800"/>
              </a:spcAft>
            </a:pPr>
            <a:r>
              <a:rPr sz="2200">
                <a:solidFill>
                  <a:srgbClr val="F8FAFC"/>
                </a:solidFill>
                <a:latin typeface="Arial"/>
              </a:rPr>
              <a:t>•  Not official Anthropic training, not endorsed by Anthropic</a:t>
            </a:r>
          </a:p>
          <a:p>
            <a:pPr algn="l">
              <a:spcAft>
                <a:spcPts val="800"/>
              </a:spcAft>
            </a:pPr>
            <a:r>
              <a:rPr sz="2200">
                <a:solidFill>
                  <a:srgbClr val="F8FAFC"/>
                </a:solidFill>
                <a:latin typeface="Arial"/>
              </a:rPr>
              <a:t>•  No official examination questions</a:t>
            </a:r>
          </a:p>
          <a:p>
            <a:pPr algn="l">
              <a:spcAft>
                <a:spcPts val="800"/>
              </a:spcAft>
            </a:pPr>
            <a:r>
              <a:rPr sz="2200">
                <a:solidFill>
                  <a:srgbClr val="F8FAFC"/>
                </a:solidFill>
                <a:latin typeface="Arial"/>
              </a:rPr>
              <a:t>•  Completing them does not guarantee success in the official exam</a:t>
            </a:r>
          </a:p>
        </p:txBody>
      </p:sp>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196 / 198</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868680"/>
            <a:ext cx="10515600" cy="320040"/>
          </a:xfrm>
          <a:prstGeom prst="rect">
            <a:avLst/>
          </a:prstGeom>
          <a:noFill/>
        </p:spPr>
        <p:txBody>
          <a:bodyPr wrap="square" lIns="0" rIns="0" tIns="0" bIns="0">
            <a:spAutoFit/>
          </a:bodyPr>
          <a:lstStyle/>
          <a:p>
            <a:pPr algn="l"/>
            <a:r>
              <a:rPr sz="1300" b="1">
                <a:solidFill>
                  <a:srgbClr val="BAFF70"/>
                </a:solidFill>
                <a:latin typeface="Arial"/>
              </a:rPr>
              <a:t>TAKE IT HOME</a:t>
            </a:r>
          </a:p>
        </p:txBody>
      </p:sp>
      <p:sp>
        <p:nvSpPr>
          <p:cNvPr id="5" name="TextBox 4"/>
          <p:cNvSpPr txBox="1"/>
          <p:nvPr/>
        </p:nvSpPr>
        <p:spPr>
          <a:xfrm>
            <a:off x="640080" y="1280160"/>
            <a:ext cx="10881360" cy="548640"/>
          </a:xfrm>
          <a:prstGeom prst="rect">
            <a:avLst/>
          </a:prstGeom>
          <a:noFill/>
        </p:spPr>
        <p:txBody>
          <a:bodyPr wrap="square" lIns="0" rIns="0" tIns="0" bIns="0">
            <a:spAutoFit/>
          </a:bodyPr>
          <a:lstStyle/>
          <a:p>
            <a:pPr algn="l"/>
            <a:r>
              <a:rPr sz="3000" b="1">
                <a:solidFill>
                  <a:srgbClr val="F8FAFC"/>
                </a:solidFill>
                <a:latin typeface="Arial"/>
              </a:rPr>
              <a:t>Your Skills Pack and repository</a:t>
            </a:r>
          </a:p>
        </p:txBody>
      </p:sp>
      <p:graphicFrame>
        <p:nvGraphicFramePr>
          <p:cNvPr id="6" name="Table 5"/>
          <p:cNvGraphicFramePr>
            <a:graphicFrameLocks noGrp="1"/>
          </p:cNvGraphicFramePr>
          <p:nvPr/>
        </p:nvGraphicFramePr>
        <p:xfrm>
          <a:off x="640080" y="1984248"/>
          <a:ext cx="10881359" cy="3328416"/>
        </p:xfrm>
        <a:graphic>
          <a:graphicData uri="http://schemas.openxmlformats.org/drawingml/2006/table">
            <a:tbl>
              <a:tblPr>
                <a:tableStyleId>{5C22544A-7EE6-4342-B048-85BDC9FD1C3A}</a:tableStyleId>
              </a:tblPr>
              <a:tblGrid>
                <a:gridCol w="4370629"/>
                <a:gridCol w="6510730"/>
              </a:tblGrid>
              <a:tr h="475488">
                <a:tc>
                  <a:txBody>
                    <a:bodyPr wrap="square"/>
                    <a:lstStyle/>
                    <a:p>
                      <a:r>
                        <a:rPr sz="1600" b="1">
                          <a:solidFill>
                            <a:srgbClr val="BAFF70"/>
                          </a:solidFill>
                          <a:latin typeface="Arial"/>
                        </a:rPr>
                        <a:t>Asset</a:t>
                      </a:r>
                    </a:p>
                  </a:txBody>
                  <a:tcPr marL="109728" marR="109728">
                    <a:solidFill>
                      <a:srgbClr val="22324A"/>
                    </a:solidFill>
                  </a:tcPr>
                </a:tc>
                <a:tc>
                  <a:txBody>
                    <a:bodyPr wrap="square"/>
                    <a:lstStyle/>
                    <a:p>
                      <a:r>
                        <a:rPr sz="1600" b="1">
                          <a:solidFill>
                            <a:srgbClr val="BAFF70"/>
                          </a:solidFill>
                          <a:latin typeface="Arial"/>
                        </a:rPr>
                        <a:t>Where</a:t>
                      </a:r>
                    </a:p>
                  </a:txBody>
                  <a:tcPr marL="109728" marR="109728">
                    <a:solidFill>
                      <a:srgbClr val="22324A"/>
                    </a:solidFill>
                  </a:tcPr>
                </a:tc>
              </a:tr>
              <a:tr h="475488">
                <a:tc>
                  <a:txBody>
                    <a:bodyPr wrap="square"/>
                    <a:lstStyle/>
                    <a:p>
                      <a:r>
                        <a:rPr sz="1600" b="1">
                          <a:solidFill>
                            <a:srgbClr val="F8FAFC"/>
                          </a:solidFill>
                          <a:latin typeface="Arial"/>
                        </a:rPr>
                        <a:t>8 Skills</a:t>
                      </a:r>
                    </a:p>
                  </a:txBody>
                  <a:tcPr marL="109728" marR="109728">
                    <a:solidFill>
                      <a:srgbClr val="1A283B"/>
                    </a:solidFill>
                  </a:tcPr>
                </a:tc>
                <a:tc>
                  <a:txBody>
                    <a:bodyPr wrap="square"/>
                    <a:lstStyle/>
                    <a:p>
                      <a:r>
                        <a:rPr sz="1600" b="0">
                          <a:solidFill>
                            <a:srgbClr val="ADBBCD"/>
                          </a:solidFill>
                          <a:latin typeface="Arial"/>
                        </a:rPr>
                        <a:t>skills-pack/skills/</a:t>
                      </a:r>
                    </a:p>
                  </a:txBody>
                  <a:tcPr marL="109728" marR="109728">
                    <a:solidFill>
                      <a:srgbClr val="1A283B"/>
                    </a:solidFill>
                  </a:tcPr>
                </a:tc>
              </a:tr>
              <a:tr h="475488">
                <a:tc>
                  <a:txBody>
                    <a:bodyPr wrap="square"/>
                    <a:lstStyle/>
                    <a:p>
                      <a:r>
                        <a:rPr sz="1600" b="1">
                          <a:solidFill>
                            <a:srgbClr val="F8FAFC"/>
                          </a:solidFill>
                          <a:latin typeface="Arial"/>
                        </a:rPr>
                        <a:t>Hooks + subagents</a:t>
                      </a:r>
                    </a:p>
                  </a:txBody>
                  <a:tcPr marL="109728" marR="109728">
                    <a:solidFill>
                      <a:srgbClr val="15233A"/>
                    </a:solidFill>
                  </a:tcPr>
                </a:tc>
                <a:tc>
                  <a:txBody>
                    <a:bodyPr wrap="square"/>
                    <a:lstStyle/>
                    <a:p>
                      <a:r>
                        <a:rPr sz="1600" b="0">
                          <a:solidFill>
                            <a:srgbClr val="ADBBCD"/>
                          </a:solidFill>
                          <a:latin typeface="Arial"/>
                        </a:rPr>
                        <a:t>skills-pack/hooks, skills-pack/agents</a:t>
                      </a:r>
                    </a:p>
                  </a:txBody>
                  <a:tcPr marL="109728" marR="109728">
                    <a:solidFill>
                      <a:srgbClr val="15233A"/>
                    </a:solidFill>
                  </a:tcPr>
                </a:tc>
              </a:tr>
              <a:tr h="475488">
                <a:tc>
                  <a:txBody>
                    <a:bodyPr wrap="square"/>
                    <a:lstStyle/>
                    <a:p>
                      <a:r>
                        <a:rPr sz="1600" b="1">
                          <a:solidFill>
                            <a:srgbClr val="F8FAFC"/>
                          </a:solidFill>
                          <a:latin typeface="Arial"/>
                        </a:rPr>
                        <a:t>Engineering Quality plugin</a:t>
                      </a:r>
                    </a:p>
                  </a:txBody>
                  <a:tcPr marL="109728" marR="109728">
                    <a:solidFill>
                      <a:srgbClr val="1A283B"/>
                    </a:solidFill>
                  </a:tcPr>
                </a:tc>
                <a:tc>
                  <a:txBody>
                    <a:bodyPr wrap="square"/>
                    <a:lstStyle/>
                    <a:p>
                      <a:r>
                        <a:rPr sz="1600" b="0">
                          <a:solidFill>
                            <a:srgbClr val="ADBBCD"/>
                          </a:solidFill>
                          <a:latin typeface="Arial"/>
                        </a:rPr>
                        <a:t>plugins/engineering-quality + marketplace</a:t>
                      </a:r>
                    </a:p>
                  </a:txBody>
                  <a:tcPr marL="109728" marR="109728">
                    <a:solidFill>
                      <a:srgbClr val="1A283B"/>
                    </a:solidFill>
                  </a:tcPr>
                </a:tc>
              </a:tr>
              <a:tr h="475488">
                <a:tc>
                  <a:txBody>
                    <a:bodyPr wrap="square"/>
                    <a:lstStyle/>
                    <a:p>
                      <a:r>
                        <a:rPr sz="1600" b="1">
                          <a:solidFill>
                            <a:srgbClr val="F8FAFC"/>
                          </a:solidFill>
                          <a:latin typeface="Arial"/>
                        </a:rPr>
                        <a:t>Templates</a:t>
                      </a:r>
                    </a:p>
                  </a:txBody>
                  <a:tcPr marL="109728" marR="109728">
                    <a:solidFill>
                      <a:srgbClr val="15233A"/>
                    </a:solidFill>
                  </a:tcPr>
                </a:tc>
                <a:tc>
                  <a:txBody>
                    <a:bodyPr wrap="square"/>
                    <a:lstStyle/>
                    <a:p>
                      <a:r>
                        <a:rPr sz="1600" b="0">
                          <a:solidFill>
                            <a:srgbClr val="ADBBCD"/>
                          </a:solidFill>
                          <a:latin typeface="Arial"/>
                        </a:rPr>
                        <a:t>templates/</a:t>
                      </a:r>
                    </a:p>
                  </a:txBody>
                  <a:tcPr marL="109728" marR="109728">
                    <a:solidFill>
                      <a:srgbClr val="15233A"/>
                    </a:solidFill>
                  </a:tcPr>
                </a:tc>
              </a:tr>
              <a:tr h="475488">
                <a:tc>
                  <a:txBody>
                    <a:bodyPr wrap="square"/>
                    <a:lstStyle/>
                    <a:p>
                      <a:r>
                        <a:rPr sz="1600" b="1">
                          <a:solidFill>
                            <a:srgbClr val="F8FAFC"/>
                          </a:solidFill>
                          <a:latin typeface="Arial"/>
                        </a:rPr>
                        <a:t>Checkpoints for every project</a:t>
                      </a:r>
                    </a:p>
                  </a:txBody>
                  <a:tcPr marL="109728" marR="109728">
                    <a:solidFill>
                      <a:srgbClr val="1A283B"/>
                    </a:solidFill>
                  </a:tcPr>
                </a:tc>
                <a:tc>
                  <a:txBody>
                    <a:bodyPr wrap="square"/>
                    <a:lstStyle/>
                    <a:p>
                      <a:r>
                        <a:rPr sz="1600" b="0">
                          <a:solidFill>
                            <a:srgbClr val="ADBBCD"/>
                          </a:solidFill>
                          <a:latin typeface="Arial"/>
                        </a:rPr>
                        <a:t>bin/bootcamp checkpoint NN</a:t>
                      </a:r>
                    </a:p>
                  </a:txBody>
                  <a:tcPr marL="109728" marR="109728">
                    <a:solidFill>
                      <a:srgbClr val="1A283B"/>
                    </a:solidFill>
                  </a:tcPr>
                </a:tc>
              </a:tr>
              <a:tr h="475488">
                <a:tc>
                  <a:txBody>
                    <a:bodyPr wrap="square"/>
                    <a:lstStyle/>
                    <a:p>
                      <a:r>
                        <a:rPr sz="1600" b="1">
                          <a:solidFill>
                            <a:srgbClr val="F8FAFC"/>
                          </a:solidFill>
                          <a:latin typeface="Arial"/>
                        </a:rPr>
                        <a:t>Assessment + mock test</a:t>
                      </a:r>
                    </a:p>
                  </a:txBody>
                  <a:tcPr marL="109728" marR="109728">
                    <a:solidFill>
                      <a:srgbClr val="15233A"/>
                    </a:solidFill>
                  </a:tcPr>
                </a:tc>
                <a:tc>
                  <a:txBody>
                    <a:bodyPr wrap="square"/>
                    <a:lstStyle/>
                    <a:p>
                      <a:r>
                        <a:rPr sz="1600" b="0">
                          <a:solidFill>
                            <a:srgbClr val="ADBBCD"/>
                          </a:solidFill>
                          <a:latin typeface="Arial"/>
                        </a:rPr>
                        <a:t>assessment/, mock-test/</a:t>
                      </a:r>
                    </a:p>
                  </a:txBody>
                  <a:tcPr marL="109728" marR="109728">
                    <a:solidFill>
                      <a:srgbClr val="15233A"/>
                    </a:solidFill>
                  </a:tcPr>
                </a:tc>
              </a:tr>
            </a:tbl>
          </a:graphicData>
        </a:graphic>
      </p:graphicFrame>
      <p:sp>
        <p:nvSpPr>
          <p:cNvPr id="7" name="TextBox 6"/>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197 / 198</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101827"/>
        </a:solidFill>
        <a:effectLst/>
      </p:bgPr>
    </p:bg>
    <p:spTree>
      <p:nvGrpSpPr>
        <p:cNvPr id="1" name=""/>
        <p:cNvGrpSpPr/>
        <p:nvPr/>
      </p:nvGrpSpPr>
      <p:grpSpPr/>
      <p:sp>
        <p:nvSpPr>
          <p:cNvPr id="2" name="Oval 1"/>
          <p:cNvSpPr/>
          <p:nvPr/>
        </p:nvSpPr>
        <p:spPr>
          <a:xfrm>
            <a:off x="9966960" y="-2377440"/>
            <a:ext cx="4754880" cy="4754880"/>
          </a:xfrm>
          <a:prstGeom prst="ellipse">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229600" cy="274320"/>
          </a:xfrm>
          <a:prstGeom prst="rect">
            <a:avLst/>
          </a:prstGeom>
          <a:noFill/>
        </p:spPr>
        <p:txBody>
          <a:bodyPr wrap="square" lIns="0" rIns="0" tIns="0" bIns="0">
            <a:spAutoFit/>
          </a:bodyPr>
          <a:lstStyle/>
          <a:p>
            <a:pPr algn="l"/>
            <a:r>
              <a:rPr sz="1000" b="1">
                <a:solidFill>
                  <a:srgbClr val="BAFF70"/>
                </a:solidFill>
                <a:latin typeface="Arial"/>
              </a:rPr>
              <a:t>PACKT · CLAUDE CODE BOOTCAMP COHORT 2 · LUCA BERTON</a:t>
            </a:r>
          </a:p>
        </p:txBody>
      </p:sp>
      <p:sp>
        <p:nvSpPr>
          <p:cNvPr id="4" name="TextBox 3"/>
          <p:cNvSpPr txBox="1"/>
          <p:nvPr/>
        </p:nvSpPr>
        <p:spPr>
          <a:xfrm>
            <a:off x="640080" y="1371600"/>
            <a:ext cx="10058400" cy="365760"/>
          </a:xfrm>
          <a:prstGeom prst="rect">
            <a:avLst/>
          </a:prstGeom>
          <a:noFill/>
        </p:spPr>
        <p:txBody>
          <a:bodyPr wrap="square" lIns="0" rIns="0" tIns="0" bIns="0">
            <a:spAutoFit/>
          </a:bodyPr>
          <a:lstStyle/>
          <a:p>
            <a:pPr algn="l"/>
            <a:r>
              <a:rPr sz="1400" b="1">
                <a:solidFill>
                  <a:srgbClr val="BAFF70"/>
                </a:solidFill>
                <a:latin typeface="Arial"/>
              </a:rPr>
              <a:t>THANK YOU</a:t>
            </a:r>
          </a:p>
        </p:txBody>
      </p:sp>
      <p:sp>
        <p:nvSpPr>
          <p:cNvPr id="5" name="TextBox 4"/>
          <p:cNvSpPr txBox="1"/>
          <p:nvPr/>
        </p:nvSpPr>
        <p:spPr>
          <a:xfrm>
            <a:off x="640080" y="1828800"/>
            <a:ext cx="10515600" cy="2011680"/>
          </a:xfrm>
          <a:prstGeom prst="rect">
            <a:avLst/>
          </a:prstGeom>
          <a:noFill/>
        </p:spPr>
        <p:txBody>
          <a:bodyPr wrap="square" lIns="0" rIns="0" tIns="0" bIns="0">
            <a:spAutoFit/>
          </a:bodyPr>
          <a:lstStyle/>
          <a:p>
            <a:pPr algn="l"/>
            <a:r>
              <a:rPr sz="5400" b="1">
                <a:solidFill>
                  <a:srgbClr val="F8FAFC"/>
                </a:solidFill>
                <a:latin typeface="Arial"/>
              </a:rPr>
              <a:t>VERIFY EVERYTHING.</a:t>
            </a:r>
          </a:p>
          <a:p>
            <a:pPr algn="l"/>
            <a:r>
              <a:rPr sz="5400" b="1">
                <a:solidFill>
                  <a:srgbClr val="F8FAFC"/>
                </a:solidFill>
                <a:latin typeface="Arial"/>
              </a:rPr>
              <a:t>SHIP WITH CONFIDENCE.</a:t>
            </a:r>
          </a:p>
        </p:txBody>
      </p:sp>
      <p:sp>
        <p:nvSpPr>
          <p:cNvPr id="6" name="TextBox 5"/>
          <p:cNvSpPr txBox="1"/>
          <p:nvPr/>
        </p:nvSpPr>
        <p:spPr>
          <a:xfrm>
            <a:off x="640080" y="3931920"/>
            <a:ext cx="10515600" cy="731520"/>
          </a:xfrm>
          <a:prstGeom prst="rect">
            <a:avLst/>
          </a:prstGeom>
          <a:noFill/>
        </p:spPr>
        <p:txBody>
          <a:bodyPr wrap="square" lIns="0" rIns="0" tIns="0" bIns="0">
            <a:spAutoFit/>
          </a:bodyPr>
          <a:lstStyle/>
          <a:p>
            <a:pPr algn="l"/>
            <a:r>
              <a:rPr sz="3600" b="1">
                <a:solidFill>
                  <a:srgbClr val="BAFF70"/>
                </a:solidFill>
                <a:latin typeface="Arial"/>
              </a:rPr>
              <a:t>Questions?</a:t>
            </a:r>
          </a:p>
        </p:txBody>
      </p:sp>
      <p:sp>
        <p:nvSpPr>
          <p:cNvPr id="7" name="TextBox 6"/>
          <p:cNvSpPr txBox="1"/>
          <p:nvPr/>
        </p:nvSpPr>
        <p:spPr>
          <a:xfrm>
            <a:off x="640080" y="4937760"/>
            <a:ext cx="10515600" cy="457200"/>
          </a:xfrm>
          <a:prstGeom prst="rect">
            <a:avLst/>
          </a:prstGeom>
          <a:noFill/>
        </p:spPr>
        <p:txBody>
          <a:bodyPr wrap="square" lIns="0" rIns="0" tIns="0" bIns="0">
            <a:spAutoFit/>
          </a:bodyPr>
          <a:lstStyle/>
          <a:p>
            <a:pPr algn="l"/>
            <a:r>
              <a:rPr sz="2000" b="0">
                <a:solidFill>
                  <a:srgbClr val="ADBBCD"/>
                </a:solidFill>
                <a:latin typeface="Arial"/>
              </a:rPr>
              <a:t>Luca Berton · Claude Code Bootcamp Cohort 2</a:t>
            </a:r>
          </a:p>
        </p:txBody>
      </p:sp>
      <p:sp>
        <p:nvSpPr>
          <p:cNvPr id="8" name="TextBox 7"/>
          <p:cNvSpPr txBox="1"/>
          <p:nvPr/>
        </p:nvSpPr>
        <p:spPr>
          <a:xfrm>
            <a:off x="10424160" y="6446520"/>
            <a:ext cx="1280160" cy="274320"/>
          </a:xfrm>
          <a:prstGeom prst="rect">
            <a:avLst/>
          </a:prstGeom>
          <a:noFill/>
        </p:spPr>
        <p:txBody>
          <a:bodyPr wrap="square" lIns="0" rIns="0" tIns="0" bIns="0">
            <a:spAutoFit/>
          </a:bodyPr>
          <a:lstStyle/>
          <a:p>
            <a:pPr algn="r"/>
            <a:r>
              <a:rPr sz="1000" b="0">
                <a:solidFill>
                  <a:srgbClr val="ADBBCD"/>
                </a:solidFill>
                <a:latin typeface="Arial"/>
              </a:rPr>
              <a:t>198 / 198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